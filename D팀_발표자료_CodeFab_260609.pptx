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0" r:id="rId5"/>
    <p:sldMasterId id="2147483672" r:id="rId6"/>
    <p:sldMasterId id="2147483677"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Lst>
  <p:sldSz cy="6858000" cx="12192000"/>
  <p:notesSz cx="6858000" cy="9144000"/>
  <p:embeddedFontLst>
    <p:embeddedFont>
      <p:font typeface="Noto Sans KR"/>
      <p:regular r:id="rId48"/>
      <p:bold r:id="rId49"/>
    </p:embeddedFont>
    <p:embeddedFont>
      <p:font typeface="Inter SemiBold"/>
      <p:regular r:id="rId50"/>
      <p:bold r:id="rId51"/>
      <p:italic r:id="rId52"/>
      <p:boldItalic r:id="rId53"/>
    </p:embeddedFont>
    <p:embeddedFont>
      <p:font typeface="Poppins"/>
      <p:regular r:id="rId54"/>
      <p:bold r:id="rId55"/>
      <p:italic r:id="rId56"/>
      <p:boldItalic r:id="rId57"/>
    </p:embeddedFont>
    <p:embeddedFont>
      <p:font typeface="Inter"/>
      <p:regular r:id="rId58"/>
      <p:bold r:id="rId59"/>
      <p:italic r:id="rId60"/>
      <p:boldItalic r:id="rId61"/>
    </p:embeddedFont>
    <p:embeddedFont>
      <p:font typeface="Urbanist"/>
      <p:regular r:id="rId62"/>
      <p:bold r:id="rId63"/>
      <p:italic r:id="rId64"/>
      <p:boldItalic r:id="rId65"/>
    </p:embeddedFont>
    <p:embeddedFont>
      <p:font typeface="Roboto Mono"/>
      <p:regular r:id="rId66"/>
      <p:bold r:id="rId67"/>
      <p:italic r:id="rId68"/>
      <p:boldItalic r:id="rId69"/>
    </p:embeddedFont>
    <p:embeddedFont>
      <p:font typeface="JetBrains Mono"/>
      <p:regular r:id="rId70"/>
      <p:bold r:id="rId71"/>
      <p:italic r:id="rId72"/>
      <p:boldItalic r:id="rId7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74" roundtripDataSignature="AMtx7mgNwopUIyAwYRJn8lGsImUk9NA47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9C213E6-7237-467A-AF39-990B62790904}">
  <a:tblStyle styleId="{F9C213E6-7237-467A-AF39-990B62790904}"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42" Type="http://schemas.openxmlformats.org/officeDocument/2006/relationships/slide" Target="slides/slide34.xml"/><Relationship Id="rId41" Type="http://schemas.openxmlformats.org/officeDocument/2006/relationships/slide" Target="slides/slide33.xml"/><Relationship Id="rId44" Type="http://schemas.openxmlformats.org/officeDocument/2006/relationships/slide" Target="slides/slide36.xml"/><Relationship Id="rId43" Type="http://schemas.openxmlformats.org/officeDocument/2006/relationships/slide" Target="slides/slide35.xml"/><Relationship Id="rId46" Type="http://schemas.openxmlformats.org/officeDocument/2006/relationships/slide" Target="slides/slide38.xml"/><Relationship Id="rId45" Type="http://schemas.openxmlformats.org/officeDocument/2006/relationships/slide" Target="slides/slide37.xml"/><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1.xml"/><Relationship Id="rId48" Type="http://schemas.openxmlformats.org/officeDocument/2006/relationships/font" Target="fonts/NotoSansKR-regular.fntdata"/><Relationship Id="rId47" Type="http://schemas.openxmlformats.org/officeDocument/2006/relationships/slide" Target="slides/slide39.xml"/><Relationship Id="rId49" Type="http://schemas.openxmlformats.org/officeDocument/2006/relationships/font" Target="fonts/NotoSansKR-bold.fntdata"/><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notesMaster" Target="notesMasters/notesMaster1.xml"/><Relationship Id="rId73" Type="http://schemas.openxmlformats.org/officeDocument/2006/relationships/font" Target="fonts/JetBrainsMono-boldItalic.fntdata"/><Relationship Id="rId72" Type="http://schemas.openxmlformats.org/officeDocument/2006/relationships/font" Target="fonts/JetBrainsMono-italic.fntdata"/><Relationship Id="rId31" Type="http://schemas.openxmlformats.org/officeDocument/2006/relationships/slide" Target="slides/slide23.xml"/><Relationship Id="rId30" Type="http://schemas.openxmlformats.org/officeDocument/2006/relationships/slide" Target="slides/slide22.xml"/><Relationship Id="rId74" Type="http://customschemas.google.com/relationships/presentationmetadata" Target="metadata"/><Relationship Id="rId33" Type="http://schemas.openxmlformats.org/officeDocument/2006/relationships/slide" Target="slides/slide25.xml"/><Relationship Id="rId32" Type="http://schemas.openxmlformats.org/officeDocument/2006/relationships/slide" Target="slides/slide24.xml"/><Relationship Id="rId35" Type="http://schemas.openxmlformats.org/officeDocument/2006/relationships/slide" Target="slides/slide27.xml"/><Relationship Id="rId34" Type="http://schemas.openxmlformats.org/officeDocument/2006/relationships/slide" Target="slides/slide26.xml"/><Relationship Id="rId71" Type="http://schemas.openxmlformats.org/officeDocument/2006/relationships/font" Target="fonts/JetBrainsMono-bold.fntdata"/><Relationship Id="rId70" Type="http://schemas.openxmlformats.org/officeDocument/2006/relationships/font" Target="fonts/JetBrainsMono-regular.fntdata"/><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62" Type="http://schemas.openxmlformats.org/officeDocument/2006/relationships/font" Target="fonts/Urbanist-regular.fntdata"/><Relationship Id="rId61" Type="http://schemas.openxmlformats.org/officeDocument/2006/relationships/font" Target="fonts/Inter-boldItalic.fntdata"/><Relationship Id="rId20" Type="http://schemas.openxmlformats.org/officeDocument/2006/relationships/slide" Target="slides/slide12.xml"/><Relationship Id="rId64" Type="http://schemas.openxmlformats.org/officeDocument/2006/relationships/font" Target="fonts/Urbanist-italic.fntdata"/><Relationship Id="rId63" Type="http://schemas.openxmlformats.org/officeDocument/2006/relationships/font" Target="fonts/Urbanist-bold.fntdata"/><Relationship Id="rId22" Type="http://schemas.openxmlformats.org/officeDocument/2006/relationships/slide" Target="slides/slide14.xml"/><Relationship Id="rId66" Type="http://schemas.openxmlformats.org/officeDocument/2006/relationships/font" Target="fonts/RobotoMono-regular.fntdata"/><Relationship Id="rId21" Type="http://schemas.openxmlformats.org/officeDocument/2006/relationships/slide" Target="slides/slide13.xml"/><Relationship Id="rId65" Type="http://schemas.openxmlformats.org/officeDocument/2006/relationships/font" Target="fonts/Urbanist-boldItalic.fntdata"/><Relationship Id="rId24" Type="http://schemas.openxmlformats.org/officeDocument/2006/relationships/slide" Target="slides/slide16.xml"/><Relationship Id="rId68" Type="http://schemas.openxmlformats.org/officeDocument/2006/relationships/font" Target="fonts/RobotoMono-italic.fntdata"/><Relationship Id="rId23" Type="http://schemas.openxmlformats.org/officeDocument/2006/relationships/slide" Target="slides/slide15.xml"/><Relationship Id="rId67" Type="http://schemas.openxmlformats.org/officeDocument/2006/relationships/font" Target="fonts/RobotoMono-bold.fntdata"/><Relationship Id="rId60" Type="http://schemas.openxmlformats.org/officeDocument/2006/relationships/font" Target="fonts/Inter-italic.fntdata"/><Relationship Id="rId26" Type="http://schemas.openxmlformats.org/officeDocument/2006/relationships/slide" Target="slides/slide18.xml"/><Relationship Id="rId25" Type="http://schemas.openxmlformats.org/officeDocument/2006/relationships/slide" Target="slides/slide17.xml"/><Relationship Id="rId69" Type="http://schemas.openxmlformats.org/officeDocument/2006/relationships/font" Target="fonts/RobotoMono-boldItalic.fntdata"/><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51" Type="http://schemas.openxmlformats.org/officeDocument/2006/relationships/font" Target="fonts/InterSemiBold-bold.fntdata"/><Relationship Id="rId50" Type="http://schemas.openxmlformats.org/officeDocument/2006/relationships/font" Target="fonts/InterSemiBold-regular.fntdata"/><Relationship Id="rId53" Type="http://schemas.openxmlformats.org/officeDocument/2006/relationships/font" Target="fonts/InterSemiBold-boldItalic.fntdata"/><Relationship Id="rId52" Type="http://schemas.openxmlformats.org/officeDocument/2006/relationships/font" Target="fonts/InterSemiBold-italic.fntdata"/><Relationship Id="rId11" Type="http://schemas.openxmlformats.org/officeDocument/2006/relationships/slide" Target="slides/slide3.xml"/><Relationship Id="rId55" Type="http://schemas.openxmlformats.org/officeDocument/2006/relationships/font" Target="fonts/Poppins-bold.fntdata"/><Relationship Id="rId10" Type="http://schemas.openxmlformats.org/officeDocument/2006/relationships/slide" Target="slides/slide2.xml"/><Relationship Id="rId54" Type="http://schemas.openxmlformats.org/officeDocument/2006/relationships/font" Target="fonts/Poppins-regular.fntdata"/><Relationship Id="rId13" Type="http://schemas.openxmlformats.org/officeDocument/2006/relationships/slide" Target="slides/slide5.xml"/><Relationship Id="rId57" Type="http://schemas.openxmlformats.org/officeDocument/2006/relationships/font" Target="fonts/Poppins-boldItalic.fntdata"/><Relationship Id="rId12" Type="http://schemas.openxmlformats.org/officeDocument/2006/relationships/slide" Target="slides/slide4.xml"/><Relationship Id="rId56" Type="http://schemas.openxmlformats.org/officeDocument/2006/relationships/font" Target="fonts/Poppins-italic.fntdata"/><Relationship Id="rId15" Type="http://schemas.openxmlformats.org/officeDocument/2006/relationships/slide" Target="slides/slide7.xml"/><Relationship Id="rId59" Type="http://schemas.openxmlformats.org/officeDocument/2006/relationships/font" Target="fonts/Inter-bold.fntdata"/><Relationship Id="rId14" Type="http://schemas.openxmlformats.org/officeDocument/2006/relationships/slide" Target="slides/slide6.xml"/><Relationship Id="rId58" Type="http://schemas.openxmlformats.org/officeDocument/2006/relationships/font" Target="fonts/Inter-regular.fntdata"/><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ee9487a86e_1_10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9" name="Google Shape;259;g3ee9487a86e_1_10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ee9487a86e_8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4" name="Google Shape;274;g3ee9487a86e_8_0:notes"/>
          <p:cNvSpPr/>
          <p:nvPr>
            <p:ph idx="2" type="sldImg"/>
          </p:nvPr>
        </p:nvSpPr>
        <p:spPr>
          <a:xfrm>
            <a:off x="1142653" y="685800"/>
            <a:ext cx="4573369"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ko-KR">
                <a:solidFill>
                  <a:schemeClr val="dk1"/>
                </a:solidFill>
              </a:rPr>
              <a:t>안녕하세요. D팀 발표를 맡은 최연우입니다. </a:t>
            </a:r>
            <a:endParaRPr>
              <a:solidFill>
                <a:schemeClr val="dk1"/>
              </a:solidFill>
            </a:endParaRPr>
          </a:p>
          <a:p>
            <a:pPr indent="0" lvl="0" marL="0" rtl="0" algn="l">
              <a:lnSpc>
                <a:spcPct val="100000"/>
              </a:lnSpc>
              <a:spcBef>
                <a:spcPts val="0"/>
              </a:spcBef>
              <a:spcAft>
                <a:spcPts val="0"/>
              </a:spcAft>
              <a:buSzPts val="1100"/>
              <a:buNone/>
            </a:pPr>
            <a:r>
              <a:rPr lang="ko-KR">
                <a:solidFill>
                  <a:schemeClr val="dk1"/>
                </a:solidFill>
              </a:rPr>
              <a:t>D팀은  컴파일러의 핵심 파이프라인을 4명이 분담하여, 서로의 코드를 건드리지 않고도 안전하게 통합할 수 있는 방식으로 역할을 구분하였습니다.</a:t>
            </a:r>
            <a:endParaRPr>
              <a:solidFill>
                <a:schemeClr val="dk1"/>
              </a:solidFill>
            </a:endParaRPr>
          </a:p>
          <a:p>
            <a:pPr indent="0" lvl="0" marL="0" rtl="0" algn="l">
              <a:lnSpc>
                <a:spcPct val="100000"/>
              </a:lnSpc>
              <a:spcBef>
                <a:spcPts val="0"/>
              </a:spcBef>
              <a:spcAft>
                <a:spcPts val="0"/>
              </a:spcAft>
              <a:buSzPts val="1100"/>
              <a:buNone/>
            </a:pPr>
            <a:r>
              <a:rPr lang="ko-KR">
                <a:solidFill>
                  <a:schemeClr val="dk1"/>
                </a:solidFill>
              </a:rPr>
              <a:t> 저는 팀장으로서 최종 해석 및 실행 결과를 도출하는 Interpreter를 담당했습니다.</a:t>
            </a:r>
            <a:endParaRPr>
              <a:solidFill>
                <a:schemeClr val="dk1"/>
              </a:solidFill>
            </a:endParaRPr>
          </a:p>
          <a:p>
            <a:pPr indent="0" lvl="0" marL="0" rtl="0" algn="l">
              <a:lnSpc>
                <a:spcPct val="100000"/>
              </a:lnSpc>
              <a:spcBef>
                <a:spcPts val="0"/>
              </a:spcBef>
              <a:spcAft>
                <a:spcPts val="0"/>
              </a:spcAft>
              <a:buSzPts val="1100"/>
              <a:buNone/>
            </a:pPr>
            <a:r>
              <a:rPr lang="ko-KR">
                <a:solidFill>
                  <a:schemeClr val="dk1"/>
                </a:solidFill>
              </a:rPr>
              <a:t>이혜림님은 소스코드를 의미 있는 토큰으로 변환하는 Lexer, </a:t>
            </a:r>
            <a:endParaRPr>
              <a:solidFill>
                <a:schemeClr val="dk1"/>
              </a:solidFill>
            </a:endParaRPr>
          </a:p>
          <a:p>
            <a:pPr indent="0" lvl="0" marL="0" rtl="0" algn="l">
              <a:lnSpc>
                <a:spcPct val="100000"/>
              </a:lnSpc>
              <a:spcBef>
                <a:spcPts val="0"/>
              </a:spcBef>
              <a:spcAft>
                <a:spcPts val="0"/>
              </a:spcAft>
              <a:buSzPts val="1100"/>
              <a:buNone/>
            </a:pPr>
            <a:r>
              <a:rPr lang="ko-KR">
                <a:solidFill>
                  <a:schemeClr val="dk1"/>
                </a:solidFill>
              </a:rPr>
              <a:t>윤동현님은 토큰 목록을 구조화하여 추상 구문 트리 생성을 담당하셨고,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ko-KR">
                <a:solidFill>
                  <a:schemeClr val="dk1"/>
                </a:solidFill>
              </a:rPr>
              <a:t>이상현님은 실행 전 단계에서 의미 분석 및 유효성 검사를 진행하였습니다. </a:t>
            </a:r>
            <a:endParaRPr/>
          </a:p>
        </p:txBody>
      </p:sp>
      <p:sp>
        <p:nvSpPr>
          <p:cNvPr id="313" name="Google Shape;313;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ko-KR"/>
              <a:t>해당 프로젝트는 파이프라인으로 실행되는 특징이 있습니다. </a:t>
            </a:r>
            <a:endParaRPr/>
          </a:p>
          <a:p>
            <a:pPr indent="0" lvl="0" marL="0" rtl="0" algn="l">
              <a:lnSpc>
                <a:spcPct val="100000"/>
              </a:lnSpc>
              <a:spcBef>
                <a:spcPts val="0"/>
              </a:spcBef>
              <a:spcAft>
                <a:spcPts val="0"/>
              </a:spcAft>
              <a:buSzPts val="1100"/>
              <a:buNone/>
            </a:pPr>
            <a:r>
              <a:rPr lang="ko-KR"/>
              <a:t>이로 인하여 각 모듈은 강한 결합을 가지게되고, 병렬 개발시 이 부분을 해결해야합니다.</a:t>
            </a:r>
            <a:endParaRPr/>
          </a:p>
        </p:txBody>
      </p:sp>
      <p:sp>
        <p:nvSpPr>
          <p:cNvPr id="344" name="Google Shape;344;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ko-KR">
                <a:solidFill>
                  <a:schemeClr val="dk1"/>
                </a:solidFill>
              </a:rPr>
              <a:t>4인 병렬 개발을 서로의 코드를 기다리지 않고 충돌없이 개발하는 방법에 대해서</a:t>
            </a:r>
            <a:endParaRPr>
              <a:solidFill>
                <a:schemeClr val="dk1"/>
              </a:solidFill>
            </a:endParaRPr>
          </a:p>
          <a:p>
            <a:pPr indent="0" lvl="0" marL="0" rtl="0" algn="l">
              <a:lnSpc>
                <a:spcPct val="100000"/>
              </a:lnSpc>
              <a:spcBef>
                <a:spcPts val="0"/>
              </a:spcBef>
              <a:spcAft>
                <a:spcPts val="0"/>
              </a:spcAft>
              <a:buSzPts val="1100"/>
              <a:buNone/>
            </a:pPr>
            <a:r>
              <a:rPr lang="ko-KR">
                <a:solidFill>
                  <a:schemeClr val="dk1"/>
                </a:solidFill>
              </a:rPr>
              <a:t>저희는 세 가지 핵심 원칙을 세웠습니다.</a:t>
            </a:r>
            <a:endParaRPr>
              <a:solidFill>
                <a:schemeClr val="dk1"/>
              </a:solidFill>
            </a:endParaRPr>
          </a:p>
          <a:p>
            <a:pPr indent="0" lvl="0" marL="0" rtl="0" algn="l">
              <a:lnSpc>
                <a:spcPct val="100000"/>
              </a:lnSpc>
              <a:spcBef>
                <a:spcPts val="0"/>
              </a:spcBef>
              <a:spcAft>
                <a:spcPts val="0"/>
              </a:spcAft>
              <a:buSzPts val="1100"/>
              <a:buNone/>
            </a:pPr>
            <a:r>
              <a:rPr lang="ko-KR">
                <a:solidFill>
                  <a:schemeClr val="dk1"/>
                </a:solidFill>
              </a:rPr>
              <a:t>첫번째는 모든 모듈은 순수 가상 함수를 통해 통신하는 '인터페이스 분리',</a:t>
            </a:r>
            <a:endParaRPr>
              <a:solidFill>
                <a:schemeClr val="dk1"/>
              </a:solidFill>
            </a:endParaRPr>
          </a:p>
          <a:p>
            <a:pPr indent="0" lvl="0" marL="0" rtl="0" algn="l">
              <a:lnSpc>
                <a:spcPct val="100000"/>
              </a:lnSpc>
              <a:spcBef>
                <a:spcPts val="0"/>
              </a:spcBef>
              <a:spcAft>
                <a:spcPts val="0"/>
              </a:spcAft>
              <a:buSzPts val="1100"/>
              <a:buNone/>
            </a:pPr>
            <a:r>
              <a:rPr lang="ko-KR">
                <a:solidFill>
                  <a:schemeClr val="dk1"/>
                </a:solidFill>
              </a:rPr>
              <a:t>두번째는 Factory 패턴과 Mock 객체를 활용한 '의존성 주입',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ko-KR">
                <a:solidFill>
                  <a:schemeClr val="dk1"/>
                </a:solidFill>
              </a:rPr>
              <a:t>세번째는 AST 노드 확장 시 누락을 방지하는 'Visitor 패턴'을 적용하였습니다." </a:t>
            </a:r>
            <a:endParaRPr>
              <a:solidFill>
                <a:schemeClr val="dk1"/>
              </a:solidFill>
            </a:endParaRPr>
          </a:p>
          <a:p>
            <a:pPr indent="0" lvl="0" marL="0" rtl="0" algn="l">
              <a:lnSpc>
                <a:spcPct val="100000"/>
              </a:lnSpc>
              <a:spcBef>
                <a:spcPts val="0"/>
              </a:spcBef>
              <a:spcAft>
                <a:spcPts val="0"/>
              </a:spcAft>
              <a:buSzPts val="1100"/>
              <a:buNone/>
            </a:pPr>
            <a:r>
              <a:t/>
            </a:r>
            <a:endParaRPr/>
          </a:p>
        </p:txBody>
      </p:sp>
      <p:sp>
        <p:nvSpPr>
          <p:cNvPr id="350" name="Google Shape;350;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ko-KR"/>
              <a:t>충돌 없이 개발을 진행할수 있도록 초기 설계를 하였습니다.</a:t>
            </a:r>
            <a:endParaRPr/>
          </a:p>
          <a:p>
            <a:pPr indent="0" lvl="0" marL="0" rtl="0" algn="l">
              <a:lnSpc>
                <a:spcPct val="100000"/>
              </a:lnSpc>
              <a:spcBef>
                <a:spcPts val="0"/>
              </a:spcBef>
              <a:spcAft>
                <a:spcPts val="0"/>
              </a:spcAft>
              <a:buSzPts val="1100"/>
              <a:buNone/>
            </a:pPr>
            <a:r>
              <a:rPr lang="ko-KR"/>
              <a:t> 핵심은 '인터페이스 계약'과 'Mock 객체 활용'입니다.</a:t>
            </a:r>
            <a:endParaRPr/>
          </a:p>
          <a:p>
            <a:pPr indent="0" lvl="0" marL="0" rtl="0" algn="l">
              <a:lnSpc>
                <a:spcPct val="100000"/>
              </a:lnSpc>
              <a:spcBef>
                <a:spcPts val="0"/>
              </a:spcBef>
              <a:spcAft>
                <a:spcPts val="0"/>
              </a:spcAft>
              <a:buSzPts val="1100"/>
              <a:buNone/>
            </a:pPr>
            <a:r>
              <a:rPr lang="ko-KR"/>
              <a:t> 인터페이스로 미리 통신 규격을 정하고, GoogleMock을 사용해 미완성 모듈을 가짜 객체로 대체했습니다. </a:t>
            </a:r>
            <a:endParaRPr/>
          </a:p>
          <a:p>
            <a:pPr indent="0" lvl="0" marL="0" rtl="0" algn="l">
              <a:lnSpc>
                <a:spcPct val="100000"/>
              </a:lnSpc>
              <a:spcBef>
                <a:spcPts val="0"/>
              </a:spcBef>
              <a:spcAft>
                <a:spcPts val="0"/>
              </a:spcAft>
              <a:buSzPts val="1100"/>
              <a:buNone/>
            </a:pPr>
            <a:r>
              <a:rPr lang="ko-KR"/>
              <a:t>예를 들어 D팀원은 아직 완성되지 않은 Lexer나 Parser 없이도 Interpreter를 단독 테스트할 수 있었습니다. </a:t>
            </a:r>
            <a:endParaRPr/>
          </a:p>
          <a:p>
            <a:pPr indent="0" lvl="0" marL="0" rtl="0" algn="l">
              <a:lnSpc>
                <a:spcPct val="100000"/>
              </a:lnSpc>
              <a:spcBef>
                <a:spcPts val="0"/>
              </a:spcBef>
              <a:spcAft>
                <a:spcPts val="0"/>
              </a:spcAft>
              <a:buSzPts val="1100"/>
              <a:buNone/>
            </a:pPr>
            <a:r>
              <a:rPr lang="ko-KR"/>
              <a:t>보시는 표처럼 'Real'과 'Mock'을 조합함으로써, 부분 통합부터 전체 통합까지 단계별로 안전하게 개발을 진행했습니다. </a:t>
            </a:r>
            <a:endParaRPr/>
          </a:p>
        </p:txBody>
      </p:sp>
      <p:sp>
        <p:nvSpPr>
          <p:cNvPr id="371" name="Google Shape;371;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ko-KR">
                <a:solidFill>
                  <a:schemeClr val="dk1"/>
                </a:solidFill>
              </a:rPr>
              <a:t>가상 트리 확장시 오류를 방지하기 위해 Visitor 패턴을 도입했습니다. </a:t>
            </a:r>
            <a:endParaRPr>
              <a:solidFill>
                <a:schemeClr val="dk1"/>
              </a:solidFill>
            </a:endParaRPr>
          </a:p>
          <a:p>
            <a:pPr indent="0" lvl="0" marL="0" rtl="0" algn="l">
              <a:lnSpc>
                <a:spcPct val="100000"/>
              </a:lnSpc>
              <a:spcBef>
                <a:spcPts val="0"/>
              </a:spcBef>
              <a:spcAft>
                <a:spcPts val="0"/>
              </a:spcAft>
              <a:buSzPts val="1100"/>
              <a:buNone/>
            </a:pPr>
            <a:r>
              <a:rPr lang="ko-KR">
                <a:solidFill>
                  <a:schemeClr val="dk1"/>
                </a:solidFill>
              </a:rPr>
              <a:t>인터페이스에 순수 가상 함수를 추가함으로써, 구현하지 않은 클래스에서는 즉시 컴파일 에러가 발생하도록 만들었습니다. </a:t>
            </a:r>
            <a:endParaRPr>
              <a:solidFill>
                <a:schemeClr val="dk1"/>
              </a:solidFill>
            </a:endParaRPr>
          </a:p>
          <a:p>
            <a:pPr indent="0" lvl="0" marL="0" rtl="0" algn="l">
              <a:lnSpc>
                <a:spcPct val="100000"/>
              </a:lnSpc>
              <a:spcBef>
                <a:spcPts val="0"/>
              </a:spcBef>
              <a:spcAft>
                <a:spcPts val="0"/>
              </a:spcAft>
              <a:buSzPts val="1100"/>
              <a:buNone/>
            </a:pPr>
            <a:r>
              <a:rPr lang="ko-KR">
                <a:solidFill>
                  <a:schemeClr val="dk1"/>
                </a:solidFill>
              </a:rPr>
              <a:t>런타임에 발생할 수 있는 잠재적 결함을 컴파일 단계에서 원천 차단 했습니다.</a:t>
            </a:r>
            <a:endParaRPr/>
          </a:p>
        </p:txBody>
      </p:sp>
      <p:sp>
        <p:nvSpPr>
          <p:cNvPr id="399" name="Google Shape;399;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3ee9487a86e_0_1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ko-KR"/>
              <a:t>테스트 커버리지 분석 결과입니다.</a:t>
            </a:r>
            <a:endParaRPr/>
          </a:p>
          <a:p>
            <a:pPr indent="0" lvl="0" marL="0" rtl="0" algn="l">
              <a:lnSpc>
                <a:spcPct val="100000"/>
              </a:lnSpc>
              <a:spcBef>
                <a:spcPts val="0"/>
              </a:spcBef>
              <a:spcAft>
                <a:spcPts val="0"/>
              </a:spcAft>
              <a:buSzPts val="1100"/>
              <a:buNone/>
            </a:pPr>
            <a:r>
              <a:rPr lang="ko-KR"/>
              <a:t>본 프로젝트는 실질적 최대 상한선인 99%의 코드 커버리지를 달성하였습니다.</a:t>
            </a:r>
            <a:endParaRPr/>
          </a:p>
          <a:p>
            <a:pPr indent="0" lvl="0" marL="0" rtl="0" algn="l">
              <a:lnSpc>
                <a:spcPct val="100000"/>
              </a:lnSpc>
              <a:spcBef>
                <a:spcPts val="0"/>
              </a:spcBef>
              <a:spcAft>
                <a:spcPts val="0"/>
              </a:spcAft>
              <a:buSzPts val="1100"/>
              <a:buNone/>
            </a:pPr>
            <a:r>
              <a:rPr lang="ko-KR"/>
              <a:t>TDD 기반하여 개발된 코드이기때문에  제일 낮은 상황이 88% 였습니다. </a:t>
            </a:r>
            <a:endParaRPr/>
          </a:p>
          <a:p>
            <a:pPr indent="0" lvl="0" marL="0" rtl="0" algn="l">
              <a:lnSpc>
                <a:spcPct val="100000"/>
              </a:lnSpc>
              <a:spcBef>
                <a:spcPts val="0"/>
              </a:spcBef>
              <a:spcAft>
                <a:spcPts val="0"/>
              </a:spcAft>
              <a:buSzPts val="1100"/>
              <a:buNone/>
            </a:pPr>
            <a:r>
              <a:rPr lang="ko-KR"/>
              <a:t>최종 99% 커버리지로 프로젝트가 완료되었습니다. </a:t>
            </a:r>
            <a:endParaRPr/>
          </a:p>
        </p:txBody>
      </p:sp>
      <p:sp>
        <p:nvSpPr>
          <p:cNvPr id="418" name="Google Shape;418;g3ee9487a86e_0_1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3ee9487a86e_0_17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ko-KR"/>
              <a:t>높은 코드 커버리지인 상황에서 Refactoring을 진행을하니, </a:t>
            </a:r>
            <a:endParaRPr/>
          </a:p>
          <a:p>
            <a:pPr indent="0" lvl="0" marL="0" rtl="0" algn="l">
              <a:lnSpc>
                <a:spcPct val="100000"/>
              </a:lnSpc>
              <a:spcBef>
                <a:spcPts val="0"/>
              </a:spcBef>
              <a:spcAft>
                <a:spcPts val="0"/>
              </a:spcAft>
              <a:buSzPts val="1100"/>
              <a:buNone/>
            </a:pPr>
            <a:r>
              <a:rPr lang="ko-KR"/>
              <a:t>오히려 버그나 비정상 상황을 빠르게 인지할 수 있어서, TDD 방식의 장점을 알게된것같습니다.  그리고 엣지 케이스 발굴에도 도움이 되는것같습니다.</a:t>
            </a:r>
            <a:endParaRPr/>
          </a:p>
          <a:p>
            <a:pPr indent="0" lvl="0" marL="0" rtl="0" algn="l">
              <a:lnSpc>
                <a:spcPct val="100000"/>
              </a:lnSpc>
              <a:spcBef>
                <a:spcPts val="0"/>
              </a:spcBef>
              <a:spcAft>
                <a:spcPts val="0"/>
              </a:spcAft>
              <a:buSzPts val="1100"/>
              <a:buNone/>
            </a:pPr>
            <a:r>
              <a:t/>
            </a:r>
            <a:endParaRPr/>
          </a:p>
        </p:txBody>
      </p:sp>
      <p:sp>
        <p:nvSpPr>
          <p:cNvPr id="466" name="Google Shape;466;g3ee9487a86e_0_17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3ed4bf590d6_0_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91" name="Google Shape;491;g3ed4bf590d6_0_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3ee94320d98_2_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ko-KR"/>
              <a:t>생성 패턴 2종, 구조 패턴 4종, 동작 패턴 7종 등 총 13종의 디자인 패턴을 35개소에 적용했습니다. </a:t>
            </a:r>
            <a:endParaRPr/>
          </a:p>
          <a:p>
            <a:pPr indent="0" lvl="0" marL="0" rtl="0" algn="l">
              <a:lnSpc>
                <a:spcPct val="100000"/>
              </a:lnSpc>
              <a:spcBef>
                <a:spcPts val="0"/>
              </a:spcBef>
              <a:spcAft>
                <a:spcPts val="0"/>
              </a:spcAft>
              <a:buSzPts val="1100"/>
              <a:buNone/>
            </a:pPr>
            <a:r>
              <a:rPr lang="ko-KR"/>
              <a:t>특히, 139개의 테스트 케이스(TC)를 통해 각 패턴이 올바르게 동작함을 검증했습니다. </a:t>
            </a:r>
            <a:endParaRPr/>
          </a:p>
          <a:p>
            <a:pPr indent="0" lvl="0" marL="0" rtl="0" algn="l">
              <a:lnSpc>
                <a:spcPct val="100000"/>
              </a:lnSpc>
              <a:spcBef>
                <a:spcPts val="0"/>
              </a:spcBef>
              <a:spcAft>
                <a:spcPts val="0"/>
              </a:spcAft>
              <a:buSzPts val="1100"/>
              <a:buNone/>
            </a:pPr>
            <a:r>
              <a:rPr lang="ko-KR"/>
              <a:t>단순히 패턴을 적용한 것에 그치지 않고, 각 파트가 독립적으로 작동하면서도 전체 시스템이 유기적으로 연결되도록 구조화했습니다.</a:t>
            </a:r>
            <a:endParaRPr/>
          </a:p>
        </p:txBody>
      </p:sp>
      <p:sp>
        <p:nvSpPr>
          <p:cNvPr id="499" name="Google Shape;499;g3ee94320d98_2_75:notes"/>
          <p:cNvSpPr/>
          <p:nvPr>
            <p:ph idx="2" type="sldImg"/>
          </p:nvPr>
        </p:nvSpPr>
        <p:spPr>
          <a:xfrm>
            <a:off x="1142630" y="685800"/>
            <a:ext cx="4573416"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g3ee94320d98_2_1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ko-KR"/>
              <a:t>LangFactory에 의존성 주입(DI) 패턴을 적용했습니다. </a:t>
            </a:r>
            <a:endParaRPr/>
          </a:p>
          <a:p>
            <a:pPr indent="0" lvl="0" marL="0" rtl="0" algn="l">
              <a:lnSpc>
                <a:spcPct val="100000"/>
              </a:lnSpc>
              <a:spcBef>
                <a:spcPts val="0"/>
              </a:spcBef>
              <a:spcAft>
                <a:spcPts val="0"/>
              </a:spcAft>
              <a:buSzPts val="1100"/>
              <a:buNone/>
            </a:pPr>
            <a:r>
              <a:rPr lang="ko-KR"/>
              <a:t>기존에는 구체 클래스를 직접 생성했기 때문에 테스트가 불가능했으나, 이제는 생성자를 통해 인터페이스를 주입받습니다. </a:t>
            </a:r>
            <a:endParaRPr/>
          </a:p>
          <a:p>
            <a:pPr indent="0" lvl="0" marL="0" rtl="0" algn="l">
              <a:lnSpc>
                <a:spcPct val="100000"/>
              </a:lnSpc>
              <a:spcBef>
                <a:spcPts val="0"/>
              </a:spcBef>
              <a:spcAft>
                <a:spcPts val="0"/>
              </a:spcAft>
              <a:buSzPts val="1100"/>
              <a:buNone/>
            </a:pPr>
            <a:r>
              <a:rPr lang="ko-KR"/>
              <a:t>이는 'DIP(의존 역전 원칙)'를 준수한 사례입니다. </a:t>
            </a:r>
            <a:endParaRPr/>
          </a:p>
          <a:p>
            <a:pPr indent="0" lvl="0" marL="0" rtl="0" algn="l">
              <a:lnSpc>
                <a:spcPct val="100000"/>
              </a:lnSpc>
              <a:spcBef>
                <a:spcPts val="0"/>
              </a:spcBef>
              <a:spcAft>
                <a:spcPts val="0"/>
              </a:spcAft>
              <a:buSzPts val="1100"/>
              <a:buNone/>
            </a:pPr>
            <a:r>
              <a:rPr lang="ko-KR"/>
              <a:t>MockLexer나 MockParser를 주입하여 단위 테스트를 수행할 수 있게 되었으며, </a:t>
            </a:r>
            <a:endParaRPr/>
          </a:p>
          <a:p>
            <a:pPr indent="0" lvl="0" marL="0" rtl="0" algn="l">
              <a:lnSpc>
                <a:spcPct val="100000"/>
              </a:lnSpc>
              <a:spcBef>
                <a:spcPts val="0"/>
              </a:spcBef>
              <a:spcAft>
                <a:spcPts val="0"/>
              </a:spcAft>
              <a:buSzPts val="1100"/>
              <a:buNone/>
            </a:pPr>
            <a:r>
              <a:rPr lang="ko-KR"/>
              <a:t>구체 클래스가 변경되어도 LangFactory를 재컴파일할 필요가 없어 독립적인 개발 환경이 확보되었습니다 </a:t>
            </a:r>
            <a:endParaRPr/>
          </a:p>
        </p:txBody>
      </p:sp>
      <p:sp>
        <p:nvSpPr>
          <p:cNvPr id="587" name="Google Shape;587;g3ee94320d98_2_163:notes"/>
          <p:cNvSpPr/>
          <p:nvPr>
            <p:ph idx="2" type="sldImg"/>
          </p:nvPr>
        </p:nvSpPr>
        <p:spPr>
          <a:xfrm>
            <a:off x="1142630" y="685800"/>
            <a:ext cx="4573416"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g3ee94320d98_2_1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ko-KR"/>
              <a:t>두 번째 사례는 Bridge 패턴을 통한 인터페이스 계층 분리입니다. </a:t>
            </a:r>
            <a:endParaRPr/>
          </a:p>
          <a:p>
            <a:pPr indent="0" lvl="0" marL="0" rtl="0" algn="l">
              <a:lnSpc>
                <a:spcPct val="100000"/>
              </a:lnSpc>
              <a:spcBef>
                <a:spcPts val="0"/>
              </a:spcBef>
              <a:spcAft>
                <a:spcPts val="0"/>
              </a:spcAft>
              <a:buSzPts val="1100"/>
              <a:buNone/>
            </a:pPr>
            <a:r>
              <a:rPr lang="ko-KR"/>
              <a:t>6개의 순수 가상 인터페이스를 삽입하여 추상화와 구현을 완전히 분리했습니다.</a:t>
            </a:r>
            <a:endParaRPr/>
          </a:p>
          <a:p>
            <a:pPr indent="0" lvl="0" marL="0" rtl="0" algn="l">
              <a:lnSpc>
                <a:spcPct val="100000"/>
              </a:lnSpc>
              <a:spcBef>
                <a:spcPts val="0"/>
              </a:spcBef>
              <a:spcAft>
                <a:spcPts val="0"/>
              </a:spcAft>
              <a:buSzPts val="1100"/>
              <a:buNone/>
            </a:pPr>
            <a:r>
              <a:rPr lang="ko-KR"/>
              <a:t> 과거에는 팀원 한 명의 구현 변경이 의존성 체인을 타고 전체로 전파되어 모두가 고통받았지만, </a:t>
            </a:r>
            <a:endParaRPr/>
          </a:p>
          <a:p>
            <a:pPr indent="0" lvl="0" marL="0" rtl="0" algn="l">
              <a:lnSpc>
                <a:spcPct val="100000"/>
              </a:lnSpc>
              <a:spcBef>
                <a:spcPts val="0"/>
              </a:spcBef>
              <a:spcAft>
                <a:spcPts val="0"/>
              </a:spcAft>
              <a:buSzPts val="1100"/>
              <a:buNone/>
            </a:pPr>
            <a:r>
              <a:rPr lang="ko-KR"/>
              <a:t>이제는 인터페이스 계약만 유지하면 구현체와 테스트 대역을 자유롭게 교체할 수 있습니다. </a:t>
            </a:r>
            <a:endParaRPr/>
          </a:p>
          <a:p>
            <a:pPr indent="0" lvl="0" marL="0" rtl="0" algn="l">
              <a:lnSpc>
                <a:spcPct val="100000"/>
              </a:lnSpc>
              <a:spcBef>
                <a:spcPts val="0"/>
              </a:spcBef>
              <a:spcAft>
                <a:spcPts val="0"/>
              </a:spcAft>
              <a:buSzPts val="1100"/>
              <a:buNone/>
            </a:pPr>
            <a:r>
              <a:rPr lang="ko-KR"/>
              <a:t>이는 병렬 개발을 위한 가장 강력한 방어벽이 되었습니다. </a:t>
            </a:r>
            <a:endParaRPr/>
          </a:p>
        </p:txBody>
      </p:sp>
      <p:sp>
        <p:nvSpPr>
          <p:cNvPr id="619" name="Google Shape;619;g3ee94320d98_2_194:notes"/>
          <p:cNvSpPr/>
          <p:nvPr>
            <p:ph idx="2" type="sldImg"/>
          </p:nvPr>
        </p:nvSpPr>
        <p:spPr>
          <a:xfrm>
            <a:off x="1142630" y="685800"/>
            <a:ext cx="4573416"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3ee94320d98_2_2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ko-KR">
                <a:solidFill>
                  <a:schemeClr val="dk1"/>
                </a:solidFill>
              </a:rPr>
              <a:t>세 번째 사례는 Command 패턴을 활용한 </a:t>
            </a:r>
            <a:r>
              <a:rPr lang="ko-KR">
                <a:solidFill>
                  <a:srgbClr val="188038"/>
                </a:solidFill>
                <a:latin typeface="Roboto Mono"/>
                <a:ea typeface="Roboto Mono"/>
                <a:cs typeface="Roboto Mono"/>
                <a:sym typeface="Roboto Mono"/>
              </a:rPr>
              <a:t>ICallable</a:t>
            </a:r>
            <a:r>
              <a:rPr lang="ko-KR">
                <a:solidFill>
                  <a:schemeClr val="dk1"/>
                </a:solidFill>
              </a:rPr>
              <a:t> 캡슐화입니다.</a:t>
            </a:r>
            <a:endParaRPr>
              <a:solidFill>
                <a:schemeClr val="dk1"/>
              </a:solidFill>
            </a:endParaRPr>
          </a:p>
          <a:p>
            <a:pPr indent="0" lvl="0" marL="0" rtl="0" algn="l">
              <a:lnSpc>
                <a:spcPct val="100000"/>
              </a:lnSpc>
              <a:spcBef>
                <a:spcPts val="0"/>
              </a:spcBef>
              <a:spcAft>
                <a:spcPts val="0"/>
              </a:spcAft>
              <a:buSzPts val="1100"/>
              <a:buNone/>
            </a:pPr>
            <a:r>
              <a:rPr lang="ko-KR">
                <a:solidFill>
                  <a:schemeClr val="dk1"/>
                </a:solidFill>
              </a:rPr>
              <a:t> 모든 호출 가능 객체를 인터페이스로 통일하여 Interpreter가 타입을 구분하지 않고도 동일한 방식으로 실행하도록 만들었습니다.</a:t>
            </a:r>
            <a:endParaRPr>
              <a:solidFill>
                <a:schemeClr val="dk1"/>
              </a:solidFill>
            </a:endParaRPr>
          </a:p>
          <a:p>
            <a:pPr indent="0" lvl="0" marL="0" rtl="0" algn="l">
              <a:lnSpc>
                <a:spcPct val="100000"/>
              </a:lnSpc>
              <a:spcBef>
                <a:spcPts val="0"/>
              </a:spcBef>
              <a:spcAft>
                <a:spcPts val="0"/>
              </a:spcAft>
              <a:buSzPts val="1100"/>
              <a:buNone/>
            </a:pPr>
            <a:r>
              <a:rPr lang="ko-KR">
                <a:solidFill>
                  <a:schemeClr val="dk1"/>
                </a:solidFill>
              </a:rPr>
              <a:t> 더불어, 비대해지는 if-else 문을 해시맵(Hash-map) 기반의 Dispatch 구조로 개선하여 O(1) 성능을 확보했습니다. </a:t>
            </a:r>
            <a:endParaRPr>
              <a:solidFill>
                <a:schemeClr val="dk1"/>
              </a:solidFill>
            </a:endParaRPr>
          </a:p>
          <a:p>
            <a:pPr indent="0" lvl="0" marL="0" rtl="0" algn="l">
              <a:lnSpc>
                <a:spcPct val="100000"/>
              </a:lnSpc>
              <a:spcBef>
                <a:spcPts val="0"/>
              </a:spcBef>
              <a:spcAft>
                <a:spcPts val="0"/>
              </a:spcAft>
              <a:buSzPts val="1100"/>
              <a:buNone/>
            </a:pPr>
            <a:r>
              <a:rPr lang="ko-KR">
                <a:solidFill>
                  <a:schemeClr val="dk1"/>
                </a:solidFill>
              </a:rPr>
              <a:t>새로운 문법이 추가되어도 Interpreter 코드를 수정할 필요 없이 해시맵 등록만으로 확장이 가능합니다. </a:t>
            </a:r>
            <a:endParaRPr/>
          </a:p>
        </p:txBody>
      </p:sp>
      <p:sp>
        <p:nvSpPr>
          <p:cNvPr id="651" name="Google Shape;651;g3ee94320d98_2_225:notes"/>
          <p:cNvSpPr/>
          <p:nvPr>
            <p:ph idx="2" type="sldImg"/>
          </p:nvPr>
        </p:nvSpPr>
        <p:spPr>
          <a:xfrm>
            <a:off x="1142630" y="685800"/>
            <a:ext cx="4573416"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g3ee94320d98_2_2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ko-KR"/>
              <a:t>Fluent Builder 패턴입니다. </a:t>
            </a:r>
            <a:endParaRPr/>
          </a:p>
          <a:p>
            <a:pPr indent="0" lvl="0" marL="0" rtl="0" algn="l">
              <a:lnSpc>
                <a:spcPct val="100000"/>
              </a:lnSpc>
              <a:spcBef>
                <a:spcPts val="0"/>
              </a:spcBef>
              <a:spcAft>
                <a:spcPts val="0"/>
              </a:spcAft>
              <a:buSzPts val="1100"/>
              <a:buNone/>
            </a:pPr>
            <a:r>
              <a:rPr lang="ko-KR"/>
              <a:t>테스트 코드에서 토큰을 일일이 나열하던 방식은 가독성을 저해하고 오류 발생 가능성이 높았습니다.</a:t>
            </a:r>
            <a:endParaRPr/>
          </a:p>
          <a:p>
            <a:pPr indent="0" lvl="0" marL="0" rtl="0" algn="l">
              <a:lnSpc>
                <a:spcPct val="100000"/>
              </a:lnSpc>
              <a:spcBef>
                <a:spcPts val="0"/>
              </a:spcBef>
              <a:spcAft>
                <a:spcPts val="0"/>
              </a:spcAft>
              <a:buSzPts val="1100"/>
              <a:buNone/>
            </a:pPr>
            <a:r>
              <a:rPr lang="ko-KR"/>
              <a:t> 메서드 체이닝 구조를 도입하여 문법 구조를 직관적으로 표현하도록 개선했습니다. </a:t>
            </a:r>
            <a:endParaRPr/>
          </a:p>
          <a:p>
            <a:pPr indent="0" lvl="0" marL="0" rtl="0" algn="l">
              <a:lnSpc>
                <a:spcPct val="100000"/>
              </a:lnSpc>
              <a:spcBef>
                <a:spcPts val="0"/>
              </a:spcBef>
              <a:spcAft>
                <a:spcPts val="0"/>
              </a:spcAft>
              <a:buSzPts val="1100"/>
              <a:buNone/>
            </a:pPr>
            <a:r>
              <a:rPr lang="ko-KR"/>
              <a:t>이로써 테스트 설정 코드와 비즈니스 로직을 명확히 분리하고, 코드 품질을 향상시켰습니다. </a:t>
            </a:r>
            <a:endParaRPr/>
          </a:p>
        </p:txBody>
      </p:sp>
      <p:sp>
        <p:nvSpPr>
          <p:cNvPr id="683" name="Google Shape;683;g3ee94320d98_2_256:notes"/>
          <p:cNvSpPr/>
          <p:nvPr>
            <p:ph idx="2" type="sldImg"/>
          </p:nvPr>
        </p:nvSpPr>
        <p:spPr>
          <a:xfrm>
            <a:off x="1142630" y="685800"/>
            <a:ext cx="4573416"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g3ee94320d98_2_28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ko-KR">
                <a:solidFill>
                  <a:srgbClr val="188038"/>
                </a:solidFill>
                <a:latin typeface="Roboto Mono"/>
                <a:ea typeface="Roboto Mono"/>
                <a:cs typeface="Roboto Mono"/>
                <a:sym typeface="Roboto Mono"/>
              </a:rPr>
              <a:t>Parser</a:t>
            </a:r>
            <a:r>
              <a:rPr lang="ko-KR">
                <a:solidFill>
                  <a:schemeClr val="dk1"/>
                </a:solidFill>
              </a:rPr>
              <a:t> 보호를 위한 Adapter 및 Proxy 패턴입니다. </a:t>
            </a:r>
            <a:endParaRPr>
              <a:solidFill>
                <a:schemeClr val="dk1"/>
              </a:solidFill>
            </a:endParaRPr>
          </a:p>
          <a:p>
            <a:pPr indent="0" lvl="0" marL="0" rtl="0" algn="l">
              <a:lnSpc>
                <a:spcPct val="100000"/>
              </a:lnSpc>
              <a:spcBef>
                <a:spcPts val="0"/>
              </a:spcBef>
              <a:spcAft>
                <a:spcPts val="0"/>
              </a:spcAft>
              <a:buSzPts val="1100"/>
              <a:buNone/>
            </a:pPr>
            <a:r>
              <a:rPr lang="ko-KR">
                <a:solidFill>
                  <a:schemeClr val="dk1"/>
                </a:solidFill>
              </a:rPr>
              <a:t>기존에는 </a:t>
            </a:r>
            <a:r>
              <a:rPr lang="ko-KR">
                <a:solidFill>
                  <a:srgbClr val="188038"/>
                </a:solidFill>
                <a:latin typeface="Roboto Mono"/>
                <a:ea typeface="Roboto Mono"/>
                <a:cs typeface="Roboto Mono"/>
                <a:sym typeface="Roboto Mono"/>
              </a:rPr>
              <a:t>Parser</a:t>
            </a:r>
            <a:r>
              <a:rPr lang="ko-KR">
                <a:solidFill>
                  <a:schemeClr val="dk1"/>
                </a:solidFill>
              </a:rPr>
              <a:t>가 문법 분석과 커서 제어, 방어 검증을 동시에 수행하여 책임이 비대해졌습니다.</a:t>
            </a:r>
            <a:endParaRPr>
              <a:solidFill>
                <a:schemeClr val="dk1"/>
              </a:solidFill>
            </a:endParaRPr>
          </a:p>
          <a:p>
            <a:pPr indent="0" lvl="0" marL="0" rtl="0" algn="l">
              <a:lnSpc>
                <a:spcPct val="100000"/>
              </a:lnSpc>
              <a:spcBef>
                <a:spcPts val="0"/>
              </a:spcBef>
              <a:spcAft>
                <a:spcPts val="0"/>
              </a:spcAft>
              <a:buSzPts val="1100"/>
              <a:buNone/>
            </a:pPr>
            <a:r>
              <a:rPr lang="ko-KR">
                <a:solidFill>
                  <a:schemeClr val="dk1"/>
                </a:solidFill>
              </a:rPr>
              <a:t> Proxy 패턴으로 무결성 검증 레이어를 분리하고, Adapter 패턴으로 스트림 제어를 위임하여 </a:t>
            </a:r>
            <a:r>
              <a:rPr lang="ko-KR">
                <a:solidFill>
                  <a:srgbClr val="188038"/>
                </a:solidFill>
                <a:latin typeface="Roboto Mono"/>
                <a:ea typeface="Roboto Mono"/>
                <a:cs typeface="Roboto Mono"/>
                <a:sym typeface="Roboto Mono"/>
              </a:rPr>
              <a:t>Parser</a:t>
            </a:r>
            <a:r>
              <a:rPr lang="ko-KR">
                <a:solidFill>
                  <a:schemeClr val="dk1"/>
                </a:solidFill>
              </a:rPr>
              <a:t>가 핵심 문법 분석에만 집중할 수 있는 구조로 변경했습니다. </a:t>
            </a:r>
            <a:endParaRPr/>
          </a:p>
        </p:txBody>
      </p:sp>
      <p:sp>
        <p:nvSpPr>
          <p:cNvPr id="715" name="Google Shape;715;g3ee94320d98_2_287:notes"/>
          <p:cNvSpPr/>
          <p:nvPr>
            <p:ph idx="2" type="sldImg"/>
          </p:nvPr>
        </p:nvSpPr>
        <p:spPr>
          <a:xfrm>
            <a:off x="1142630" y="685800"/>
            <a:ext cx="4573416"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5" name="Shape 745"/>
        <p:cNvGrpSpPr/>
        <p:nvPr/>
      </p:nvGrpSpPr>
      <p:grpSpPr>
        <a:xfrm>
          <a:off x="0" y="0"/>
          <a:ext cx="0" cy="0"/>
          <a:chOff x="0" y="0"/>
          <a:chExt cx="0" cy="0"/>
        </a:xfrm>
      </p:grpSpPr>
      <p:sp>
        <p:nvSpPr>
          <p:cNvPr id="746" name="Google Shape;746;g3ee94320d98_2_3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ko-KR"/>
              <a:t>마지막으로 해시맵 디스패치를 통한 분기 제거입니다. </a:t>
            </a:r>
            <a:endParaRPr/>
          </a:p>
          <a:p>
            <a:pPr indent="0" lvl="0" marL="0" rtl="0" algn="l">
              <a:lnSpc>
                <a:spcPct val="100000"/>
              </a:lnSpc>
              <a:spcBef>
                <a:spcPts val="0"/>
              </a:spcBef>
              <a:spcAft>
                <a:spcPts val="0"/>
              </a:spcAft>
              <a:buSzPts val="1100"/>
              <a:buNone/>
            </a:pPr>
            <a:r>
              <a:rPr lang="ko-KR"/>
              <a:t>예약어 증가에 따라 비대해지던 if-else 체인을 해시맵 기반의 Dispatch 구조로 개선했습니다. </a:t>
            </a:r>
            <a:endParaRPr/>
          </a:p>
          <a:p>
            <a:pPr indent="0" lvl="0" marL="0" rtl="0" algn="l">
              <a:lnSpc>
                <a:spcPct val="100000"/>
              </a:lnSpc>
              <a:spcBef>
                <a:spcPts val="0"/>
              </a:spcBef>
              <a:spcAft>
                <a:spcPts val="0"/>
              </a:spcAft>
              <a:buSzPts val="1100"/>
              <a:buNone/>
            </a:pPr>
            <a:r>
              <a:rPr lang="ko-KR"/>
              <a:t>이를 통해 O(n) 선형 탐색의 비효율성을 O(1)로 최적화하고, 문법 추가 시 기존 로직 수정 없이 확장이 가능한 OCP 준수 구조를 확립했습니다. </a:t>
            </a:r>
            <a:endParaRPr/>
          </a:p>
        </p:txBody>
      </p:sp>
      <p:sp>
        <p:nvSpPr>
          <p:cNvPr id="747" name="Google Shape;747;g3ee94320d98_2_318:notes"/>
          <p:cNvSpPr/>
          <p:nvPr>
            <p:ph idx="2" type="sldImg"/>
          </p:nvPr>
        </p:nvSpPr>
        <p:spPr>
          <a:xfrm>
            <a:off x="1142630" y="685800"/>
            <a:ext cx="4573416"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g3ed4bf590d6_0_1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79" name="Google Shape;779;g3ed4bf590d6_0_1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5" name="Shape 785"/>
        <p:cNvGrpSpPr/>
        <p:nvPr/>
      </p:nvGrpSpPr>
      <p:grpSpPr>
        <a:xfrm>
          <a:off x="0" y="0"/>
          <a:ext cx="0" cy="0"/>
          <a:chOff x="0" y="0"/>
          <a:chExt cx="0" cy="0"/>
        </a:xfrm>
      </p:grpSpPr>
      <p:sp>
        <p:nvSpPr>
          <p:cNvPr id="786" name="Google Shape;786;g3ee94320d98_1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ko-KR">
                <a:solidFill>
                  <a:schemeClr val="dk1"/>
                </a:solidFill>
              </a:rPr>
              <a:t>Static Variable Binding입니다.</a:t>
            </a:r>
            <a:endParaRPr>
              <a:solidFill>
                <a:schemeClr val="dk1"/>
              </a:solidFill>
            </a:endParaRPr>
          </a:p>
          <a:p>
            <a:pPr indent="0" lvl="0" marL="0" rtl="0" algn="l">
              <a:lnSpc>
                <a:spcPct val="100000"/>
              </a:lnSpc>
              <a:spcBef>
                <a:spcPts val="0"/>
              </a:spcBef>
              <a:spcAft>
                <a:spcPts val="0"/>
              </a:spcAft>
              <a:buSzPts val="1100"/>
              <a:buNone/>
            </a:pPr>
            <a:r>
              <a:rPr lang="ko-KR">
                <a:solidFill>
                  <a:schemeClr val="dk1"/>
                </a:solidFill>
              </a:rPr>
              <a:t> 기존 런타임 O(n) 스코프 체인 순회 방식을 컴파일 타임 </a:t>
            </a:r>
            <a:r>
              <a:rPr lang="ko-KR">
                <a:solidFill>
                  <a:srgbClr val="188038"/>
                </a:solidFill>
                <a:latin typeface="Roboto Mono"/>
                <a:ea typeface="Roboto Mono"/>
                <a:cs typeface="Roboto Mono"/>
                <a:sym typeface="Roboto Mono"/>
              </a:rPr>
              <a:t>Resolver</a:t>
            </a:r>
            <a:r>
              <a:rPr lang="ko-KR">
                <a:solidFill>
                  <a:schemeClr val="dk1"/>
                </a:solidFill>
              </a:rPr>
              <a:t>를 통한 O(1) 배열 인덱싱으로 변환했습니다. </a:t>
            </a:r>
            <a:endParaRPr>
              <a:solidFill>
                <a:schemeClr val="dk1"/>
              </a:solidFill>
            </a:endParaRPr>
          </a:p>
          <a:p>
            <a:pPr indent="0" lvl="0" marL="0" rtl="0" algn="l">
              <a:lnSpc>
                <a:spcPct val="100000"/>
              </a:lnSpc>
              <a:spcBef>
                <a:spcPts val="0"/>
              </a:spcBef>
              <a:spcAft>
                <a:spcPts val="0"/>
              </a:spcAft>
              <a:buSzPts val="1100"/>
              <a:buNone/>
            </a:pPr>
            <a:r>
              <a:rPr lang="ko-KR">
                <a:solidFill>
                  <a:schemeClr val="dk1"/>
                </a:solidFill>
              </a:rPr>
              <a:t>이를 통해 중첩 스코프 깊이와 무관하게 균일한 접근 성능을 보장합니다. </a:t>
            </a:r>
            <a:endParaRPr/>
          </a:p>
        </p:txBody>
      </p:sp>
      <p:sp>
        <p:nvSpPr>
          <p:cNvPr id="787" name="Google Shape;787;g3ee94320d98_10_0:notes"/>
          <p:cNvSpPr/>
          <p:nvPr>
            <p:ph idx="2" type="sldImg"/>
          </p:nvPr>
        </p:nvSpPr>
        <p:spPr>
          <a:xfrm>
            <a:off x="1142630" y="685800"/>
            <a:ext cx="4573416"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7" name="Shape 817"/>
        <p:cNvGrpSpPr/>
        <p:nvPr/>
      </p:nvGrpSpPr>
      <p:grpSpPr>
        <a:xfrm>
          <a:off x="0" y="0"/>
          <a:ext cx="0" cy="0"/>
          <a:chOff x="0" y="0"/>
          <a:chExt cx="0" cy="0"/>
        </a:xfrm>
      </p:grpSpPr>
      <p:sp>
        <p:nvSpPr>
          <p:cNvPr id="818" name="Google Shape;818;g3ee94320d98_10_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ko-KR"/>
              <a:t>두 번째로 Spy 패턴을 이용한 테스트 검증입니다. </a:t>
            </a:r>
            <a:endParaRPr/>
          </a:p>
          <a:p>
            <a:pPr indent="0" lvl="0" marL="0" rtl="0" algn="l">
              <a:lnSpc>
                <a:spcPct val="100000"/>
              </a:lnSpc>
              <a:spcBef>
                <a:spcPts val="0"/>
              </a:spcBef>
              <a:spcAft>
                <a:spcPts val="0"/>
              </a:spcAft>
              <a:buSzPts val="1100"/>
              <a:buNone/>
            </a:pPr>
            <a:r>
              <a:rPr lang="ko-KR"/>
              <a:t>성능 최적화가 의도대로 동작하는지 확인하기 위해 Spy 객체를 주입했습니다. </a:t>
            </a:r>
            <a:endParaRPr/>
          </a:p>
          <a:p>
            <a:pPr indent="0" lvl="0" marL="0" rtl="0" algn="l">
              <a:lnSpc>
                <a:spcPct val="100000"/>
              </a:lnSpc>
              <a:spcBef>
                <a:spcPts val="0"/>
              </a:spcBef>
              <a:spcAft>
                <a:spcPts val="0"/>
              </a:spcAft>
              <a:buSzPts val="1100"/>
              <a:buNone/>
            </a:pPr>
            <a:r>
              <a:rPr lang="ko-KR"/>
              <a:t>이를 통해 기능의 정확성뿐만 아니라, 의도한 성능 경로를 거쳤는지 정량적으로 검증할 수 있습니다. </a:t>
            </a:r>
            <a:endParaRPr/>
          </a:p>
          <a:p>
            <a:pPr indent="0" lvl="0" marL="0" rtl="0" algn="l">
              <a:lnSpc>
                <a:spcPct val="100000"/>
              </a:lnSpc>
              <a:spcBef>
                <a:spcPts val="0"/>
              </a:spcBef>
              <a:spcAft>
                <a:spcPts val="0"/>
              </a:spcAft>
              <a:buSzPts val="1100"/>
              <a:buNone/>
            </a:pPr>
            <a:r>
              <a:t/>
            </a:r>
            <a:endParaRPr/>
          </a:p>
        </p:txBody>
      </p:sp>
      <p:sp>
        <p:nvSpPr>
          <p:cNvPr id="819" name="Google Shape;819;g3ee94320d98_10_32:notes"/>
          <p:cNvSpPr/>
          <p:nvPr>
            <p:ph idx="2" type="sldImg"/>
          </p:nvPr>
        </p:nvSpPr>
        <p:spPr>
          <a:xfrm>
            <a:off x="1142630" y="685800"/>
            <a:ext cx="4573416"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 name="Shape 849"/>
        <p:cNvGrpSpPr/>
        <p:nvPr/>
      </p:nvGrpSpPr>
      <p:grpSpPr>
        <a:xfrm>
          <a:off x="0" y="0"/>
          <a:ext cx="0" cy="0"/>
          <a:chOff x="0" y="0"/>
          <a:chExt cx="0" cy="0"/>
        </a:xfrm>
      </p:grpSpPr>
      <p:sp>
        <p:nvSpPr>
          <p:cNvPr id="850" name="Google Shape;850;g3ee94320d98_10_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ko-KR">
                <a:solidFill>
                  <a:srgbClr val="188038"/>
                </a:solidFill>
                <a:latin typeface="Roboto Mono"/>
                <a:ea typeface="Roboto Mono"/>
                <a:cs typeface="Roboto Mono"/>
                <a:sym typeface="Roboto Mono"/>
              </a:rPr>
              <a:t>ReturnSignal</a:t>
            </a:r>
            <a:r>
              <a:rPr lang="ko-KR">
                <a:solidFill>
                  <a:schemeClr val="dk1"/>
                </a:solidFill>
              </a:rPr>
              <a:t>을 활용한 예외 흐름 제어입니다. </a:t>
            </a:r>
            <a:endParaRPr>
              <a:solidFill>
                <a:schemeClr val="dk1"/>
              </a:solidFill>
            </a:endParaRPr>
          </a:p>
          <a:p>
            <a:pPr indent="0" lvl="0" marL="0" rtl="0" algn="l">
              <a:lnSpc>
                <a:spcPct val="100000"/>
              </a:lnSpc>
              <a:spcBef>
                <a:spcPts val="0"/>
              </a:spcBef>
              <a:spcAft>
                <a:spcPts val="0"/>
              </a:spcAft>
              <a:buSzPts val="1100"/>
              <a:buNone/>
            </a:pPr>
            <a:r>
              <a:rPr lang="ko-KR">
                <a:solidFill>
                  <a:schemeClr val="dk1"/>
                </a:solidFill>
              </a:rPr>
              <a:t>함수 </a:t>
            </a:r>
            <a:r>
              <a:rPr lang="ko-KR">
                <a:solidFill>
                  <a:srgbClr val="188038"/>
                </a:solidFill>
                <a:latin typeface="Roboto Mono"/>
                <a:ea typeface="Roboto Mono"/>
                <a:cs typeface="Roboto Mono"/>
                <a:sym typeface="Roboto Mono"/>
              </a:rPr>
              <a:t>return</a:t>
            </a:r>
            <a:r>
              <a:rPr lang="ko-KR">
                <a:solidFill>
                  <a:schemeClr val="dk1"/>
                </a:solidFill>
              </a:rPr>
              <a:t> 처리를 위해 사용하던 전역 플래그는 상태 관리 누락의 위험이 있었습니다.</a:t>
            </a:r>
            <a:endParaRPr>
              <a:solidFill>
                <a:schemeClr val="dk1"/>
              </a:solidFill>
            </a:endParaRPr>
          </a:p>
          <a:p>
            <a:pPr indent="0" lvl="0" marL="0" rtl="0" algn="l">
              <a:lnSpc>
                <a:spcPct val="100000"/>
              </a:lnSpc>
              <a:spcBef>
                <a:spcPts val="0"/>
              </a:spcBef>
              <a:spcAft>
                <a:spcPts val="0"/>
              </a:spcAft>
              <a:buSzPts val="1100"/>
              <a:buNone/>
            </a:pPr>
            <a:r>
              <a:rPr lang="ko-KR">
                <a:solidFill>
                  <a:schemeClr val="dk1"/>
                </a:solidFill>
              </a:rPr>
              <a:t>이를 C++ 예외 처리로 대체하여 스택 언와인딩이 자동으로 이루어지도록 변경했습니다. </a:t>
            </a:r>
            <a:endParaRPr>
              <a:solidFill>
                <a:schemeClr val="dk1"/>
              </a:solidFill>
            </a:endParaRPr>
          </a:p>
          <a:p>
            <a:pPr indent="0" lvl="0" marL="0" rtl="0" algn="l">
              <a:lnSpc>
                <a:spcPct val="100000"/>
              </a:lnSpc>
              <a:spcBef>
                <a:spcPts val="0"/>
              </a:spcBef>
              <a:spcAft>
                <a:spcPts val="0"/>
              </a:spcAft>
              <a:buSzPts val="1100"/>
              <a:buNone/>
            </a:pPr>
            <a:r>
              <a:rPr lang="ko-KR">
                <a:solidFill>
                  <a:schemeClr val="dk1"/>
                </a:solidFill>
              </a:rPr>
              <a:t>결과적으로 재귀 호출 및 클로저 환경에서도 안전한 상태 관리가 가능해졌습니다. </a:t>
            </a:r>
            <a:endParaRPr/>
          </a:p>
        </p:txBody>
      </p:sp>
      <p:sp>
        <p:nvSpPr>
          <p:cNvPr id="851" name="Google Shape;851;g3ee94320d98_10_63:notes"/>
          <p:cNvSpPr/>
          <p:nvPr>
            <p:ph idx="2" type="sldImg"/>
          </p:nvPr>
        </p:nvSpPr>
        <p:spPr>
          <a:xfrm>
            <a:off x="1142630" y="685800"/>
            <a:ext cx="4573416"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1" name="Shape 881"/>
        <p:cNvGrpSpPr/>
        <p:nvPr/>
      </p:nvGrpSpPr>
      <p:grpSpPr>
        <a:xfrm>
          <a:off x="0" y="0"/>
          <a:ext cx="0" cy="0"/>
          <a:chOff x="0" y="0"/>
          <a:chExt cx="0" cy="0"/>
        </a:xfrm>
      </p:grpSpPr>
      <p:sp>
        <p:nvSpPr>
          <p:cNvPr id="882" name="Google Shape;882;g3ee94320d98_10_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ko-KR"/>
              <a:t>네 번째로 Constant Folding 최적화입니다.</a:t>
            </a:r>
            <a:endParaRPr/>
          </a:p>
          <a:p>
            <a:pPr indent="0" lvl="0" marL="0" rtl="0" algn="l">
              <a:lnSpc>
                <a:spcPct val="100000"/>
              </a:lnSpc>
              <a:spcBef>
                <a:spcPts val="0"/>
              </a:spcBef>
              <a:spcAft>
                <a:spcPts val="0"/>
              </a:spcAft>
              <a:buSzPts val="1100"/>
              <a:buNone/>
            </a:pPr>
            <a:r>
              <a:rPr lang="ko-KR"/>
              <a:t> ConstantFolder가 AST를 순회하며 상수 표현식을 컴파일 단계에서 미리 계산하여 LiteralExpr로 변환합니다.</a:t>
            </a:r>
            <a:endParaRPr/>
          </a:p>
          <a:p>
            <a:pPr indent="0" lvl="0" marL="0" rtl="0" algn="l">
              <a:lnSpc>
                <a:spcPct val="100000"/>
              </a:lnSpc>
              <a:spcBef>
                <a:spcPts val="0"/>
              </a:spcBef>
              <a:spcAft>
                <a:spcPts val="0"/>
              </a:spcAft>
              <a:buSzPts val="1100"/>
              <a:buNone/>
            </a:pPr>
            <a:r>
              <a:rPr lang="ko-KR"/>
              <a:t> 이를 통해 루프 내 반복되는 불필요한 연산을 제거하였습니다. </a:t>
            </a:r>
            <a:endParaRPr/>
          </a:p>
          <a:p>
            <a:pPr indent="0" lvl="0" marL="0" rtl="0" algn="l">
              <a:lnSpc>
                <a:spcPct val="100000"/>
              </a:lnSpc>
              <a:spcBef>
                <a:spcPts val="0"/>
              </a:spcBef>
              <a:spcAft>
                <a:spcPts val="0"/>
              </a:spcAft>
              <a:buSzPts val="1100"/>
              <a:buNone/>
            </a:pPr>
            <a:r>
              <a:rPr lang="ko-KR"/>
              <a:t>테스트 결과, 특정 연산 루프에서 50회의 이항 연산을 감소시키는 성과를 확인했습니다. </a:t>
            </a:r>
            <a:endParaRPr/>
          </a:p>
        </p:txBody>
      </p:sp>
      <p:sp>
        <p:nvSpPr>
          <p:cNvPr id="883" name="Google Shape;883;g3ee94320d98_10_94:notes"/>
          <p:cNvSpPr/>
          <p:nvPr>
            <p:ph idx="2" type="sldImg"/>
          </p:nvPr>
        </p:nvSpPr>
        <p:spPr>
          <a:xfrm>
            <a:off x="1142630" y="685800"/>
            <a:ext cx="4573416"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g3ee9487a86e_1_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15" name="Google Shape;915;g3ee9487a86e_1_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1" name="Shape 921"/>
        <p:cNvGrpSpPr/>
        <p:nvPr/>
      </p:nvGrpSpPr>
      <p:grpSpPr>
        <a:xfrm>
          <a:off x="0" y="0"/>
          <a:ext cx="0" cy="0"/>
          <a:chOff x="0" y="0"/>
          <a:chExt cx="0" cy="0"/>
        </a:xfrm>
      </p:grpSpPr>
      <p:sp>
        <p:nvSpPr>
          <p:cNvPr id="922" name="Google Shape;922;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ko-KR"/>
              <a:t>다음은 AI를 활용한 병렬 개발 전략입니다. </a:t>
            </a:r>
            <a:endParaRPr/>
          </a:p>
          <a:p>
            <a:pPr indent="0" lvl="0" marL="0" rtl="0" algn="l">
              <a:lnSpc>
                <a:spcPct val="100000"/>
              </a:lnSpc>
              <a:spcBef>
                <a:spcPts val="0"/>
              </a:spcBef>
              <a:spcAft>
                <a:spcPts val="0"/>
              </a:spcAft>
              <a:buSzPts val="1100"/>
              <a:buNone/>
            </a:pPr>
            <a:r>
              <a:rPr lang="ko-KR"/>
              <a:t>CLAUDE.md 기반의 컨벤션을 수립하여 4명의 팀원이 일관된 코드 스타일과 커밋 규격을 유지했습니다. </a:t>
            </a:r>
            <a:endParaRPr/>
          </a:p>
          <a:p>
            <a:pPr indent="0" lvl="0" marL="0" rtl="0" algn="l">
              <a:lnSpc>
                <a:spcPct val="100000"/>
              </a:lnSpc>
              <a:spcBef>
                <a:spcPts val="0"/>
              </a:spcBef>
              <a:spcAft>
                <a:spcPts val="0"/>
              </a:spcAft>
              <a:buSzPts val="1100"/>
              <a:buNone/>
            </a:pPr>
            <a:r>
              <a:rPr lang="ko-KR"/>
              <a:t>AI 어시스턴트를 통한 코드 리뷰로 디자인 패턴 적용의 적절성을 구조적으로 검증하고, </a:t>
            </a:r>
            <a:endParaRPr/>
          </a:p>
          <a:p>
            <a:pPr indent="0" lvl="0" marL="0" rtl="0" algn="l">
              <a:lnSpc>
                <a:spcPct val="100000"/>
              </a:lnSpc>
              <a:spcBef>
                <a:spcPts val="0"/>
              </a:spcBef>
              <a:spcAft>
                <a:spcPts val="0"/>
              </a:spcAft>
              <a:buSzPts val="1100"/>
              <a:buNone/>
            </a:pPr>
            <a:r>
              <a:rPr lang="ko-KR"/>
              <a:t>메모리 관리나 예외 처리 등 휴먼 에러를 사전에 차단하여 코드 품질을 상향 평준화했습니다. </a:t>
            </a:r>
            <a:endParaRPr/>
          </a:p>
        </p:txBody>
      </p:sp>
      <p:sp>
        <p:nvSpPr>
          <p:cNvPr id="923" name="Google Shape;923;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5" name="Shape 945"/>
        <p:cNvGrpSpPr/>
        <p:nvPr/>
      </p:nvGrpSpPr>
      <p:grpSpPr>
        <a:xfrm>
          <a:off x="0" y="0"/>
          <a:ext cx="0" cy="0"/>
          <a:chOff x="0" y="0"/>
          <a:chExt cx="0" cy="0"/>
        </a:xfrm>
      </p:grpSpPr>
      <p:sp>
        <p:nvSpPr>
          <p:cNvPr id="946" name="Google Shape;946;g3ee94320d98_11_2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47" name="Google Shape;947;g3ee94320d98_11_28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g3ee94320d98_11_4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ko-KR"/>
              <a:t>다음은 TDD(Test-Driven Development) 적용 사례입니다. </a:t>
            </a:r>
            <a:endParaRPr/>
          </a:p>
          <a:p>
            <a:pPr indent="0" lvl="0" marL="0" rtl="0" algn="l">
              <a:lnSpc>
                <a:spcPct val="100000"/>
              </a:lnSpc>
              <a:spcBef>
                <a:spcPts val="0"/>
              </a:spcBef>
              <a:spcAft>
                <a:spcPts val="0"/>
              </a:spcAft>
              <a:buSzPts val="1100"/>
              <a:buNone/>
            </a:pPr>
            <a:r>
              <a:rPr lang="ko-KR"/>
              <a:t>초기 기능 개발 시 복잡한 설계를 지양하고, RED-GREEN-REFACTOR 사이클을 준수했습니다. </a:t>
            </a:r>
            <a:endParaRPr/>
          </a:p>
          <a:p>
            <a:pPr indent="0" lvl="0" marL="0" rtl="0" algn="l">
              <a:lnSpc>
                <a:spcPct val="100000"/>
              </a:lnSpc>
              <a:spcBef>
                <a:spcPts val="0"/>
              </a:spcBef>
              <a:spcAft>
                <a:spcPts val="0"/>
              </a:spcAft>
              <a:buSzPts val="1100"/>
              <a:buNone/>
            </a:pPr>
            <a:r>
              <a:rPr lang="ko-KR"/>
              <a:t>테스트 코드를 통해 요구사항을 먼저 명세화하고, 점진적인 구현을 통해 빌드 안정성을 확보한 뒤 리팩토링을 수행하는 순서로 개발을 진행했습니다. </a:t>
            </a:r>
            <a:endParaRPr/>
          </a:p>
          <a:p>
            <a:pPr indent="0" lvl="0" marL="0" rtl="0" algn="l">
              <a:lnSpc>
                <a:spcPct val="100000"/>
              </a:lnSpc>
              <a:spcBef>
                <a:spcPts val="0"/>
              </a:spcBef>
              <a:spcAft>
                <a:spcPts val="0"/>
              </a:spcAft>
              <a:buSzPts val="1100"/>
              <a:buNone/>
            </a:pPr>
            <a:r>
              <a:rPr lang="ko-KR"/>
              <a:t>TDD 이제 지긋지긋합니다. </a:t>
            </a:r>
            <a:endParaRPr/>
          </a:p>
        </p:txBody>
      </p:sp>
      <p:sp>
        <p:nvSpPr>
          <p:cNvPr id="955" name="Google Shape;955;g3ee94320d98_11_4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7" name="Shape 967"/>
        <p:cNvGrpSpPr/>
        <p:nvPr/>
      </p:nvGrpSpPr>
      <p:grpSpPr>
        <a:xfrm>
          <a:off x="0" y="0"/>
          <a:ext cx="0" cy="0"/>
          <a:chOff x="0" y="0"/>
          <a:chExt cx="0" cy="0"/>
        </a:xfrm>
      </p:grpSpPr>
      <p:sp>
        <p:nvSpPr>
          <p:cNvPr id="968" name="Google Shape;968;g3ee94320d98_11_5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ko-KR"/>
              <a:t>TDD 사이클의 실제 사례입니다. TC를 선언.</a:t>
            </a:r>
            <a:endParaRPr/>
          </a:p>
        </p:txBody>
      </p:sp>
      <p:sp>
        <p:nvSpPr>
          <p:cNvPr id="969" name="Google Shape;969;g3ee94320d98_11_5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9" name="Shape 979"/>
        <p:cNvGrpSpPr/>
        <p:nvPr/>
      </p:nvGrpSpPr>
      <p:grpSpPr>
        <a:xfrm>
          <a:off x="0" y="0"/>
          <a:ext cx="0" cy="0"/>
          <a:chOff x="0" y="0"/>
          <a:chExt cx="0" cy="0"/>
        </a:xfrm>
      </p:grpSpPr>
      <p:sp>
        <p:nvSpPr>
          <p:cNvPr id="980" name="Google Shape;980;g3ee94320d98_11_5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ko-KR">
                <a:solidFill>
                  <a:schemeClr val="dk1"/>
                </a:solidFill>
              </a:rPr>
              <a:t> 초기 단계에서는 EOF 토큰 검증이라는 최소 요구사항을 TC로 정의하여 빌드 무결성을 확보했습니다.</a:t>
            </a:r>
            <a:endParaRPr/>
          </a:p>
        </p:txBody>
      </p:sp>
      <p:sp>
        <p:nvSpPr>
          <p:cNvPr id="981" name="Google Shape;981;g3ee94320d98_11_5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7" name="Shape 997"/>
        <p:cNvGrpSpPr/>
        <p:nvPr/>
      </p:nvGrpSpPr>
      <p:grpSpPr>
        <a:xfrm>
          <a:off x="0" y="0"/>
          <a:ext cx="0" cy="0"/>
          <a:chOff x="0" y="0"/>
          <a:chExt cx="0" cy="0"/>
        </a:xfrm>
      </p:grpSpPr>
      <p:sp>
        <p:nvSpPr>
          <p:cNvPr id="998" name="Google Shape;998;g3ee94320d98_11_79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ko-KR"/>
              <a:t>이후 괄호 '(' 인식 기능을 추가할 때도 기존 로직을 파괴하지 않는 최소한의 분기만을 적용하며, 성급한 과설계를 방지하고 항상 성공하는 빌드 상태를 유지했습니다. </a:t>
            </a:r>
            <a:endParaRPr/>
          </a:p>
        </p:txBody>
      </p:sp>
      <p:sp>
        <p:nvSpPr>
          <p:cNvPr id="999" name="Google Shape;999;g3ee94320d98_11_79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9" name="Shape 1009"/>
        <p:cNvGrpSpPr/>
        <p:nvPr/>
      </p:nvGrpSpPr>
      <p:grpSpPr>
        <a:xfrm>
          <a:off x="0" y="0"/>
          <a:ext cx="0" cy="0"/>
          <a:chOff x="0" y="0"/>
          <a:chExt cx="0" cy="0"/>
        </a:xfrm>
      </p:grpSpPr>
      <p:sp>
        <p:nvSpPr>
          <p:cNvPr id="1010" name="Google Shape;1010;g3ee94320d98_11_5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11" name="Google Shape;1011;g3ee94320d98_11_54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7" name="Shape 1027"/>
        <p:cNvGrpSpPr/>
        <p:nvPr/>
      </p:nvGrpSpPr>
      <p:grpSpPr>
        <a:xfrm>
          <a:off x="0" y="0"/>
          <a:ext cx="0" cy="0"/>
          <a:chOff x="0" y="0"/>
          <a:chExt cx="0" cy="0"/>
        </a:xfrm>
      </p:grpSpPr>
      <p:sp>
        <p:nvSpPr>
          <p:cNvPr id="1028" name="Google Shape;1028;g3ee94320d98_11_5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ko-KR"/>
              <a:t>리팩토링 진행</a:t>
            </a:r>
            <a:endParaRPr/>
          </a:p>
        </p:txBody>
      </p:sp>
      <p:sp>
        <p:nvSpPr>
          <p:cNvPr id="1029" name="Google Shape;1029;g3ee94320d98_11_55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5" name="Shape 1045"/>
        <p:cNvGrpSpPr/>
        <p:nvPr/>
      </p:nvGrpSpPr>
      <p:grpSpPr>
        <a:xfrm>
          <a:off x="0" y="0"/>
          <a:ext cx="0" cy="0"/>
          <a:chOff x="0" y="0"/>
          <a:chExt cx="0" cy="0"/>
        </a:xfrm>
      </p:grpSpPr>
      <p:sp>
        <p:nvSpPr>
          <p:cNvPr id="1046" name="Google Shape;1046;g3ee94320d98_11_5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47" name="Google Shape;1047;g3ee94320d98_11_57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7" name="Shape 1067"/>
        <p:cNvGrpSpPr/>
        <p:nvPr/>
      </p:nvGrpSpPr>
      <p:grpSpPr>
        <a:xfrm>
          <a:off x="0" y="0"/>
          <a:ext cx="0" cy="0"/>
          <a:chOff x="0" y="0"/>
          <a:chExt cx="0" cy="0"/>
        </a:xfrm>
      </p:grpSpPr>
      <p:sp>
        <p:nvSpPr>
          <p:cNvPr id="1068" name="Google Shape;1068;g3ee94320d98_11_5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69" name="Google Shape;1069;g3ee94320d98_11_58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8" name="Shape 1088"/>
        <p:cNvGrpSpPr/>
        <p:nvPr/>
      </p:nvGrpSpPr>
      <p:grpSpPr>
        <a:xfrm>
          <a:off x="0" y="0"/>
          <a:ext cx="0" cy="0"/>
          <a:chOff x="0" y="0"/>
          <a:chExt cx="0" cy="0"/>
        </a:xfrm>
      </p:grpSpPr>
      <p:sp>
        <p:nvSpPr>
          <p:cNvPr id="1089" name="Google Shape;1089;g3ee94320d98_11_2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90" name="Google Shape;1090;g3ee94320d98_11_28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5" name="Shape 1105"/>
        <p:cNvGrpSpPr/>
        <p:nvPr/>
      </p:nvGrpSpPr>
      <p:grpSpPr>
        <a:xfrm>
          <a:off x="0" y="0"/>
          <a:ext cx="0" cy="0"/>
          <a:chOff x="0" y="0"/>
          <a:chExt cx="0" cy="0"/>
        </a:xfrm>
      </p:grpSpPr>
      <p:sp>
        <p:nvSpPr>
          <p:cNvPr id="1106" name="Google Shape;1106;g3ee94320d98_11_3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07" name="Google Shape;1107;g3ee94320d98_11_3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3" name="Shape 1123"/>
        <p:cNvGrpSpPr/>
        <p:nvPr/>
      </p:nvGrpSpPr>
      <p:grpSpPr>
        <a:xfrm>
          <a:off x="0" y="0"/>
          <a:ext cx="0" cy="0"/>
          <a:chOff x="0" y="0"/>
          <a:chExt cx="0" cy="0"/>
        </a:xfrm>
      </p:grpSpPr>
      <p:sp>
        <p:nvSpPr>
          <p:cNvPr id="1124" name="Google Shape;1124;g3ee9487a86e_0_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25" name="Google Shape;1125;g3ee9487a86e_0_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1" name="Shape 1131"/>
        <p:cNvGrpSpPr/>
        <p:nvPr/>
      </p:nvGrpSpPr>
      <p:grpSpPr>
        <a:xfrm>
          <a:off x="0" y="0"/>
          <a:ext cx="0" cy="0"/>
          <a:chOff x="0" y="0"/>
          <a:chExt cx="0" cy="0"/>
        </a:xfrm>
      </p:grpSpPr>
      <p:sp>
        <p:nvSpPr>
          <p:cNvPr id="1132" name="Google Shape;1132;g3ee9487a86e_0_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ko-KR"/>
              <a:t>스코프 가드를 활용한 메모리 LEAK 방지 기법에 대해서, 리뷰를 하고 적용한 사례.</a:t>
            </a:r>
            <a:endParaRPr/>
          </a:p>
        </p:txBody>
      </p:sp>
      <p:sp>
        <p:nvSpPr>
          <p:cNvPr id="1133" name="Google Shape;1133;g3ee9487a86e_0_32:notes"/>
          <p:cNvSpPr/>
          <p:nvPr>
            <p:ph idx="2" type="sldImg"/>
          </p:nvPr>
        </p:nvSpPr>
        <p:spPr>
          <a:xfrm>
            <a:off x="1142630" y="685800"/>
            <a:ext cx="45735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2" name="Shape 1182"/>
        <p:cNvGrpSpPr/>
        <p:nvPr/>
      </p:nvGrpSpPr>
      <p:grpSpPr>
        <a:xfrm>
          <a:off x="0" y="0"/>
          <a:ext cx="0" cy="0"/>
          <a:chOff x="0" y="0"/>
          <a:chExt cx="0" cy="0"/>
        </a:xfrm>
      </p:grpSpPr>
      <p:sp>
        <p:nvSpPr>
          <p:cNvPr id="1183" name="Google Shape;1183;g3ee9487a86e_0_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ko-KR"/>
              <a:t>삼항 연산자를 Guard Clause 방식으로 구현하여 가독성을 올린 case 입니다.</a:t>
            </a:r>
            <a:endParaRPr/>
          </a:p>
        </p:txBody>
      </p:sp>
      <p:sp>
        <p:nvSpPr>
          <p:cNvPr id="1184" name="Google Shape;1184;g3ee9487a86e_0_82:notes"/>
          <p:cNvSpPr/>
          <p:nvPr>
            <p:ph idx="2" type="sldImg"/>
          </p:nvPr>
        </p:nvSpPr>
        <p:spPr>
          <a:xfrm>
            <a:off x="1142630" y="685800"/>
            <a:ext cx="45735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3" name="Shape 1233"/>
        <p:cNvGrpSpPr/>
        <p:nvPr/>
      </p:nvGrpSpPr>
      <p:grpSpPr>
        <a:xfrm>
          <a:off x="0" y="0"/>
          <a:ext cx="0" cy="0"/>
          <a:chOff x="0" y="0"/>
          <a:chExt cx="0" cy="0"/>
        </a:xfrm>
      </p:grpSpPr>
      <p:sp>
        <p:nvSpPr>
          <p:cNvPr id="1234" name="Google Shape;1234;g3ee94320d98_11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35" name="Google Shape;1235;g3ee94320d98_11_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g3ee9487a86e_1_129"/>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g3ee9487a86e_1_129"/>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g3ee9487a86e_1_129"/>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g3ee9487a86e_1_133"/>
          <p:cNvSpPr txBox="1"/>
          <p:nvPr>
            <p:ph type="ctrTitle"/>
          </p:nvPr>
        </p:nvSpPr>
        <p:spPr>
          <a:xfrm>
            <a:off x="685800" y="2130425"/>
            <a:ext cx="7772400" cy="1470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g3ee9487a86e_1_13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g3ee9487a86e_1_133"/>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g3ee9487a86e_1_133"/>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g3ee9487a86e_1_133"/>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g3ee9487a86e_1_13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g3ee9487a86e_1_139"/>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g3ee9487a86e_1_139"/>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g3ee9487a86e_1_139"/>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g3ee9487a86e_1_139"/>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g3ee9487a86e_1_145"/>
          <p:cNvSpPr txBox="1"/>
          <p:nvPr>
            <p:ph type="title"/>
          </p:nvPr>
        </p:nvSpPr>
        <p:spPr>
          <a:xfrm>
            <a:off x="722313" y="4406900"/>
            <a:ext cx="7772400" cy="136200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g3ee9487a86e_1_145"/>
          <p:cNvSpPr txBox="1"/>
          <p:nvPr>
            <p:ph idx="1" type="body"/>
          </p:nvPr>
        </p:nvSpPr>
        <p:spPr>
          <a:xfrm>
            <a:off x="722313" y="2906713"/>
            <a:ext cx="7772400" cy="15003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g3ee9487a86e_1_145"/>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g3ee9487a86e_1_145"/>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g3ee9487a86e_1_145"/>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g3ee9487a86e_1_15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g3ee9487a86e_1_151"/>
          <p:cNvSpPr txBox="1"/>
          <p:nvPr>
            <p:ph idx="1" type="body"/>
          </p:nvPr>
        </p:nvSpPr>
        <p:spPr>
          <a:xfrm>
            <a:off x="457200" y="1600200"/>
            <a:ext cx="4038600" cy="4526100"/>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g3ee9487a86e_1_151"/>
          <p:cNvSpPr txBox="1"/>
          <p:nvPr>
            <p:ph idx="2" type="body"/>
          </p:nvPr>
        </p:nvSpPr>
        <p:spPr>
          <a:xfrm>
            <a:off x="4648200" y="1600200"/>
            <a:ext cx="4038600" cy="4526100"/>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g3ee9487a86e_1_151"/>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g3ee9487a86e_1_151"/>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g3ee9487a86e_1_151"/>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g3ee9487a86e_1_15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g3ee9487a86e_1_158"/>
          <p:cNvSpPr txBox="1"/>
          <p:nvPr>
            <p:ph idx="1" type="body"/>
          </p:nvPr>
        </p:nvSpPr>
        <p:spPr>
          <a:xfrm>
            <a:off x="457200" y="1535113"/>
            <a:ext cx="4040100" cy="6399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g3ee9487a86e_1_158"/>
          <p:cNvSpPr txBox="1"/>
          <p:nvPr>
            <p:ph idx="2" type="body"/>
          </p:nvPr>
        </p:nvSpPr>
        <p:spPr>
          <a:xfrm>
            <a:off x="457200" y="2174875"/>
            <a:ext cx="4040100" cy="39513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g3ee9487a86e_1_158"/>
          <p:cNvSpPr txBox="1"/>
          <p:nvPr>
            <p:ph idx="3" type="body"/>
          </p:nvPr>
        </p:nvSpPr>
        <p:spPr>
          <a:xfrm>
            <a:off x="4645025" y="1535113"/>
            <a:ext cx="4041900" cy="6399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g3ee9487a86e_1_158"/>
          <p:cNvSpPr txBox="1"/>
          <p:nvPr>
            <p:ph idx="4" type="body"/>
          </p:nvPr>
        </p:nvSpPr>
        <p:spPr>
          <a:xfrm>
            <a:off x="4645025" y="2174875"/>
            <a:ext cx="4041900" cy="39513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g3ee9487a86e_1_158"/>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g3ee9487a86e_1_158"/>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g3ee9487a86e_1_158"/>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g3ee9487a86e_1_16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g3ee9487a86e_1_167"/>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g3ee9487a86e_1_167"/>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g3ee9487a86e_1_167"/>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g3ee9487a86e_1_172"/>
          <p:cNvSpPr txBox="1"/>
          <p:nvPr>
            <p:ph type="title"/>
          </p:nvPr>
        </p:nvSpPr>
        <p:spPr>
          <a:xfrm>
            <a:off x="457200" y="273050"/>
            <a:ext cx="3008400" cy="11622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g3ee9487a86e_1_172"/>
          <p:cNvSpPr txBox="1"/>
          <p:nvPr>
            <p:ph idx="1" type="body"/>
          </p:nvPr>
        </p:nvSpPr>
        <p:spPr>
          <a:xfrm>
            <a:off x="3575050" y="273050"/>
            <a:ext cx="5111700" cy="5853000"/>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g3ee9487a86e_1_172"/>
          <p:cNvSpPr txBox="1"/>
          <p:nvPr>
            <p:ph idx="2" type="body"/>
          </p:nvPr>
        </p:nvSpPr>
        <p:spPr>
          <a:xfrm>
            <a:off x="457200" y="1435100"/>
            <a:ext cx="3008400" cy="4691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g3ee9487a86e_1_172"/>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g3ee9487a86e_1_172"/>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g3ee9487a86e_1_172"/>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g3ee9487a86e_1_179"/>
          <p:cNvSpPr txBox="1"/>
          <p:nvPr>
            <p:ph type="title"/>
          </p:nvPr>
        </p:nvSpPr>
        <p:spPr>
          <a:xfrm>
            <a:off x="1792288" y="4800600"/>
            <a:ext cx="5486400" cy="5667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g3ee9487a86e_1_179"/>
          <p:cNvSpPr/>
          <p:nvPr>
            <p:ph idx="2" type="pic"/>
          </p:nvPr>
        </p:nvSpPr>
        <p:spPr>
          <a:xfrm>
            <a:off x="1792288" y="612775"/>
            <a:ext cx="5486400" cy="4114800"/>
          </a:xfrm>
          <a:prstGeom prst="rect">
            <a:avLst/>
          </a:prstGeom>
          <a:noFill/>
          <a:ln>
            <a:noFill/>
          </a:ln>
        </p:spPr>
      </p:sp>
      <p:sp>
        <p:nvSpPr>
          <p:cNvPr id="64" name="Google Shape;64;g3ee9487a86e_1_179"/>
          <p:cNvSpPr txBox="1"/>
          <p:nvPr>
            <p:ph idx="1" type="body"/>
          </p:nvPr>
        </p:nvSpPr>
        <p:spPr>
          <a:xfrm>
            <a:off x="1792288" y="5367338"/>
            <a:ext cx="5486400" cy="8049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g3ee9487a86e_1_179"/>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g3ee9487a86e_1_179"/>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g3ee9487a86e_1_179"/>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g3ee9487a86e_1_18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g3ee9487a86e_1_186"/>
          <p:cNvSpPr txBox="1"/>
          <p:nvPr>
            <p:ph idx="1" type="body"/>
          </p:nvPr>
        </p:nvSpPr>
        <p:spPr>
          <a:xfrm rot="5400000">
            <a:off x="2308950" y="-251550"/>
            <a:ext cx="4526100"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g3ee9487a86e_1_186"/>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g3ee9487a86e_1_186"/>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g3ee9487a86e_1_186"/>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g3ee9487a86e_1_192"/>
          <p:cNvSpPr txBox="1"/>
          <p:nvPr>
            <p:ph type="title"/>
          </p:nvPr>
        </p:nvSpPr>
        <p:spPr>
          <a:xfrm rot="5400000">
            <a:off x="4732350" y="2171688"/>
            <a:ext cx="5851500"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g3ee9487a86e_1_192"/>
          <p:cNvSpPr txBox="1"/>
          <p:nvPr>
            <p:ph idx="1" type="body"/>
          </p:nvPr>
        </p:nvSpPr>
        <p:spPr>
          <a:xfrm rot="5400000">
            <a:off x="541350" y="190488"/>
            <a:ext cx="5851500"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g3ee9487a86e_1_192"/>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g3ee9487a86e_1_192"/>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g3ee9487a86e_1_192"/>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6" name="Shape 86"/>
        <p:cNvGrpSpPr/>
        <p:nvPr/>
      </p:nvGrpSpPr>
      <p:grpSpPr>
        <a:xfrm>
          <a:off x="0" y="0"/>
          <a:ext cx="0" cy="0"/>
          <a:chOff x="0" y="0"/>
          <a:chExt cx="0" cy="0"/>
        </a:xfrm>
      </p:grpSpPr>
      <p:sp>
        <p:nvSpPr>
          <p:cNvPr id="87" name="Google Shape;87;g3ee9487a86e_4_6"/>
          <p:cNvSpPr txBox="1"/>
          <p:nvPr>
            <p:ph idx="10" type="dt"/>
          </p:nvPr>
        </p:nvSpPr>
        <p:spPr>
          <a:xfrm>
            <a:off x="457314" y="6356350"/>
            <a:ext cx="213413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g3ee9487a86e_4_6"/>
          <p:cNvSpPr txBox="1"/>
          <p:nvPr>
            <p:ph idx="11" type="ftr"/>
          </p:nvPr>
        </p:nvSpPr>
        <p:spPr>
          <a:xfrm>
            <a:off x="3124982" y="6356350"/>
            <a:ext cx="2896325"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g3ee9487a86e_4_6"/>
          <p:cNvSpPr txBox="1"/>
          <p:nvPr>
            <p:ph idx="12" type="sldNum"/>
          </p:nvPr>
        </p:nvSpPr>
        <p:spPr>
          <a:xfrm>
            <a:off x="6554840" y="6356350"/>
            <a:ext cx="2134134"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0" name="Shape 90"/>
        <p:cNvGrpSpPr/>
        <p:nvPr/>
      </p:nvGrpSpPr>
      <p:grpSpPr>
        <a:xfrm>
          <a:off x="0" y="0"/>
          <a:ext cx="0" cy="0"/>
          <a:chOff x="0" y="0"/>
          <a:chExt cx="0" cy="0"/>
        </a:xfrm>
      </p:grpSpPr>
      <p:sp>
        <p:nvSpPr>
          <p:cNvPr id="91" name="Google Shape;91;g3ee9487a86e_4_10"/>
          <p:cNvSpPr txBox="1"/>
          <p:nvPr>
            <p:ph type="ctrTitle"/>
          </p:nvPr>
        </p:nvSpPr>
        <p:spPr>
          <a:xfrm>
            <a:off x="685972" y="2130425"/>
            <a:ext cx="7774345"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g3ee9487a86e_4_10"/>
          <p:cNvSpPr txBox="1"/>
          <p:nvPr>
            <p:ph idx="1" type="subTitle"/>
          </p:nvPr>
        </p:nvSpPr>
        <p:spPr>
          <a:xfrm>
            <a:off x="1371943" y="3886200"/>
            <a:ext cx="6402402"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93" name="Google Shape;93;g3ee9487a86e_4_10"/>
          <p:cNvSpPr txBox="1"/>
          <p:nvPr>
            <p:ph idx="10" type="dt"/>
          </p:nvPr>
        </p:nvSpPr>
        <p:spPr>
          <a:xfrm>
            <a:off x="457314" y="6356350"/>
            <a:ext cx="213413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g3ee9487a86e_4_10"/>
          <p:cNvSpPr txBox="1"/>
          <p:nvPr>
            <p:ph idx="11" type="ftr"/>
          </p:nvPr>
        </p:nvSpPr>
        <p:spPr>
          <a:xfrm>
            <a:off x="3124982" y="6356350"/>
            <a:ext cx="2896325"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g3ee9487a86e_4_10"/>
          <p:cNvSpPr txBox="1"/>
          <p:nvPr>
            <p:ph idx="12" type="sldNum"/>
          </p:nvPr>
        </p:nvSpPr>
        <p:spPr>
          <a:xfrm>
            <a:off x="6554840" y="6356350"/>
            <a:ext cx="2134134"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6" name="Shape 96"/>
        <p:cNvGrpSpPr/>
        <p:nvPr/>
      </p:nvGrpSpPr>
      <p:grpSpPr>
        <a:xfrm>
          <a:off x="0" y="0"/>
          <a:ext cx="0" cy="0"/>
          <a:chOff x="0" y="0"/>
          <a:chExt cx="0" cy="0"/>
        </a:xfrm>
      </p:grpSpPr>
      <p:sp>
        <p:nvSpPr>
          <p:cNvPr id="97" name="Google Shape;97;g3ee9487a86e_4_16"/>
          <p:cNvSpPr txBox="1"/>
          <p:nvPr>
            <p:ph type="title"/>
          </p:nvPr>
        </p:nvSpPr>
        <p:spPr>
          <a:xfrm>
            <a:off x="457314" y="274638"/>
            <a:ext cx="8231659"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g3ee9487a86e_4_16"/>
          <p:cNvSpPr txBox="1"/>
          <p:nvPr>
            <p:ph idx="1" type="body"/>
          </p:nvPr>
        </p:nvSpPr>
        <p:spPr>
          <a:xfrm>
            <a:off x="457314" y="1600200"/>
            <a:ext cx="8231659"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99" name="Google Shape;99;g3ee9487a86e_4_16"/>
          <p:cNvSpPr txBox="1"/>
          <p:nvPr>
            <p:ph idx="10" type="dt"/>
          </p:nvPr>
        </p:nvSpPr>
        <p:spPr>
          <a:xfrm>
            <a:off x="457314" y="6356350"/>
            <a:ext cx="213413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g3ee9487a86e_4_16"/>
          <p:cNvSpPr txBox="1"/>
          <p:nvPr>
            <p:ph idx="11" type="ftr"/>
          </p:nvPr>
        </p:nvSpPr>
        <p:spPr>
          <a:xfrm>
            <a:off x="3124982" y="6356350"/>
            <a:ext cx="2896325"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Google Shape;101;g3ee9487a86e_4_16"/>
          <p:cNvSpPr txBox="1"/>
          <p:nvPr>
            <p:ph idx="12" type="sldNum"/>
          </p:nvPr>
        </p:nvSpPr>
        <p:spPr>
          <a:xfrm>
            <a:off x="6554840" y="6356350"/>
            <a:ext cx="2134134"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2" name="Shape 102"/>
        <p:cNvGrpSpPr/>
        <p:nvPr/>
      </p:nvGrpSpPr>
      <p:grpSpPr>
        <a:xfrm>
          <a:off x="0" y="0"/>
          <a:ext cx="0" cy="0"/>
          <a:chOff x="0" y="0"/>
          <a:chExt cx="0" cy="0"/>
        </a:xfrm>
      </p:grpSpPr>
      <p:sp>
        <p:nvSpPr>
          <p:cNvPr id="103" name="Google Shape;103;g3ee9487a86e_4_22"/>
          <p:cNvSpPr txBox="1"/>
          <p:nvPr>
            <p:ph type="title"/>
          </p:nvPr>
        </p:nvSpPr>
        <p:spPr>
          <a:xfrm>
            <a:off x="722494" y="4406900"/>
            <a:ext cx="7774345"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4" name="Google Shape;104;g3ee9487a86e_4_22"/>
          <p:cNvSpPr txBox="1"/>
          <p:nvPr>
            <p:ph idx="1" type="body"/>
          </p:nvPr>
        </p:nvSpPr>
        <p:spPr>
          <a:xfrm>
            <a:off x="722494" y="2906713"/>
            <a:ext cx="7774345"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105" name="Google Shape;105;g3ee9487a86e_4_22"/>
          <p:cNvSpPr txBox="1"/>
          <p:nvPr>
            <p:ph idx="10" type="dt"/>
          </p:nvPr>
        </p:nvSpPr>
        <p:spPr>
          <a:xfrm>
            <a:off x="457314" y="6356350"/>
            <a:ext cx="213413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 name="Google Shape;106;g3ee9487a86e_4_22"/>
          <p:cNvSpPr txBox="1"/>
          <p:nvPr>
            <p:ph idx="11" type="ftr"/>
          </p:nvPr>
        </p:nvSpPr>
        <p:spPr>
          <a:xfrm>
            <a:off x="3124982" y="6356350"/>
            <a:ext cx="2896325"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7" name="Google Shape;107;g3ee9487a86e_4_22"/>
          <p:cNvSpPr txBox="1"/>
          <p:nvPr>
            <p:ph idx="12" type="sldNum"/>
          </p:nvPr>
        </p:nvSpPr>
        <p:spPr>
          <a:xfrm>
            <a:off x="6554840" y="6356350"/>
            <a:ext cx="2134134"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08" name="Shape 108"/>
        <p:cNvGrpSpPr/>
        <p:nvPr/>
      </p:nvGrpSpPr>
      <p:grpSpPr>
        <a:xfrm>
          <a:off x="0" y="0"/>
          <a:ext cx="0" cy="0"/>
          <a:chOff x="0" y="0"/>
          <a:chExt cx="0" cy="0"/>
        </a:xfrm>
      </p:grpSpPr>
      <p:sp>
        <p:nvSpPr>
          <p:cNvPr id="109" name="Google Shape;109;g3ee9487a86e_4_28"/>
          <p:cNvSpPr txBox="1"/>
          <p:nvPr>
            <p:ph type="title"/>
          </p:nvPr>
        </p:nvSpPr>
        <p:spPr>
          <a:xfrm>
            <a:off x="457314" y="274638"/>
            <a:ext cx="8231659"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 name="Google Shape;110;g3ee9487a86e_4_28"/>
          <p:cNvSpPr txBox="1"/>
          <p:nvPr>
            <p:ph idx="1" type="body"/>
          </p:nvPr>
        </p:nvSpPr>
        <p:spPr>
          <a:xfrm>
            <a:off x="457314" y="1600200"/>
            <a:ext cx="4039611"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111" name="Google Shape;111;g3ee9487a86e_4_28"/>
          <p:cNvSpPr txBox="1"/>
          <p:nvPr>
            <p:ph idx="2" type="body"/>
          </p:nvPr>
        </p:nvSpPr>
        <p:spPr>
          <a:xfrm>
            <a:off x="4649363" y="1600200"/>
            <a:ext cx="4039611"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112" name="Google Shape;112;g3ee9487a86e_4_28"/>
          <p:cNvSpPr txBox="1"/>
          <p:nvPr>
            <p:ph idx="10" type="dt"/>
          </p:nvPr>
        </p:nvSpPr>
        <p:spPr>
          <a:xfrm>
            <a:off x="457314" y="6356350"/>
            <a:ext cx="213413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3" name="Google Shape;113;g3ee9487a86e_4_28"/>
          <p:cNvSpPr txBox="1"/>
          <p:nvPr>
            <p:ph idx="11" type="ftr"/>
          </p:nvPr>
        </p:nvSpPr>
        <p:spPr>
          <a:xfrm>
            <a:off x="3124982" y="6356350"/>
            <a:ext cx="2896325"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4" name="Google Shape;114;g3ee9487a86e_4_28"/>
          <p:cNvSpPr txBox="1"/>
          <p:nvPr>
            <p:ph idx="12" type="sldNum"/>
          </p:nvPr>
        </p:nvSpPr>
        <p:spPr>
          <a:xfrm>
            <a:off x="6554840" y="6356350"/>
            <a:ext cx="2134134"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15" name="Shape 115"/>
        <p:cNvGrpSpPr/>
        <p:nvPr/>
      </p:nvGrpSpPr>
      <p:grpSpPr>
        <a:xfrm>
          <a:off x="0" y="0"/>
          <a:ext cx="0" cy="0"/>
          <a:chOff x="0" y="0"/>
          <a:chExt cx="0" cy="0"/>
        </a:xfrm>
      </p:grpSpPr>
      <p:sp>
        <p:nvSpPr>
          <p:cNvPr id="116" name="Google Shape;116;g3ee9487a86e_4_35"/>
          <p:cNvSpPr txBox="1"/>
          <p:nvPr>
            <p:ph type="title"/>
          </p:nvPr>
        </p:nvSpPr>
        <p:spPr>
          <a:xfrm>
            <a:off x="457314" y="274638"/>
            <a:ext cx="8231659"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 name="Google Shape;117;g3ee9487a86e_4_35"/>
          <p:cNvSpPr txBox="1"/>
          <p:nvPr>
            <p:ph idx="1" type="body"/>
          </p:nvPr>
        </p:nvSpPr>
        <p:spPr>
          <a:xfrm>
            <a:off x="457314" y="1535113"/>
            <a:ext cx="4041199"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118" name="Google Shape;118;g3ee9487a86e_4_35"/>
          <p:cNvSpPr txBox="1"/>
          <p:nvPr>
            <p:ph idx="2" type="body"/>
          </p:nvPr>
        </p:nvSpPr>
        <p:spPr>
          <a:xfrm>
            <a:off x="457314" y="2174875"/>
            <a:ext cx="4041199"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119" name="Google Shape;119;g3ee9487a86e_4_35"/>
          <p:cNvSpPr txBox="1"/>
          <p:nvPr>
            <p:ph idx="3" type="body"/>
          </p:nvPr>
        </p:nvSpPr>
        <p:spPr>
          <a:xfrm>
            <a:off x="4646187" y="1535113"/>
            <a:ext cx="4042786"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120" name="Google Shape;120;g3ee9487a86e_4_35"/>
          <p:cNvSpPr txBox="1"/>
          <p:nvPr>
            <p:ph idx="4" type="body"/>
          </p:nvPr>
        </p:nvSpPr>
        <p:spPr>
          <a:xfrm>
            <a:off x="4646187" y="2174875"/>
            <a:ext cx="4042786"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121" name="Google Shape;121;g3ee9487a86e_4_35"/>
          <p:cNvSpPr txBox="1"/>
          <p:nvPr>
            <p:ph idx="10" type="dt"/>
          </p:nvPr>
        </p:nvSpPr>
        <p:spPr>
          <a:xfrm>
            <a:off x="457314" y="6356350"/>
            <a:ext cx="213413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2" name="Google Shape;122;g3ee9487a86e_4_35"/>
          <p:cNvSpPr txBox="1"/>
          <p:nvPr>
            <p:ph idx="11" type="ftr"/>
          </p:nvPr>
        </p:nvSpPr>
        <p:spPr>
          <a:xfrm>
            <a:off x="3124982" y="6356350"/>
            <a:ext cx="2896325"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3" name="Google Shape;123;g3ee9487a86e_4_35"/>
          <p:cNvSpPr txBox="1"/>
          <p:nvPr>
            <p:ph idx="12" type="sldNum"/>
          </p:nvPr>
        </p:nvSpPr>
        <p:spPr>
          <a:xfrm>
            <a:off x="6554840" y="6356350"/>
            <a:ext cx="2134134"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4" name="Shape 124"/>
        <p:cNvGrpSpPr/>
        <p:nvPr/>
      </p:nvGrpSpPr>
      <p:grpSpPr>
        <a:xfrm>
          <a:off x="0" y="0"/>
          <a:ext cx="0" cy="0"/>
          <a:chOff x="0" y="0"/>
          <a:chExt cx="0" cy="0"/>
        </a:xfrm>
      </p:grpSpPr>
      <p:sp>
        <p:nvSpPr>
          <p:cNvPr id="125" name="Google Shape;125;g3ee9487a86e_4_44"/>
          <p:cNvSpPr txBox="1"/>
          <p:nvPr>
            <p:ph type="title"/>
          </p:nvPr>
        </p:nvSpPr>
        <p:spPr>
          <a:xfrm>
            <a:off x="457314" y="274638"/>
            <a:ext cx="8231659"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6" name="Google Shape;126;g3ee9487a86e_4_44"/>
          <p:cNvSpPr txBox="1"/>
          <p:nvPr>
            <p:ph idx="10" type="dt"/>
          </p:nvPr>
        </p:nvSpPr>
        <p:spPr>
          <a:xfrm>
            <a:off x="457314" y="6356350"/>
            <a:ext cx="213413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7" name="Google Shape;127;g3ee9487a86e_4_44"/>
          <p:cNvSpPr txBox="1"/>
          <p:nvPr>
            <p:ph idx="11" type="ftr"/>
          </p:nvPr>
        </p:nvSpPr>
        <p:spPr>
          <a:xfrm>
            <a:off x="3124982" y="6356350"/>
            <a:ext cx="2896325"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8" name="Google Shape;128;g3ee9487a86e_4_44"/>
          <p:cNvSpPr txBox="1"/>
          <p:nvPr>
            <p:ph idx="12" type="sldNum"/>
          </p:nvPr>
        </p:nvSpPr>
        <p:spPr>
          <a:xfrm>
            <a:off x="6554840" y="6356350"/>
            <a:ext cx="2134134"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29" name="Shape 129"/>
        <p:cNvGrpSpPr/>
        <p:nvPr/>
      </p:nvGrpSpPr>
      <p:grpSpPr>
        <a:xfrm>
          <a:off x="0" y="0"/>
          <a:ext cx="0" cy="0"/>
          <a:chOff x="0" y="0"/>
          <a:chExt cx="0" cy="0"/>
        </a:xfrm>
      </p:grpSpPr>
      <p:sp>
        <p:nvSpPr>
          <p:cNvPr id="130" name="Google Shape;130;g3ee9487a86e_4_49"/>
          <p:cNvSpPr txBox="1"/>
          <p:nvPr>
            <p:ph type="title"/>
          </p:nvPr>
        </p:nvSpPr>
        <p:spPr>
          <a:xfrm>
            <a:off x="457314" y="273050"/>
            <a:ext cx="3009066"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1" name="Google Shape;131;g3ee9487a86e_4_49"/>
          <p:cNvSpPr txBox="1"/>
          <p:nvPr>
            <p:ph idx="1" type="body"/>
          </p:nvPr>
        </p:nvSpPr>
        <p:spPr>
          <a:xfrm>
            <a:off x="3575945" y="273050"/>
            <a:ext cx="5113029"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132" name="Google Shape;132;g3ee9487a86e_4_49"/>
          <p:cNvSpPr txBox="1"/>
          <p:nvPr>
            <p:ph idx="2" type="body"/>
          </p:nvPr>
        </p:nvSpPr>
        <p:spPr>
          <a:xfrm>
            <a:off x="457314" y="1435100"/>
            <a:ext cx="3009066"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133" name="Google Shape;133;g3ee9487a86e_4_49"/>
          <p:cNvSpPr txBox="1"/>
          <p:nvPr>
            <p:ph idx="10" type="dt"/>
          </p:nvPr>
        </p:nvSpPr>
        <p:spPr>
          <a:xfrm>
            <a:off x="457314" y="6356350"/>
            <a:ext cx="213413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4" name="Google Shape;134;g3ee9487a86e_4_49"/>
          <p:cNvSpPr txBox="1"/>
          <p:nvPr>
            <p:ph idx="11" type="ftr"/>
          </p:nvPr>
        </p:nvSpPr>
        <p:spPr>
          <a:xfrm>
            <a:off x="3124982" y="6356350"/>
            <a:ext cx="2896325"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5" name="Google Shape;135;g3ee9487a86e_4_49"/>
          <p:cNvSpPr txBox="1"/>
          <p:nvPr>
            <p:ph idx="12" type="sldNum"/>
          </p:nvPr>
        </p:nvSpPr>
        <p:spPr>
          <a:xfrm>
            <a:off x="6554840" y="6356350"/>
            <a:ext cx="2134134"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36" name="Shape 136"/>
        <p:cNvGrpSpPr/>
        <p:nvPr/>
      </p:nvGrpSpPr>
      <p:grpSpPr>
        <a:xfrm>
          <a:off x="0" y="0"/>
          <a:ext cx="0" cy="0"/>
          <a:chOff x="0" y="0"/>
          <a:chExt cx="0" cy="0"/>
        </a:xfrm>
      </p:grpSpPr>
      <p:sp>
        <p:nvSpPr>
          <p:cNvPr id="137" name="Google Shape;137;g3ee9487a86e_4_56"/>
          <p:cNvSpPr txBox="1"/>
          <p:nvPr>
            <p:ph type="title"/>
          </p:nvPr>
        </p:nvSpPr>
        <p:spPr>
          <a:xfrm>
            <a:off x="1792736" y="4800600"/>
            <a:ext cx="5487773"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8" name="Google Shape;138;g3ee9487a86e_4_56"/>
          <p:cNvSpPr/>
          <p:nvPr>
            <p:ph idx="2" type="pic"/>
          </p:nvPr>
        </p:nvSpPr>
        <p:spPr>
          <a:xfrm>
            <a:off x="1792736" y="612775"/>
            <a:ext cx="5487773" cy="4114800"/>
          </a:xfrm>
          <a:prstGeom prst="rect">
            <a:avLst/>
          </a:prstGeom>
          <a:noFill/>
          <a:ln>
            <a:noFill/>
          </a:ln>
        </p:spPr>
      </p:sp>
      <p:sp>
        <p:nvSpPr>
          <p:cNvPr id="139" name="Google Shape;139;g3ee9487a86e_4_56"/>
          <p:cNvSpPr txBox="1"/>
          <p:nvPr>
            <p:ph idx="1" type="body"/>
          </p:nvPr>
        </p:nvSpPr>
        <p:spPr>
          <a:xfrm>
            <a:off x="1792736" y="5367338"/>
            <a:ext cx="5487773"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140" name="Google Shape;140;g3ee9487a86e_4_56"/>
          <p:cNvSpPr txBox="1"/>
          <p:nvPr>
            <p:ph idx="10" type="dt"/>
          </p:nvPr>
        </p:nvSpPr>
        <p:spPr>
          <a:xfrm>
            <a:off x="457314" y="6356350"/>
            <a:ext cx="213413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1" name="Google Shape;141;g3ee9487a86e_4_56"/>
          <p:cNvSpPr txBox="1"/>
          <p:nvPr>
            <p:ph idx="11" type="ftr"/>
          </p:nvPr>
        </p:nvSpPr>
        <p:spPr>
          <a:xfrm>
            <a:off x="3124982" y="6356350"/>
            <a:ext cx="2896325"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2" name="Google Shape;142;g3ee9487a86e_4_56"/>
          <p:cNvSpPr txBox="1"/>
          <p:nvPr>
            <p:ph idx="12" type="sldNum"/>
          </p:nvPr>
        </p:nvSpPr>
        <p:spPr>
          <a:xfrm>
            <a:off x="6554840" y="6356350"/>
            <a:ext cx="2134134"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3" name="Shape 143"/>
        <p:cNvGrpSpPr/>
        <p:nvPr/>
      </p:nvGrpSpPr>
      <p:grpSpPr>
        <a:xfrm>
          <a:off x="0" y="0"/>
          <a:ext cx="0" cy="0"/>
          <a:chOff x="0" y="0"/>
          <a:chExt cx="0" cy="0"/>
        </a:xfrm>
      </p:grpSpPr>
      <p:sp>
        <p:nvSpPr>
          <p:cNvPr id="144" name="Google Shape;144;g3ee9487a86e_4_63"/>
          <p:cNvSpPr txBox="1"/>
          <p:nvPr>
            <p:ph type="title"/>
          </p:nvPr>
        </p:nvSpPr>
        <p:spPr>
          <a:xfrm>
            <a:off x="457314" y="274638"/>
            <a:ext cx="8231659"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5" name="Google Shape;145;g3ee9487a86e_4_63"/>
          <p:cNvSpPr txBox="1"/>
          <p:nvPr>
            <p:ph idx="1" type="body"/>
          </p:nvPr>
        </p:nvSpPr>
        <p:spPr>
          <a:xfrm rot="5400000">
            <a:off x="2310163" y="-252648"/>
            <a:ext cx="4525963" cy="8231659"/>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46" name="Google Shape;146;g3ee9487a86e_4_63"/>
          <p:cNvSpPr txBox="1"/>
          <p:nvPr>
            <p:ph idx="10" type="dt"/>
          </p:nvPr>
        </p:nvSpPr>
        <p:spPr>
          <a:xfrm>
            <a:off x="457314" y="6356350"/>
            <a:ext cx="213413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7" name="Google Shape;147;g3ee9487a86e_4_63"/>
          <p:cNvSpPr txBox="1"/>
          <p:nvPr>
            <p:ph idx="11" type="ftr"/>
          </p:nvPr>
        </p:nvSpPr>
        <p:spPr>
          <a:xfrm>
            <a:off x="3124982" y="6356350"/>
            <a:ext cx="2896325"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8" name="Google Shape;148;g3ee9487a86e_4_63"/>
          <p:cNvSpPr txBox="1"/>
          <p:nvPr>
            <p:ph idx="12" type="sldNum"/>
          </p:nvPr>
        </p:nvSpPr>
        <p:spPr>
          <a:xfrm>
            <a:off x="6554840" y="6356350"/>
            <a:ext cx="2134134"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49" name="Shape 149"/>
        <p:cNvGrpSpPr/>
        <p:nvPr/>
      </p:nvGrpSpPr>
      <p:grpSpPr>
        <a:xfrm>
          <a:off x="0" y="0"/>
          <a:ext cx="0" cy="0"/>
          <a:chOff x="0" y="0"/>
          <a:chExt cx="0" cy="0"/>
        </a:xfrm>
      </p:grpSpPr>
      <p:sp>
        <p:nvSpPr>
          <p:cNvPr id="150" name="Google Shape;150;g3ee9487a86e_4_69"/>
          <p:cNvSpPr txBox="1"/>
          <p:nvPr>
            <p:ph type="title"/>
          </p:nvPr>
        </p:nvSpPr>
        <p:spPr>
          <a:xfrm rot="5400000">
            <a:off x="4734254" y="2171443"/>
            <a:ext cx="5851525" cy="205791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1" name="Google Shape;151;g3ee9487a86e_4_69"/>
          <p:cNvSpPr txBox="1"/>
          <p:nvPr>
            <p:ph idx="1" type="body"/>
          </p:nvPr>
        </p:nvSpPr>
        <p:spPr>
          <a:xfrm rot="5400000">
            <a:off x="542205" y="189747"/>
            <a:ext cx="5851525" cy="6021306"/>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52" name="Google Shape;152;g3ee9487a86e_4_69"/>
          <p:cNvSpPr txBox="1"/>
          <p:nvPr>
            <p:ph idx="10" type="dt"/>
          </p:nvPr>
        </p:nvSpPr>
        <p:spPr>
          <a:xfrm>
            <a:off x="457314" y="6356350"/>
            <a:ext cx="213413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3" name="Google Shape;153;g3ee9487a86e_4_69"/>
          <p:cNvSpPr txBox="1"/>
          <p:nvPr>
            <p:ph idx="11" type="ftr"/>
          </p:nvPr>
        </p:nvSpPr>
        <p:spPr>
          <a:xfrm>
            <a:off x="3124982" y="6356350"/>
            <a:ext cx="2896325"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4" name="Google Shape;154;g3ee9487a86e_4_69"/>
          <p:cNvSpPr txBox="1"/>
          <p:nvPr>
            <p:ph idx="12" type="sldNum"/>
          </p:nvPr>
        </p:nvSpPr>
        <p:spPr>
          <a:xfrm>
            <a:off x="6554840" y="6356350"/>
            <a:ext cx="2134134"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및 내용" type="obj">
  <p:cSld name="OBJECT">
    <p:spTree>
      <p:nvGrpSpPr>
        <p:cNvPr id="161" name="Shape 161"/>
        <p:cNvGrpSpPr/>
        <p:nvPr/>
      </p:nvGrpSpPr>
      <p:grpSpPr>
        <a:xfrm>
          <a:off x="0" y="0"/>
          <a:ext cx="0" cy="0"/>
          <a:chOff x="0" y="0"/>
          <a:chExt cx="0" cy="0"/>
        </a:xfrm>
      </p:grpSpPr>
      <p:sp>
        <p:nvSpPr>
          <p:cNvPr id="162" name="Google Shape;162;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accent1"/>
              </a:buClr>
              <a:buSzPts val="4000"/>
              <a:buFont typeface="Noto Sans KR"/>
              <a:buNone/>
              <a:defRPr>
                <a:latin typeface="Noto Sans KR"/>
                <a:ea typeface="Noto Sans KR"/>
                <a:cs typeface="Noto Sans KR"/>
                <a:sym typeface="Noto Sans K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3" name="Google Shape;163;p2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1000"/>
              </a:spcBef>
              <a:spcAft>
                <a:spcPts val="0"/>
              </a:spcAft>
              <a:buClr>
                <a:schemeClr val="dk1"/>
              </a:buClr>
              <a:buSzPts val="2400"/>
              <a:buFont typeface="Noto Sans Symbols"/>
              <a:buChar char="✔"/>
              <a:defRPr/>
            </a:lvl1pPr>
            <a:lvl2pPr indent="-355600" lvl="1" marL="914400" algn="l">
              <a:lnSpc>
                <a:spcPct val="90000"/>
              </a:lnSpc>
              <a:spcBef>
                <a:spcPts val="500"/>
              </a:spcBef>
              <a:spcAft>
                <a:spcPts val="0"/>
              </a:spcAft>
              <a:buClr>
                <a:schemeClr val="dk1"/>
              </a:buClr>
              <a:buSzPts val="2000"/>
              <a:buFont typeface="Noto Sans Symbols"/>
              <a:buChar char="▪"/>
              <a:defRPr/>
            </a:lvl2pPr>
            <a:lvl3pPr indent="-342900" lvl="2" marL="1371600" algn="l">
              <a:lnSpc>
                <a:spcPct val="90000"/>
              </a:lnSpc>
              <a:spcBef>
                <a:spcPts val="500"/>
              </a:spcBef>
              <a:spcAft>
                <a:spcPts val="0"/>
              </a:spcAft>
              <a:buClr>
                <a:schemeClr val="dk1"/>
              </a:buClr>
              <a:buSzPts val="1800"/>
              <a:buFont typeface="Arial"/>
              <a:buChar char="•"/>
              <a:defRPr/>
            </a:lvl3pPr>
            <a:lvl4pPr indent="-330200" lvl="3" marL="1828800" algn="l">
              <a:lnSpc>
                <a:spcPct val="90000"/>
              </a:lnSpc>
              <a:spcBef>
                <a:spcPts val="500"/>
              </a:spcBef>
              <a:spcAft>
                <a:spcPts val="0"/>
              </a:spcAft>
              <a:buClr>
                <a:schemeClr val="dk1"/>
              </a:buClr>
              <a:buSzPts val="1600"/>
              <a:buFont typeface="Arial"/>
              <a:buChar char="•"/>
              <a:defRPr/>
            </a:lvl4pPr>
            <a:lvl5pPr indent="-330200" lvl="4" marL="2286000" algn="l">
              <a:lnSpc>
                <a:spcPct val="90000"/>
              </a:lnSpc>
              <a:spcBef>
                <a:spcPts val="500"/>
              </a:spcBef>
              <a:spcAft>
                <a:spcPts val="0"/>
              </a:spcAft>
              <a:buClr>
                <a:schemeClr val="dk1"/>
              </a:buClr>
              <a:buSzPts val="1600"/>
              <a:buFont typeface="Arial"/>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4" name="Google Shape;164;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5" name="Google Shape;165;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6" name="Google Shape;166;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67" name="Shape 167"/>
        <p:cNvGrpSpPr/>
        <p:nvPr/>
      </p:nvGrpSpPr>
      <p:grpSpPr>
        <a:xfrm>
          <a:off x="0" y="0"/>
          <a:ext cx="0" cy="0"/>
          <a:chOff x="0" y="0"/>
          <a:chExt cx="0" cy="0"/>
        </a:xfrm>
      </p:grpSpPr>
      <p:sp>
        <p:nvSpPr>
          <p:cNvPr id="168" name="Google Shape;168;g3ed4bf590d6_0_113"/>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9" name="Google Shape;169;g3ed4bf590d6_0_113"/>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0" name="Google Shape;170;g3ed4bf590d6_0_113"/>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슬라이드" type="title">
  <p:cSld name="TITLE">
    <p:spTree>
      <p:nvGrpSpPr>
        <p:cNvPr id="171" name="Shape 171"/>
        <p:cNvGrpSpPr/>
        <p:nvPr/>
      </p:nvGrpSpPr>
      <p:grpSpPr>
        <a:xfrm>
          <a:off x="0" y="0"/>
          <a:ext cx="0" cy="0"/>
          <a:chOff x="0" y="0"/>
          <a:chExt cx="0" cy="0"/>
        </a:xfrm>
      </p:grpSpPr>
      <p:sp>
        <p:nvSpPr>
          <p:cNvPr id="172" name="Google Shape;172;p8"/>
          <p:cNvSpPr txBox="1"/>
          <p:nvPr>
            <p:ph type="ctrTitle"/>
          </p:nvPr>
        </p:nvSpPr>
        <p:spPr>
          <a:xfrm>
            <a:off x="1152375" y="3680313"/>
            <a:ext cx="5462721" cy="1485895"/>
          </a:xfrm>
          <a:prstGeom prst="rect">
            <a:avLst/>
          </a:prstGeom>
          <a:noFill/>
          <a:ln>
            <a:noFill/>
          </a:ln>
        </p:spPr>
        <p:txBody>
          <a:bodyPr anchorCtr="0" anchor="t" bIns="45700" lIns="91425" spcFirstLastPara="1" rIns="91425" wrap="square" tIns="45700">
            <a:noAutofit/>
          </a:bodyPr>
          <a:lstStyle>
            <a:lvl1pPr lvl="0" algn="ctr">
              <a:lnSpc>
                <a:spcPct val="90000"/>
              </a:lnSpc>
              <a:spcBef>
                <a:spcPts val="0"/>
              </a:spcBef>
              <a:spcAft>
                <a:spcPts val="0"/>
              </a:spcAft>
              <a:buClr>
                <a:srgbClr val="262626"/>
              </a:buClr>
              <a:buSzPts val="5900"/>
              <a:buFont typeface="Noto Sans KR"/>
              <a:buNone/>
              <a:defRPr b="1" sz="5900">
                <a:solidFill>
                  <a:srgbClr val="262626"/>
                </a:solidFill>
                <a:latin typeface="Noto Sans KR"/>
                <a:ea typeface="Noto Sans KR"/>
                <a:cs typeface="Noto Sans KR"/>
                <a:sym typeface="Noto Sans K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3" name="Google Shape;173;p8"/>
          <p:cNvSpPr txBox="1"/>
          <p:nvPr>
            <p:ph idx="1" type="subTitle"/>
          </p:nvPr>
        </p:nvSpPr>
        <p:spPr>
          <a:xfrm>
            <a:off x="1287073" y="2772515"/>
            <a:ext cx="5193323" cy="445466"/>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74" name="Google Shape;174;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5" name="Google Shape;175;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6" name="Google Shape;176;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9pPr>
          </a:lstStyle>
          <a:p>
            <a:pPr indent="0" lvl="0" marL="0" rtl="0" algn="r">
              <a:spcBef>
                <a:spcPts val="0"/>
              </a:spcBef>
              <a:spcAft>
                <a:spcPts val="0"/>
              </a:spcAft>
              <a:buNone/>
            </a:pPr>
            <a:fld id="{00000000-1234-1234-1234-123412341234}" type="slidenum">
              <a:rPr lang="ko-KR"/>
              <a:t>‹#›</a:t>
            </a:fld>
            <a:endParaRPr/>
          </a:p>
        </p:txBody>
      </p:sp>
      <p:cxnSp>
        <p:nvCxnSpPr>
          <p:cNvPr id="177" name="Google Shape;177;p8"/>
          <p:cNvCxnSpPr/>
          <p:nvPr/>
        </p:nvCxnSpPr>
        <p:spPr>
          <a:xfrm>
            <a:off x="1152374" y="3288235"/>
            <a:ext cx="5462722" cy="0"/>
          </a:xfrm>
          <a:prstGeom prst="straightConnector1">
            <a:avLst/>
          </a:prstGeom>
          <a:noFill/>
          <a:ln cap="sq" cmpd="sng" w="76200">
            <a:solidFill>
              <a:srgbClr val="1D69AF"/>
            </a:solidFill>
            <a:prstDash val="solid"/>
            <a:miter lim="80"/>
            <a:headEnd len="sm" w="sm" type="none"/>
            <a:tailEnd len="sm" w="sm" type="none"/>
          </a:ln>
        </p:spPr>
      </p:cxnSp>
      <p:pic>
        <p:nvPicPr>
          <p:cNvPr id="178" name="Google Shape;178;p8"/>
          <p:cNvPicPr preferRelativeResize="0"/>
          <p:nvPr/>
        </p:nvPicPr>
        <p:blipFill rotWithShape="1">
          <a:blip r:embed="rId2">
            <a:alphaModFix/>
          </a:blip>
          <a:srcRect b="0" l="0" r="21770" t="0"/>
          <a:stretch/>
        </p:blipFill>
        <p:spPr>
          <a:xfrm>
            <a:off x="7790521" y="620316"/>
            <a:ext cx="4404410" cy="5630091"/>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구역 머리글" type="secHead">
  <p:cSld name="SECTION_HEADER">
    <p:spTree>
      <p:nvGrpSpPr>
        <p:cNvPr id="179" name="Shape 179"/>
        <p:cNvGrpSpPr/>
        <p:nvPr/>
      </p:nvGrpSpPr>
      <p:grpSpPr>
        <a:xfrm>
          <a:off x="0" y="0"/>
          <a:ext cx="0" cy="0"/>
          <a:chOff x="0" y="0"/>
          <a:chExt cx="0" cy="0"/>
        </a:xfrm>
      </p:grpSpPr>
      <p:sp>
        <p:nvSpPr>
          <p:cNvPr id="180" name="Google Shape;180;p23"/>
          <p:cNvSpPr txBox="1"/>
          <p:nvPr>
            <p:ph type="title"/>
          </p:nvPr>
        </p:nvSpPr>
        <p:spPr>
          <a:xfrm>
            <a:off x="1199456" y="1981200"/>
            <a:ext cx="10147994" cy="949324"/>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164194"/>
              </a:buClr>
              <a:buSzPts val="5400"/>
              <a:buFont typeface="Noto Sans KR"/>
              <a:buNone/>
              <a:defRPr b="1" sz="5400">
                <a:solidFill>
                  <a:srgbClr val="164194"/>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1" name="Google Shape;181;p23"/>
          <p:cNvSpPr txBox="1"/>
          <p:nvPr>
            <p:ph idx="1" type="body"/>
          </p:nvPr>
        </p:nvSpPr>
        <p:spPr>
          <a:xfrm>
            <a:off x="1199456" y="2930524"/>
            <a:ext cx="10147994"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88" name="Shape 188"/>
        <p:cNvGrpSpPr/>
        <p:nvPr/>
      </p:nvGrpSpPr>
      <p:grpSpPr>
        <a:xfrm>
          <a:off x="0" y="0"/>
          <a:ext cx="0" cy="0"/>
          <a:chOff x="0" y="0"/>
          <a:chExt cx="0" cy="0"/>
        </a:xfrm>
      </p:grpSpPr>
      <p:sp>
        <p:nvSpPr>
          <p:cNvPr id="189" name="Google Shape;189;g3ee94320d98_2_6"/>
          <p:cNvSpPr txBox="1"/>
          <p:nvPr>
            <p:ph idx="10" type="dt"/>
          </p:nvPr>
        </p:nvSpPr>
        <p:spPr>
          <a:xfrm>
            <a:off x="457319" y="6356350"/>
            <a:ext cx="2134156"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0" name="Google Shape;190;g3ee94320d98_2_6"/>
          <p:cNvSpPr txBox="1"/>
          <p:nvPr>
            <p:ph idx="11" type="ftr"/>
          </p:nvPr>
        </p:nvSpPr>
        <p:spPr>
          <a:xfrm>
            <a:off x="3125014" y="6356350"/>
            <a:ext cx="2896354"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1" name="Google Shape;191;g3ee94320d98_2_6"/>
          <p:cNvSpPr txBox="1"/>
          <p:nvPr>
            <p:ph idx="12" type="sldNum"/>
          </p:nvPr>
        </p:nvSpPr>
        <p:spPr>
          <a:xfrm>
            <a:off x="6554907" y="6356350"/>
            <a:ext cx="2134156"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2" name="Shape 192"/>
        <p:cNvGrpSpPr/>
        <p:nvPr/>
      </p:nvGrpSpPr>
      <p:grpSpPr>
        <a:xfrm>
          <a:off x="0" y="0"/>
          <a:ext cx="0" cy="0"/>
          <a:chOff x="0" y="0"/>
          <a:chExt cx="0" cy="0"/>
        </a:xfrm>
      </p:grpSpPr>
      <p:sp>
        <p:nvSpPr>
          <p:cNvPr id="193" name="Google Shape;193;g3ee94320d98_2_10"/>
          <p:cNvSpPr txBox="1"/>
          <p:nvPr>
            <p:ph type="ctrTitle"/>
          </p:nvPr>
        </p:nvSpPr>
        <p:spPr>
          <a:xfrm>
            <a:off x="685979" y="2130425"/>
            <a:ext cx="7774425"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4" name="Google Shape;194;g3ee94320d98_2_10"/>
          <p:cNvSpPr txBox="1"/>
          <p:nvPr>
            <p:ph idx="1" type="subTitle"/>
          </p:nvPr>
        </p:nvSpPr>
        <p:spPr>
          <a:xfrm>
            <a:off x="1371957" y="3886200"/>
            <a:ext cx="6402467"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95" name="Google Shape;195;g3ee94320d98_2_10"/>
          <p:cNvSpPr txBox="1"/>
          <p:nvPr>
            <p:ph idx="10" type="dt"/>
          </p:nvPr>
        </p:nvSpPr>
        <p:spPr>
          <a:xfrm>
            <a:off x="457319" y="6356350"/>
            <a:ext cx="2134156"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6" name="Google Shape;196;g3ee94320d98_2_10"/>
          <p:cNvSpPr txBox="1"/>
          <p:nvPr>
            <p:ph idx="11" type="ftr"/>
          </p:nvPr>
        </p:nvSpPr>
        <p:spPr>
          <a:xfrm>
            <a:off x="3125014" y="6356350"/>
            <a:ext cx="2896354"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7" name="Google Shape;197;g3ee94320d98_2_10"/>
          <p:cNvSpPr txBox="1"/>
          <p:nvPr>
            <p:ph idx="12" type="sldNum"/>
          </p:nvPr>
        </p:nvSpPr>
        <p:spPr>
          <a:xfrm>
            <a:off x="6554907" y="6356350"/>
            <a:ext cx="2134156"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8" name="Shape 198"/>
        <p:cNvGrpSpPr/>
        <p:nvPr/>
      </p:nvGrpSpPr>
      <p:grpSpPr>
        <a:xfrm>
          <a:off x="0" y="0"/>
          <a:ext cx="0" cy="0"/>
          <a:chOff x="0" y="0"/>
          <a:chExt cx="0" cy="0"/>
        </a:xfrm>
      </p:grpSpPr>
      <p:sp>
        <p:nvSpPr>
          <p:cNvPr id="199" name="Google Shape;199;g3ee94320d98_2_16"/>
          <p:cNvSpPr txBox="1"/>
          <p:nvPr>
            <p:ph type="title"/>
          </p:nvPr>
        </p:nvSpPr>
        <p:spPr>
          <a:xfrm>
            <a:off x="457319" y="274638"/>
            <a:ext cx="8231744"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0" name="Google Shape;200;g3ee94320d98_2_16"/>
          <p:cNvSpPr txBox="1"/>
          <p:nvPr>
            <p:ph idx="1" type="body"/>
          </p:nvPr>
        </p:nvSpPr>
        <p:spPr>
          <a:xfrm>
            <a:off x="457319" y="1600200"/>
            <a:ext cx="8231744"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01" name="Google Shape;201;g3ee94320d98_2_16"/>
          <p:cNvSpPr txBox="1"/>
          <p:nvPr>
            <p:ph idx="10" type="dt"/>
          </p:nvPr>
        </p:nvSpPr>
        <p:spPr>
          <a:xfrm>
            <a:off x="457319" y="6356350"/>
            <a:ext cx="2134156"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2" name="Google Shape;202;g3ee94320d98_2_16"/>
          <p:cNvSpPr txBox="1"/>
          <p:nvPr>
            <p:ph idx="11" type="ftr"/>
          </p:nvPr>
        </p:nvSpPr>
        <p:spPr>
          <a:xfrm>
            <a:off x="3125014" y="6356350"/>
            <a:ext cx="2896354"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3" name="Google Shape;203;g3ee94320d98_2_16"/>
          <p:cNvSpPr txBox="1"/>
          <p:nvPr>
            <p:ph idx="12" type="sldNum"/>
          </p:nvPr>
        </p:nvSpPr>
        <p:spPr>
          <a:xfrm>
            <a:off x="6554907" y="6356350"/>
            <a:ext cx="2134156"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04" name="Shape 204"/>
        <p:cNvGrpSpPr/>
        <p:nvPr/>
      </p:nvGrpSpPr>
      <p:grpSpPr>
        <a:xfrm>
          <a:off x="0" y="0"/>
          <a:ext cx="0" cy="0"/>
          <a:chOff x="0" y="0"/>
          <a:chExt cx="0" cy="0"/>
        </a:xfrm>
      </p:grpSpPr>
      <p:sp>
        <p:nvSpPr>
          <p:cNvPr id="205" name="Google Shape;205;g3ee94320d98_2_22"/>
          <p:cNvSpPr txBox="1"/>
          <p:nvPr>
            <p:ph type="title"/>
          </p:nvPr>
        </p:nvSpPr>
        <p:spPr>
          <a:xfrm>
            <a:off x="722501" y="4406900"/>
            <a:ext cx="7774425"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6" name="Google Shape;206;g3ee94320d98_2_22"/>
          <p:cNvSpPr txBox="1"/>
          <p:nvPr>
            <p:ph idx="1" type="body"/>
          </p:nvPr>
        </p:nvSpPr>
        <p:spPr>
          <a:xfrm>
            <a:off x="722501" y="2906713"/>
            <a:ext cx="7774425"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207" name="Google Shape;207;g3ee94320d98_2_22"/>
          <p:cNvSpPr txBox="1"/>
          <p:nvPr>
            <p:ph idx="10" type="dt"/>
          </p:nvPr>
        </p:nvSpPr>
        <p:spPr>
          <a:xfrm>
            <a:off x="457319" y="6356350"/>
            <a:ext cx="2134156"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8" name="Google Shape;208;g3ee94320d98_2_22"/>
          <p:cNvSpPr txBox="1"/>
          <p:nvPr>
            <p:ph idx="11" type="ftr"/>
          </p:nvPr>
        </p:nvSpPr>
        <p:spPr>
          <a:xfrm>
            <a:off x="3125014" y="6356350"/>
            <a:ext cx="2896354"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9" name="Google Shape;209;g3ee94320d98_2_22"/>
          <p:cNvSpPr txBox="1"/>
          <p:nvPr>
            <p:ph idx="12" type="sldNum"/>
          </p:nvPr>
        </p:nvSpPr>
        <p:spPr>
          <a:xfrm>
            <a:off x="6554907" y="6356350"/>
            <a:ext cx="2134156"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10" name="Shape 210"/>
        <p:cNvGrpSpPr/>
        <p:nvPr/>
      </p:nvGrpSpPr>
      <p:grpSpPr>
        <a:xfrm>
          <a:off x="0" y="0"/>
          <a:ext cx="0" cy="0"/>
          <a:chOff x="0" y="0"/>
          <a:chExt cx="0" cy="0"/>
        </a:xfrm>
      </p:grpSpPr>
      <p:sp>
        <p:nvSpPr>
          <p:cNvPr id="211" name="Google Shape;211;g3ee94320d98_2_28"/>
          <p:cNvSpPr txBox="1"/>
          <p:nvPr>
            <p:ph type="title"/>
          </p:nvPr>
        </p:nvSpPr>
        <p:spPr>
          <a:xfrm>
            <a:off x="457319" y="274638"/>
            <a:ext cx="8231744"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2" name="Google Shape;212;g3ee94320d98_2_28"/>
          <p:cNvSpPr txBox="1"/>
          <p:nvPr>
            <p:ph idx="1" type="body"/>
          </p:nvPr>
        </p:nvSpPr>
        <p:spPr>
          <a:xfrm>
            <a:off x="457319" y="1600200"/>
            <a:ext cx="4039652"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213" name="Google Shape;213;g3ee94320d98_2_28"/>
          <p:cNvSpPr txBox="1"/>
          <p:nvPr>
            <p:ph idx="2" type="body"/>
          </p:nvPr>
        </p:nvSpPr>
        <p:spPr>
          <a:xfrm>
            <a:off x="4649411" y="1600200"/>
            <a:ext cx="4039652"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214" name="Google Shape;214;g3ee94320d98_2_28"/>
          <p:cNvSpPr txBox="1"/>
          <p:nvPr>
            <p:ph idx="10" type="dt"/>
          </p:nvPr>
        </p:nvSpPr>
        <p:spPr>
          <a:xfrm>
            <a:off x="457319" y="6356350"/>
            <a:ext cx="2134156"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5" name="Google Shape;215;g3ee94320d98_2_28"/>
          <p:cNvSpPr txBox="1"/>
          <p:nvPr>
            <p:ph idx="11" type="ftr"/>
          </p:nvPr>
        </p:nvSpPr>
        <p:spPr>
          <a:xfrm>
            <a:off x="3125014" y="6356350"/>
            <a:ext cx="2896354"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6" name="Google Shape;216;g3ee94320d98_2_28"/>
          <p:cNvSpPr txBox="1"/>
          <p:nvPr>
            <p:ph idx="12" type="sldNum"/>
          </p:nvPr>
        </p:nvSpPr>
        <p:spPr>
          <a:xfrm>
            <a:off x="6554907" y="6356350"/>
            <a:ext cx="2134156"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17" name="Shape 217"/>
        <p:cNvGrpSpPr/>
        <p:nvPr/>
      </p:nvGrpSpPr>
      <p:grpSpPr>
        <a:xfrm>
          <a:off x="0" y="0"/>
          <a:ext cx="0" cy="0"/>
          <a:chOff x="0" y="0"/>
          <a:chExt cx="0" cy="0"/>
        </a:xfrm>
      </p:grpSpPr>
      <p:sp>
        <p:nvSpPr>
          <p:cNvPr id="218" name="Google Shape;218;g3ee94320d98_2_35"/>
          <p:cNvSpPr txBox="1"/>
          <p:nvPr>
            <p:ph type="title"/>
          </p:nvPr>
        </p:nvSpPr>
        <p:spPr>
          <a:xfrm>
            <a:off x="457319" y="274638"/>
            <a:ext cx="8231744"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9" name="Google Shape;219;g3ee94320d98_2_35"/>
          <p:cNvSpPr txBox="1"/>
          <p:nvPr>
            <p:ph idx="1" type="body"/>
          </p:nvPr>
        </p:nvSpPr>
        <p:spPr>
          <a:xfrm>
            <a:off x="457319" y="1535113"/>
            <a:ext cx="4041240"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220" name="Google Shape;220;g3ee94320d98_2_35"/>
          <p:cNvSpPr txBox="1"/>
          <p:nvPr>
            <p:ph idx="2" type="body"/>
          </p:nvPr>
        </p:nvSpPr>
        <p:spPr>
          <a:xfrm>
            <a:off x="457319" y="2174875"/>
            <a:ext cx="4041240"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221" name="Google Shape;221;g3ee94320d98_2_35"/>
          <p:cNvSpPr txBox="1"/>
          <p:nvPr>
            <p:ph idx="3" type="body"/>
          </p:nvPr>
        </p:nvSpPr>
        <p:spPr>
          <a:xfrm>
            <a:off x="4646235" y="1535113"/>
            <a:ext cx="404282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222" name="Google Shape;222;g3ee94320d98_2_35"/>
          <p:cNvSpPr txBox="1"/>
          <p:nvPr>
            <p:ph idx="4" type="body"/>
          </p:nvPr>
        </p:nvSpPr>
        <p:spPr>
          <a:xfrm>
            <a:off x="4646235" y="2174875"/>
            <a:ext cx="404282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223" name="Google Shape;223;g3ee94320d98_2_35"/>
          <p:cNvSpPr txBox="1"/>
          <p:nvPr>
            <p:ph idx="10" type="dt"/>
          </p:nvPr>
        </p:nvSpPr>
        <p:spPr>
          <a:xfrm>
            <a:off x="457319" y="6356350"/>
            <a:ext cx="2134156"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4" name="Google Shape;224;g3ee94320d98_2_35"/>
          <p:cNvSpPr txBox="1"/>
          <p:nvPr>
            <p:ph idx="11" type="ftr"/>
          </p:nvPr>
        </p:nvSpPr>
        <p:spPr>
          <a:xfrm>
            <a:off x="3125014" y="6356350"/>
            <a:ext cx="2896354"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5" name="Google Shape;225;g3ee94320d98_2_35"/>
          <p:cNvSpPr txBox="1"/>
          <p:nvPr>
            <p:ph idx="12" type="sldNum"/>
          </p:nvPr>
        </p:nvSpPr>
        <p:spPr>
          <a:xfrm>
            <a:off x="6554907" y="6356350"/>
            <a:ext cx="2134156"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26" name="Shape 226"/>
        <p:cNvGrpSpPr/>
        <p:nvPr/>
      </p:nvGrpSpPr>
      <p:grpSpPr>
        <a:xfrm>
          <a:off x="0" y="0"/>
          <a:ext cx="0" cy="0"/>
          <a:chOff x="0" y="0"/>
          <a:chExt cx="0" cy="0"/>
        </a:xfrm>
      </p:grpSpPr>
      <p:sp>
        <p:nvSpPr>
          <p:cNvPr id="227" name="Google Shape;227;g3ee94320d98_2_44"/>
          <p:cNvSpPr txBox="1"/>
          <p:nvPr>
            <p:ph type="title"/>
          </p:nvPr>
        </p:nvSpPr>
        <p:spPr>
          <a:xfrm>
            <a:off x="457319" y="274638"/>
            <a:ext cx="8231744"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8" name="Google Shape;228;g3ee94320d98_2_44"/>
          <p:cNvSpPr txBox="1"/>
          <p:nvPr>
            <p:ph idx="10" type="dt"/>
          </p:nvPr>
        </p:nvSpPr>
        <p:spPr>
          <a:xfrm>
            <a:off x="457319" y="6356350"/>
            <a:ext cx="2134156"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9" name="Google Shape;229;g3ee94320d98_2_44"/>
          <p:cNvSpPr txBox="1"/>
          <p:nvPr>
            <p:ph idx="11" type="ftr"/>
          </p:nvPr>
        </p:nvSpPr>
        <p:spPr>
          <a:xfrm>
            <a:off x="3125014" y="6356350"/>
            <a:ext cx="2896354"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0" name="Google Shape;230;g3ee94320d98_2_44"/>
          <p:cNvSpPr txBox="1"/>
          <p:nvPr>
            <p:ph idx="12" type="sldNum"/>
          </p:nvPr>
        </p:nvSpPr>
        <p:spPr>
          <a:xfrm>
            <a:off x="6554907" y="6356350"/>
            <a:ext cx="2134156"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31" name="Shape 231"/>
        <p:cNvGrpSpPr/>
        <p:nvPr/>
      </p:nvGrpSpPr>
      <p:grpSpPr>
        <a:xfrm>
          <a:off x="0" y="0"/>
          <a:ext cx="0" cy="0"/>
          <a:chOff x="0" y="0"/>
          <a:chExt cx="0" cy="0"/>
        </a:xfrm>
      </p:grpSpPr>
      <p:sp>
        <p:nvSpPr>
          <p:cNvPr id="232" name="Google Shape;232;g3ee94320d98_2_49"/>
          <p:cNvSpPr txBox="1"/>
          <p:nvPr>
            <p:ph type="title"/>
          </p:nvPr>
        </p:nvSpPr>
        <p:spPr>
          <a:xfrm>
            <a:off x="457319" y="273050"/>
            <a:ext cx="3009097"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3" name="Google Shape;233;g3ee94320d98_2_49"/>
          <p:cNvSpPr txBox="1"/>
          <p:nvPr>
            <p:ph idx="1" type="body"/>
          </p:nvPr>
        </p:nvSpPr>
        <p:spPr>
          <a:xfrm>
            <a:off x="3575981" y="273050"/>
            <a:ext cx="5113082"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234" name="Google Shape;234;g3ee94320d98_2_49"/>
          <p:cNvSpPr txBox="1"/>
          <p:nvPr>
            <p:ph idx="2" type="body"/>
          </p:nvPr>
        </p:nvSpPr>
        <p:spPr>
          <a:xfrm>
            <a:off x="457319" y="1435100"/>
            <a:ext cx="3009097"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235" name="Google Shape;235;g3ee94320d98_2_49"/>
          <p:cNvSpPr txBox="1"/>
          <p:nvPr>
            <p:ph idx="10" type="dt"/>
          </p:nvPr>
        </p:nvSpPr>
        <p:spPr>
          <a:xfrm>
            <a:off x="457319" y="6356350"/>
            <a:ext cx="2134156"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6" name="Google Shape;236;g3ee94320d98_2_49"/>
          <p:cNvSpPr txBox="1"/>
          <p:nvPr>
            <p:ph idx="11" type="ftr"/>
          </p:nvPr>
        </p:nvSpPr>
        <p:spPr>
          <a:xfrm>
            <a:off x="3125014" y="6356350"/>
            <a:ext cx="2896354"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7" name="Google Shape;237;g3ee94320d98_2_49"/>
          <p:cNvSpPr txBox="1"/>
          <p:nvPr>
            <p:ph idx="12" type="sldNum"/>
          </p:nvPr>
        </p:nvSpPr>
        <p:spPr>
          <a:xfrm>
            <a:off x="6554907" y="6356350"/>
            <a:ext cx="2134156"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38" name="Shape 238"/>
        <p:cNvGrpSpPr/>
        <p:nvPr/>
      </p:nvGrpSpPr>
      <p:grpSpPr>
        <a:xfrm>
          <a:off x="0" y="0"/>
          <a:ext cx="0" cy="0"/>
          <a:chOff x="0" y="0"/>
          <a:chExt cx="0" cy="0"/>
        </a:xfrm>
      </p:grpSpPr>
      <p:sp>
        <p:nvSpPr>
          <p:cNvPr id="239" name="Google Shape;239;g3ee94320d98_2_56"/>
          <p:cNvSpPr txBox="1"/>
          <p:nvPr>
            <p:ph type="title"/>
          </p:nvPr>
        </p:nvSpPr>
        <p:spPr>
          <a:xfrm>
            <a:off x="1792755" y="4800600"/>
            <a:ext cx="5487829"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0" name="Google Shape;240;g3ee94320d98_2_56"/>
          <p:cNvSpPr/>
          <p:nvPr>
            <p:ph idx="2" type="pic"/>
          </p:nvPr>
        </p:nvSpPr>
        <p:spPr>
          <a:xfrm>
            <a:off x="1792755" y="612775"/>
            <a:ext cx="5487829" cy="4114800"/>
          </a:xfrm>
          <a:prstGeom prst="rect">
            <a:avLst/>
          </a:prstGeom>
          <a:noFill/>
          <a:ln>
            <a:noFill/>
          </a:ln>
        </p:spPr>
      </p:sp>
      <p:sp>
        <p:nvSpPr>
          <p:cNvPr id="241" name="Google Shape;241;g3ee94320d98_2_56"/>
          <p:cNvSpPr txBox="1"/>
          <p:nvPr>
            <p:ph idx="1" type="body"/>
          </p:nvPr>
        </p:nvSpPr>
        <p:spPr>
          <a:xfrm>
            <a:off x="1792755" y="5367338"/>
            <a:ext cx="5487829"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242" name="Google Shape;242;g3ee94320d98_2_56"/>
          <p:cNvSpPr txBox="1"/>
          <p:nvPr>
            <p:ph idx="10" type="dt"/>
          </p:nvPr>
        </p:nvSpPr>
        <p:spPr>
          <a:xfrm>
            <a:off x="457319" y="6356350"/>
            <a:ext cx="2134156"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3" name="Google Shape;243;g3ee94320d98_2_56"/>
          <p:cNvSpPr txBox="1"/>
          <p:nvPr>
            <p:ph idx="11" type="ftr"/>
          </p:nvPr>
        </p:nvSpPr>
        <p:spPr>
          <a:xfrm>
            <a:off x="3125014" y="6356350"/>
            <a:ext cx="2896354"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4" name="Google Shape;244;g3ee94320d98_2_56"/>
          <p:cNvSpPr txBox="1"/>
          <p:nvPr>
            <p:ph idx="12" type="sldNum"/>
          </p:nvPr>
        </p:nvSpPr>
        <p:spPr>
          <a:xfrm>
            <a:off x="6554907" y="6356350"/>
            <a:ext cx="2134156"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45" name="Shape 245"/>
        <p:cNvGrpSpPr/>
        <p:nvPr/>
      </p:nvGrpSpPr>
      <p:grpSpPr>
        <a:xfrm>
          <a:off x="0" y="0"/>
          <a:ext cx="0" cy="0"/>
          <a:chOff x="0" y="0"/>
          <a:chExt cx="0" cy="0"/>
        </a:xfrm>
      </p:grpSpPr>
      <p:sp>
        <p:nvSpPr>
          <p:cNvPr id="246" name="Google Shape;246;g3ee94320d98_2_63"/>
          <p:cNvSpPr txBox="1"/>
          <p:nvPr>
            <p:ph type="title"/>
          </p:nvPr>
        </p:nvSpPr>
        <p:spPr>
          <a:xfrm>
            <a:off x="457319" y="274638"/>
            <a:ext cx="8231744"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7" name="Google Shape;247;g3ee94320d98_2_63"/>
          <p:cNvSpPr txBox="1"/>
          <p:nvPr>
            <p:ph idx="1" type="body"/>
          </p:nvPr>
        </p:nvSpPr>
        <p:spPr>
          <a:xfrm rot="5400000">
            <a:off x="2310209" y="-252690"/>
            <a:ext cx="4525963" cy="8231744"/>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8" name="Google Shape;248;g3ee94320d98_2_63"/>
          <p:cNvSpPr txBox="1"/>
          <p:nvPr>
            <p:ph idx="10" type="dt"/>
          </p:nvPr>
        </p:nvSpPr>
        <p:spPr>
          <a:xfrm>
            <a:off x="457319" y="6356350"/>
            <a:ext cx="2134156"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9" name="Google Shape;249;g3ee94320d98_2_63"/>
          <p:cNvSpPr txBox="1"/>
          <p:nvPr>
            <p:ph idx="11" type="ftr"/>
          </p:nvPr>
        </p:nvSpPr>
        <p:spPr>
          <a:xfrm>
            <a:off x="3125014" y="6356350"/>
            <a:ext cx="2896354"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0" name="Google Shape;250;g3ee94320d98_2_63"/>
          <p:cNvSpPr txBox="1"/>
          <p:nvPr>
            <p:ph idx="12" type="sldNum"/>
          </p:nvPr>
        </p:nvSpPr>
        <p:spPr>
          <a:xfrm>
            <a:off x="6554907" y="6356350"/>
            <a:ext cx="2134156"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51" name="Shape 251"/>
        <p:cNvGrpSpPr/>
        <p:nvPr/>
      </p:nvGrpSpPr>
      <p:grpSpPr>
        <a:xfrm>
          <a:off x="0" y="0"/>
          <a:ext cx="0" cy="0"/>
          <a:chOff x="0" y="0"/>
          <a:chExt cx="0" cy="0"/>
        </a:xfrm>
      </p:grpSpPr>
      <p:sp>
        <p:nvSpPr>
          <p:cNvPr id="252" name="Google Shape;252;g3ee94320d98_2_69"/>
          <p:cNvSpPr txBox="1"/>
          <p:nvPr>
            <p:ph type="title"/>
          </p:nvPr>
        </p:nvSpPr>
        <p:spPr>
          <a:xfrm rot="5400000">
            <a:off x="4734332" y="2171433"/>
            <a:ext cx="5851525" cy="2057936"/>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3" name="Google Shape;253;g3ee94320d98_2_69"/>
          <p:cNvSpPr txBox="1"/>
          <p:nvPr>
            <p:ph idx="1" type="body"/>
          </p:nvPr>
        </p:nvSpPr>
        <p:spPr>
          <a:xfrm rot="5400000">
            <a:off x="542241" y="189716"/>
            <a:ext cx="5851525" cy="6021368"/>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54" name="Google Shape;254;g3ee94320d98_2_69"/>
          <p:cNvSpPr txBox="1"/>
          <p:nvPr>
            <p:ph idx="10" type="dt"/>
          </p:nvPr>
        </p:nvSpPr>
        <p:spPr>
          <a:xfrm>
            <a:off x="457319" y="6356350"/>
            <a:ext cx="2134156"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5" name="Google Shape;255;g3ee94320d98_2_69"/>
          <p:cNvSpPr txBox="1"/>
          <p:nvPr>
            <p:ph idx="11" type="ftr"/>
          </p:nvPr>
        </p:nvSpPr>
        <p:spPr>
          <a:xfrm>
            <a:off x="3125014" y="6356350"/>
            <a:ext cx="2896354"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6" name="Google Shape;256;g3ee94320d98_2_69"/>
          <p:cNvSpPr txBox="1"/>
          <p:nvPr>
            <p:ph idx="12" type="sldNum"/>
          </p:nvPr>
        </p:nvSpPr>
        <p:spPr>
          <a:xfrm>
            <a:off x="6554907" y="6356350"/>
            <a:ext cx="2134156"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5" Type="http://schemas.openxmlformats.org/officeDocument/2006/relationships/theme" Target="../theme/theme4.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slideLayout" Target="../slideLayouts/slideLayout28.xml"/><Relationship Id="rId3" Type="http://schemas.openxmlformats.org/officeDocument/2006/relationships/slideLayout" Target="../slideLayouts/slideLayout29.xml"/><Relationship Id="rId4" Type="http://schemas.openxmlformats.org/officeDocument/2006/relationships/slideLayout" Target="../slideLayouts/slideLayout30.xml"/><Relationship Id="rId11" Type="http://schemas.openxmlformats.org/officeDocument/2006/relationships/slideLayout" Target="../slideLayouts/slideLayout37.xml"/><Relationship Id="rId10" Type="http://schemas.openxmlformats.org/officeDocument/2006/relationships/slideLayout" Target="../slideLayouts/slideLayout36.xml"/><Relationship Id="rId12" Type="http://schemas.openxmlformats.org/officeDocument/2006/relationships/theme" Target="../theme/theme5.xml"/><Relationship Id="rId9" Type="http://schemas.openxmlformats.org/officeDocument/2006/relationships/slideLayout" Target="../slideLayouts/slideLayout35.xml"/><Relationship Id="rId5" Type="http://schemas.openxmlformats.org/officeDocument/2006/relationships/slideLayout" Target="../slideLayouts/slideLayout31.xml"/><Relationship Id="rId6" Type="http://schemas.openxmlformats.org/officeDocument/2006/relationships/slideLayout" Target="../slideLayouts/slideLayout32.xml"/><Relationship Id="rId7" Type="http://schemas.openxmlformats.org/officeDocument/2006/relationships/slideLayout" Target="../slideLayouts/slideLayout33.xml"/><Relationship Id="rId8"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g3ee9487a86e_1_1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g3ee9487a86e_1_123"/>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g3ee9487a86e_1_123"/>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g3ee9487a86e_1_123"/>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g3ee9487a86e_1_123"/>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ko-KR"/>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0" name="Shape 80"/>
        <p:cNvGrpSpPr/>
        <p:nvPr/>
      </p:nvGrpSpPr>
      <p:grpSpPr>
        <a:xfrm>
          <a:off x="0" y="0"/>
          <a:ext cx="0" cy="0"/>
          <a:chOff x="0" y="0"/>
          <a:chExt cx="0" cy="0"/>
        </a:xfrm>
      </p:grpSpPr>
      <p:sp>
        <p:nvSpPr>
          <p:cNvPr id="81" name="Google Shape;81;g3ee9487a86e_4_0"/>
          <p:cNvSpPr txBox="1"/>
          <p:nvPr>
            <p:ph type="title"/>
          </p:nvPr>
        </p:nvSpPr>
        <p:spPr>
          <a:xfrm>
            <a:off x="457314" y="274638"/>
            <a:ext cx="8231659"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2" name="Google Shape;82;g3ee9487a86e_4_0"/>
          <p:cNvSpPr txBox="1"/>
          <p:nvPr>
            <p:ph idx="1" type="body"/>
          </p:nvPr>
        </p:nvSpPr>
        <p:spPr>
          <a:xfrm>
            <a:off x="457314" y="1600200"/>
            <a:ext cx="8231659"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3" name="Google Shape;83;g3ee9487a86e_4_0"/>
          <p:cNvSpPr txBox="1"/>
          <p:nvPr>
            <p:ph idx="10" type="dt"/>
          </p:nvPr>
        </p:nvSpPr>
        <p:spPr>
          <a:xfrm>
            <a:off x="457314" y="6356350"/>
            <a:ext cx="2134134"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4" name="Google Shape;84;g3ee9487a86e_4_0"/>
          <p:cNvSpPr txBox="1"/>
          <p:nvPr>
            <p:ph idx="11" type="ftr"/>
          </p:nvPr>
        </p:nvSpPr>
        <p:spPr>
          <a:xfrm>
            <a:off x="3124982" y="6356350"/>
            <a:ext cx="2896325"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5" name="Google Shape;85;g3ee9487a86e_4_0"/>
          <p:cNvSpPr txBox="1"/>
          <p:nvPr>
            <p:ph idx="12" type="sldNum"/>
          </p:nvPr>
        </p:nvSpPr>
        <p:spPr>
          <a:xfrm>
            <a:off x="6554840" y="6356350"/>
            <a:ext cx="2134134"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ko-KR"/>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5" name="Shape 155"/>
        <p:cNvGrpSpPr/>
        <p:nvPr/>
      </p:nvGrpSpPr>
      <p:grpSpPr>
        <a:xfrm>
          <a:off x="0" y="0"/>
          <a:ext cx="0" cy="0"/>
          <a:chOff x="0" y="0"/>
          <a:chExt cx="0" cy="0"/>
        </a:xfrm>
      </p:grpSpPr>
      <p:sp>
        <p:nvSpPr>
          <p:cNvPr id="156" name="Google Shape;156;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accent1"/>
              </a:buClr>
              <a:buSzPts val="4000"/>
              <a:buFont typeface="Noto Sans KR"/>
              <a:buNone/>
              <a:defRPr b="0" i="0" sz="4000" u="none" cap="none" strike="noStrike">
                <a:solidFill>
                  <a:schemeClr val="accent1"/>
                </a:solidFill>
                <a:latin typeface="Noto Sans KR"/>
                <a:ea typeface="Noto Sans KR"/>
                <a:cs typeface="Noto Sans KR"/>
                <a:sym typeface="Noto Sans KR"/>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7" name="Google Shape;157;p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81000" lvl="0" marL="457200" marR="0" rtl="0" algn="l">
              <a:lnSpc>
                <a:spcPct val="90000"/>
              </a:lnSpc>
              <a:spcBef>
                <a:spcPts val="1000"/>
              </a:spcBef>
              <a:spcAft>
                <a:spcPts val="0"/>
              </a:spcAft>
              <a:buClr>
                <a:schemeClr val="dk1"/>
              </a:buClr>
              <a:buSzPts val="2400"/>
              <a:buFont typeface="Arial"/>
              <a:buChar char="•"/>
              <a:defRPr b="0" i="0" sz="2400" u="none" cap="none" strike="noStrike">
                <a:solidFill>
                  <a:schemeClr val="dk1"/>
                </a:solidFill>
                <a:latin typeface="Malgun Gothic"/>
                <a:ea typeface="Malgun Gothic"/>
                <a:cs typeface="Malgun Gothic"/>
                <a:sym typeface="Malgun Gothic"/>
              </a:defRPr>
            </a:lvl1pPr>
            <a:lvl2pPr indent="-355600" lvl="1" marL="914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Malgun Gothic"/>
                <a:ea typeface="Malgun Gothic"/>
                <a:cs typeface="Malgun Gothic"/>
                <a:sym typeface="Malgun Gothic"/>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Malgun Gothic"/>
                <a:ea typeface="Malgun Gothic"/>
                <a:cs typeface="Malgun Gothic"/>
                <a:sym typeface="Malgun Gothic"/>
              </a:defRPr>
            </a:lvl4pPr>
            <a:lvl5pPr indent="-330200" lvl="4" marL="22860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Malgun Gothic"/>
                <a:ea typeface="Malgun Gothic"/>
                <a:cs typeface="Malgun Gothic"/>
                <a:sym typeface="Malgun Gothic"/>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9pPr>
          </a:lstStyle>
          <a:p/>
        </p:txBody>
      </p:sp>
      <p:sp>
        <p:nvSpPr>
          <p:cNvPr id="158" name="Google Shape;158;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Malgun Gothic"/>
                <a:ea typeface="Malgun Gothic"/>
                <a:cs typeface="Malgun Gothic"/>
                <a:sym typeface="Malgun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9pPr>
          </a:lstStyle>
          <a:p/>
        </p:txBody>
      </p:sp>
      <p:sp>
        <p:nvSpPr>
          <p:cNvPr id="159" name="Google Shape;159;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Malgun Gothic"/>
                <a:ea typeface="Malgun Gothic"/>
                <a:cs typeface="Malgun Gothic"/>
                <a:sym typeface="Malgun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9pPr>
          </a:lstStyle>
          <a:p/>
        </p:txBody>
      </p:sp>
      <p:sp>
        <p:nvSpPr>
          <p:cNvPr id="160" name="Google Shape;160;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9pPr>
          </a:lstStyle>
          <a:p>
            <a:pPr indent="0" lvl="0" marL="0" rtl="0" algn="r">
              <a:spcBef>
                <a:spcPts val="0"/>
              </a:spcBef>
              <a:spcAft>
                <a:spcPts val="0"/>
              </a:spcAft>
              <a:buNone/>
            </a:pPr>
            <a:fld id="{00000000-1234-1234-1234-123412341234}" type="slidenum">
              <a:rPr lang="ko-KR"/>
              <a:t>‹#›</a:t>
            </a:fld>
            <a:endParaRPr/>
          </a:p>
        </p:txBody>
      </p:sp>
    </p:spTree>
  </p:cSld>
  <p:clrMap accent1="accent1" accent2="accent2" accent3="accent3" accent4="accent4" accent5="accent5" accent6="accent6" bg1="lt1" bg2="dk2" tx1="dk1" tx2="lt2" folHlink="folHlink" hlink="hlink"/>
  <p:sldLayoutIdLst>
    <p:sldLayoutId id="2147483673" r:id="rId1"/>
    <p:sldLayoutId id="2147483674" r:id="rId2"/>
    <p:sldLayoutId id="2147483675" r:id="rId3"/>
    <p:sldLayoutId id="2147483676"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2" name="Shape 182"/>
        <p:cNvGrpSpPr/>
        <p:nvPr/>
      </p:nvGrpSpPr>
      <p:grpSpPr>
        <a:xfrm>
          <a:off x="0" y="0"/>
          <a:ext cx="0" cy="0"/>
          <a:chOff x="0" y="0"/>
          <a:chExt cx="0" cy="0"/>
        </a:xfrm>
      </p:grpSpPr>
      <p:sp>
        <p:nvSpPr>
          <p:cNvPr id="183" name="Google Shape;183;g3ee94320d98_2_0"/>
          <p:cNvSpPr txBox="1"/>
          <p:nvPr>
            <p:ph type="title"/>
          </p:nvPr>
        </p:nvSpPr>
        <p:spPr>
          <a:xfrm>
            <a:off x="457319" y="274638"/>
            <a:ext cx="8231744"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4" name="Google Shape;184;g3ee94320d98_2_0"/>
          <p:cNvSpPr txBox="1"/>
          <p:nvPr>
            <p:ph idx="1" type="body"/>
          </p:nvPr>
        </p:nvSpPr>
        <p:spPr>
          <a:xfrm>
            <a:off x="457319" y="1600200"/>
            <a:ext cx="8231744"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85" name="Google Shape;185;g3ee94320d98_2_0"/>
          <p:cNvSpPr txBox="1"/>
          <p:nvPr>
            <p:ph idx="10" type="dt"/>
          </p:nvPr>
        </p:nvSpPr>
        <p:spPr>
          <a:xfrm>
            <a:off x="457319" y="6356350"/>
            <a:ext cx="2134156"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6" name="Google Shape;186;g3ee94320d98_2_0"/>
          <p:cNvSpPr txBox="1"/>
          <p:nvPr>
            <p:ph idx="11" type="ftr"/>
          </p:nvPr>
        </p:nvSpPr>
        <p:spPr>
          <a:xfrm>
            <a:off x="3125014" y="6356350"/>
            <a:ext cx="2896354"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7" name="Google Shape;187;g3ee94320d98_2_0"/>
          <p:cNvSpPr txBox="1"/>
          <p:nvPr>
            <p:ph idx="12" type="sldNum"/>
          </p:nvPr>
        </p:nvSpPr>
        <p:spPr>
          <a:xfrm>
            <a:off x="6554907" y="6356350"/>
            <a:ext cx="2134156"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ko-KR"/>
              <a:t>‹#›</a:t>
            </a:fld>
            <a:endParaRPr/>
          </a:p>
        </p:txBody>
      </p:sp>
    </p:spTree>
  </p:cSld>
  <p:clrMap accent1="accent1" accent2="accent2" accent3="accent3" accent4="accent4" accent5="accent5" accent6="accent6" bg1="lt1" bg2="dk2" tx1="dk1" tx2="lt2" folHlink="folHlink" hlink="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9.png"/><Relationship Id="rId4" Type="http://schemas.openxmlformats.org/officeDocument/2006/relationships/image" Target="../media/image23.png"/><Relationship Id="rId5" Type="http://schemas.openxmlformats.org/officeDocument/2006/relationships/image" Target="../media/image2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xml"/><Relationship Id="rId3" Type="http://schemas.openxmlformats.org/officeDocument/2006/relationships/image" Target="../media/image13.png"/><Relationship Id="rId4" Type="http://schemas.openxmlformats.org/officeDocument/2006/relationships/image" Target="../media/image9.png"/><Relationship Id="rId11" Type="http://schemas.openxmlformats.org/officeDocument/2006/relationships/image" Target="../media/image12.png"/><Relationship Id="rId10" Type="http://schemas.openxmlformats.org/officeDocument/2006/relationships/image" Target="../media/image7.png"/><Relationship Id="rId9" Type="http://schemas.openxmlformats.org/officeDocument/2006/relationships/image" Target="../media/image1.png"/><Relationship Id="rId5" Type="http://schemas.openxmlformats.org/officeDocument/2006/relationships/image" Target="../media/image3.png"/><Relationship Id="rId6" Type="http://schemas.openxmlformats.org/officeDocument/2006/relationships/image" Target="../media/image6.png"/><Relationship Id="rId7" Type="http://schemas.openxmlformats.org/officeDocument/2006/relationships/image" Target="../media/image2.png"/><Relationship Id="rId8" Type="http://schemas.openxmlformats.org/officeDocument/2006/relationships/image" Target="../media/image1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5.xml"/><Relationship Id="rId3" Type="http://schemas.openxmlformats.org/officeDocument/2006/relationships/image" Target="../media/image14.png"/><Relationship Id="rId4" Type="http://schemas.openxmlformats.org/officeDocument/2006/relationships/image" Target="../media/image11.png"/><Relationship Id="rId9" Type="http://schemas.openxmlformats.org/officeDocument/2006/relationships/image" Target="../media/image47.png"/><Relationship Id="rId5" Type="http://schemas.openxmlformats.org/officeDocument/2006/relationships/image" Target="../media/image5.png"/><Relationship Id="rId6" Type="http://schemas.openxmlformats.org/officeDocument/2006/relationships/image" Target="../media/image48.png"/><Relationship Id="rId7" Type="http://schemas.openxmlformats.org/officeDocument/2006/relationships/image" Target="../media/image4.png"/><Relationship Id="rId8"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6.xml"/><Relationship Id="rId3" Type="http://schemas.openxmlformats.org/officeDocument/2006/relationships/image" Target="../media/image20.png"/><Relationship Id="rId4" Type="http://schemas.openxmlformats.org/officeDocument/2006/relationships/image" Target="../media/image16.png"/><Relationship Id="rId5" Type="http://schemas.openxmlformats.org/officeDocument/2006/relationships/image" Target="../media/image5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7.xml"/><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26.png"/><Relationship Id="rId6" Type="http://schemas.openxmlformats.org/officeDocument/2006/relationships/image" Target="../media/image34.png"/></Relationships>
</file>

<file path=ppt/slides/_rels/slide8.xml.rels><?xml version="1.0" encoding="UTF-8" standalone="yes"?><Relationships xmlns="http://schemas.openxmlformats.org/package/2006/relationships"><Relationship Id="rId11" Type="http://schemas.openxmlformats.org/officeDocument/2006/relationships/image" Target="../media/image46.png"/><Relationship Id="rId10" Type="http://schemas.openxmlformats.org/officeDocument/2006/relationships/image" Target="../media/image39.png"/><Relationship Id="rId13" Type="http://schemas.openxmlformats.org/officeDocument/2006/relationships/image" Target="../media/image35.png"/><Relationship Id="rId12" Type="http://schemas.openxmlformats.org/officeDocument/2006/relationships/image" Target="../media/image65.png"/><Relationship Id="rId1" Type="http://schemas.openxmlformats.org/officeDocument/2006/relationships/slideLayout" Target="../slideLayouts/slideLayout24.xml"/><Relationship Id="rId2" Type="http://schemas.openxmlformats.org/officeDocument/2006/relationships/notesSlide" Target="../notesSlides/notesSlide8.xml"/><Relationship Id="rId3" Type="http://schemas.openxmlformats.org/officeDocument/2006/relationships/image" Target="../media/image27.png"/><Relationship Id="rId4" Type="http://schemas.openxmlformats.org/officeDocument/2006/relationships/image" Target="../media/image18.png"/><Relationship Id="rId9" Type="http://schemas.openxmlformats.org/officeDocument/2006/relationships/image" Target="../media/image24.png"/><Relationship Id="rId15" Type="http://schemas.openxmlformats.org/officeDocument/2006/relationships/image" Target="../media/image38.png"/><Relationship Id="rId14" Type="http://schemas.openxmlformats.org/officeDocument/2006/relationships/image" Target="../media/image31.png"/><Relationship Id="rId16" Type="http://schemas.openxmlformats.org/officeDocument/2006/relationships/image" Target="../media/image36.png"/><Relationship Id="rId5" Type="http://schemas.openxmlformats.org/officeDocument/2006/relationships/image" Target="../media/image25.png"/><Relationship Id="rId6" Type="http://schemas.openxmlformats.org/officeDocument/2006/relationships/image" Target="../media/image21.png"/><Relationship Id="rId7" Type="http://schemas.openxmlformats.org/officeDocument/2006/relationships/image" Target="../media/image30.png"/><Relationship Id="rId8" Type="http://schemas.openxmlformats.org/officeDocument/2006/relationships/image" Target="../media/image32.png"/></Relationships>
</file>

<file path=ppt/slides/_rels/slide9.xml.rels><?xml version="1.0" encoding="UTF-8" standalone="yes"?><Relationships xmlns="http://schemas.openxmlformats.org/package/2006/relationships"><Relationship Id="rId11" Type="http://schemas.openxmlformats.org/officeDocument/2006/relationships/image" Target="../media/image49.png"/><Relationship Id="rId10" Type="http://schemas.openxmlformats.org/officeDocument/2006/relationships/image" Target="../media/image44.png"/><Relationship Id="rId12" Type="http://schemas.openxmlformats.org/officeDocument/2006/relationships/image" Target="../media/image52.png"/><Relationship Id="rId1" Type="http://schemas.openxmlformats.org/officeDocument/2006/relationships/slideLayout" Target="../slideLayouts/slideLayout24.xml"/><Relationship Id="rId2" Type="http://schemas.openxmlformats.org/officeDocument/2006/relationships/notesSlide" Target="../notesSlides/notesSlide9.xml"/><Relationship Id="rId3" Type="http://schemas.openxmlformats.org/officeDocument/2006/relationships/image" Target="../media/image18.png"/><Relationship Id="rId4" Type="http://schemas.openxmlformats.org/officeDocument/2006/relationships/image" Target="../media/image37.png"/><Relationship Id="rId9" Type="http://schemas.openxmlformats.org/officeDocument/2006/relationships/image" Target="../media/image33.png"/><Relationship Id="rId5" Type="http://schemas.openxmlformats.org/officeDocument/2006/relationships/image" Target="../media/image50.png"/><Relationship Id="rId6" Type="http://schemas.openxmlformats.org/officeDocument/2006/relationships/image" Target="../media/image41.png"/><Relationship Id="rId7" Type="http://schemas.openxmlformats.org/officeDocument/2006/relationships/image" Target="../media/image24.png"/><Relationship Id="rId8" Type="http://schemas.openxmlformats.org/officeDocument/2006/relationships/image" Target="../media/image5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4.xml"/><Relationship Id="rId3" Type="http://schemas.openxmlformats.org/officeDocument/2006/relationships/image" Target="../media/image43.png"/><Relationship Id="rId4" Type="http://schemas.openxmlformats.org/officeDocument/2006/relationships/image" Target="../media/image42.png"/><Relationship Id="rId5" Type="http://schemas.openxmlformats.org/officeDocument/2006/relationships/image" Target="../media/image40.png"/><Relationship Id="rId6" Type="http://schemas.openxmlformats.org/officeDocument/2006/relationships/image" Target="../media/image45.png"/><Relationship Id="rId7" Type="http://schemas.openxmlformats.org/officeDocument/2006/relationships/image" Target="../media/image77.png"/><Relationship Id="rId8" Type="http://schemas.openxmlformats.org/officeDocument/2006/relationships/image" Target="../media/image5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6.xml"/><Relationship Id="rId3" Type="http://schemas.openxmlformats.org/officeDocument/2006/relationships/image" Target="../media/image62.png"/><Relationship Id="rId4" Type="http://schemas.openxmlformats.org/officeDocument/2006/relationships/image" Target="../media/image5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7.xml"/><Relationship Id="rId3" Type="http://schemas.openxmlformats.org/officeDocument/2006/relationships/image" Target="../media/image62.png"/><Relationship Id="rId4" Type="http://schemas.openxmlformats.org/officeDocument/2006/relationships/image" Target="../media/image61.png"/><Relationship Id="rId5" Type="http://schemas.openxmlformats.org/officeDocument/2006/relationships/image" Target="../media/image54.png"/><Relationship Id="rId6" Type="http://schemas.openxmlformats.org/officeDocument/2006/relationships/image" Target="../media/image6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8.xml"/><Relationship Id="rId3" Type="http://schemas.openxmlformats.org/officeDocument/2006/relationships/image" Target="../media/image62.png"/><Relationship Id="rId4" Type="http://schemas.openxmlformats.org/officeDocument/2006/relationships/image" Target="../media/image60.png"/><Relationship Id="rId5" Type="http://schemas.openxmlformats.org/officeDocument/2006/relationships/image" Target="../media/image71.png"/><Relationship Id="rId6" Type="http://schemas.openxmlformats.org/officeDocument/2006/relationships/image" Target="../media/image6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9.xml"/><Relationship Id="rId3" Type="http://schemas.openxmlformats.org/officeDocument/2006/relationships/image" Target="../media/image62.png"/><Relationship Id="rId4" Type="http://schemas.openxmlformats.org/officeDocument/2006/relationships/image" Target="../media/image58.png"/><Relationship Id="rId5" Type="http://schemas.openxmlformats.org/officeDocument/2006/relationships/image" Target="../media/image56.png"/><Relationship Id="rId6" Type="http://schemas.openxmlformats.org/officeDocument/2006/relationships/image" Target="../media/image5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0.xml"/><Relationship Id="rId3" Type="http://schemas.openxmlformats.org/officeDocument/2006/relationships/image" Target="../media/image62.png"/><Relationship Id="rId4" Type="http://schemas.openxmlformats.org/officeDocument/2006/relationships/image" Target="../media/image69.png"/><Relationship Id="rId5" Type="http://schemas.openxmlformats.org/officeDocument/2006/relationships/image" Target="../media/image67.png"/><Relationship Id="rId6" Type="http://schemas.openxmlformats.org/officeDocument/2006/relationships/image" Target="../media/image6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1.xml"/><Relationship Id="rId3" Type="http://schemas.openxmlformats.org/officeDocument/2006/relationships/image" Target="../media/image62.png"/><Relationship Id="rId4" Type="http://schemas.openxmlformats.org/officeDocument/2006/relationships/image" Target="../media/image74.png"/><Relationship Id="rId5" Type="http://schemas.openxmlformats.org/officeDocument/2006/relationships/image" Target="../media/image73.png"/><Relationship Id="rId6" Type="http://schemas.openxmlformats.org/officeDocument/2006/relationships/image" Target="../media/image70.png"/><Relationship Id="rId7" Type="http://schemas.openxmlformats.org/officeDocument/2006/relationships/image" Target="../media/image9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2.xml"/><Relationship Id="rId3" Type="http://schemas.openxmlformats.org/officeDocument/2006/relationships/image" Target="../media/image62.png"/><Relationship Id="rId4" Type="http://schemas.openxmlformats.org/officeDocument/2006/relationships/image" Target="../media/image80.png"/><Relationship Id="rId9" Type="http://schemas.openxmlformats.org/officeDocument/2006/relationships/image" Target="../media/image59.png"/><Relationship Id="rId5" Type="http://schemas.openxmlformats.org/officeDocument/2006/relationships/image" Target="../media/image75.png"/><Relationship Id="rId6" Type="http://schemas.openxmlformats.org/officeDocument/2006/relationships/image" Target="../media/image79.png"/><Relationship Id="rId7" Type="http://schemas.openxmlformats.org/officeDocument/2006/relationships/image" Target="../media/image76.png"/><Relationship Id="rId8" Type="http://schemas.openxmlformats.org/officeDocument/2006/relationships/image" Target="../media/image6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3.xml"/><Relationship Id="rId3" Type="http://schemas.openxmlformats.org/officeDocument/2006/relationships/image" Target="../media/image62.png"/><Relationship Id="rId4" Type="http://schemas.openxmlformats.org/officeDocument/2006/relationships/image" Target="../media/image85.png"/><Relationship Id="rId5" Type="http://schemas.openxmlformats.org/officeDocument/2006/relationships/image" Target="../media/image66.png"/><Relationship Id="rId6" Type="http://schemas.openxmlformats.org/officeDocument/2006/relationships/image" Target="../media/image90.png"/><Relationship Id="rId7" Type="http://schemas.openxmlformats.org/officeDocument/2006/relationships/image" Target="../media/image72.png"/><Relationship Id="rId8" Type="http://schemas.openxmlformats.org/officeDocument/2006/relationships/image" Target="../media/image68.png"/></Relationships>
</file>

<file path=ppt/slides/_rels/slide34.xml.rels><?xml version="1.0" encoding="UTF-8" standalone="yes"?><Relationships xmlns="http://schemas.openxmlformats.org/package/2006/relationships"><Relationship Id="rId10" Type="http://schemas.openxmlformats.org/officeDocument/2006/relationships/image" Target="../media/image90.png"/><Relationship Id="rId1" Type="http://schemas.openxmlformats.org/officeDocument/2006/relationships/slideLayout" Target="../slideLayouts/slideLayout24.xml"/><Relationship Id="rId2" Type="http://schemas.openxmlformats.org/officeDocument/2006/relationships/notesSlide" Target="../notesSlides/notesSlide34.xml"/><Relationship Id="rId3" Type="http://schemas.openxmlformats.org/officeDocument/2006/relationships/image" Target="../media/image62.png"/><Relationship Id="rId4" Type="http://schemas.openxmlformats.org/officeDocument/2006/relationships/image" Target="../media/image78.png"/><Relationship Id="rId9" Type="http://schemas.openxmlformats.org/officeDocument/2006/relationships/image" Target="../media/image59.png"/><Relationship Id="rId5" Type="http://schemas.openxmlformats.org/officeDocument/2006/relationships/image" Target="../media/image54.png"/><Relationship Id="rId6" Type="http://schemas.openxmlformats.org/officeDocument/2006/relationships/image" Target="../media/image92.png"/><Relationship Id="rId7" Type="http://schemas.openxmlformats.org/officeDocument/2006/relationships/image" Target="../media/image89.png"/><Relationship Id="rId8" Type="http://schemas.openxmlformats.org/officeDocument/2006/relationships/image" Target="../media/image6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5.xml"/><Relationship Id="rId3" Type="http://schemas.openxmlformats.org/officeDocument/2006/relationships/image" Target="../media/image62.png"/><Relationship Id="rId4" Type="http://schemas.openxmlformats.org/officeDocument/2006/relationships/image" Target="../media/image99.png"/><Relationship Id="rId9" Type="http://schemas.openxmlformats.org/officeDocument/2006/relationships/image" Target="../media/image82.png"/><Relationship Id="rId5" Type="http://schemas.openxmlformats.org/officeDocument/2006/relationships/image" Target="../media/image81.png"/><Relationship Id="rId6" Type="http://schemas.openxmlformats.org/officeDocument/2006/relationships/image" Target="../media/image96.png"/><Relationship Id="rId7" Type="http://schemas.openxmlformats.org/officeDocument/2006/relationships/image" Target="../media/image91.png"/><Relationship Id="rId8" Type="http://schemas.openxmlformats.org/officeDocument/2006/relationships/image" Target="../media/image8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1" Type="http://schemas.openxmlformats.org/officeDocument/2006/relationships/image" Target="../media/image97.png"/><Relationship Id="rId10" Type="http://schemas.openxmlformats.org/officeDocument/2006/relationships/image" Target="../media/image93.png"/><Relationship Id="rId1" Type="http://schemas.openxmlformats.org/officeDocument/2006/relationships/slideLayout" Target="../slideLayouts/slideLayout23.xml"/><Relationship Id="rId2" Type="http://schemas.openxmlformats.org/officeDocument/2006/relationships/notesSlide" Target="../notesSlides/notesSlide39.xml"/><Relationship Id="rId3" Type="http://schemas.openxmlformats.org/officeDocument/2006/relationships/image" Target="../media/image87.png"/><Relationship Id="rId4" Type="http://schemas.openxmlformats.org/officeDocument/2006/relationships/image" Target="../media/image98.png"/><Relationship Id="rId9" Type="http://schemas.openxmlformats.org/officeDocument/2006/relationships/image" Target="../media/image95.png"/><Relationship Id="rId5" Type="http://schemas.openxmlformats.org/officeDocument/2006/relationships/image" Target="../media/image83.png"/><Relationship Id="rId6" Type="http://schemas.openxmlformats.org/officeDocument/2006/relationships/image" Target="../media/image84.png"/><Relationship Id="rId7" Type="http://schemas.openxmlformats.org/officeDocument/2006/relationships/image" Target="../media/image88.png"/><Relationship Id="rId8" Type="http://schemas.openxmlformats.org/officeDocument/2006/relationships/image" Target="../media/image9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260" name="Shape 260"/>
        <p:cNvGrpSpPr/>
        <p:nvPr/>
      </p:nvGrpSpPr>
      <p:grpSpPr>
        <a:xfrm>
          <a:off x="0" y="0"/>
          <a:ext cx="0" cy="0"/>
          <a:chOff x="0" y="0"/>
          <a:chExt cx="0" cy="0"/>
        </a:xfrm>
      </p:grpSpPr>
      <p:pic>
        <p:nvPicPr>
          <p:cNvPr descr="image.png" id="261" name="Google Shape;261;g3ee9487a86e_1_109"/>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62" name="Google Shape;262;g3ee9487a86e_1_109"/>
          <p:cNvPicPr preferRelativeResize="0"/>
          <p:nvPr/>
        </p:nvPicPr>
        <p:blipFill rotWithShape="1">
          <a:blip r:embed="rId4">
            <a:alphaModFix/>
          </a:blip>
          <a:srcRect b="0" l="0" r="0" t="0"/>
          <a:stretch/>
        </p:blipFill>
        <p:spPr>
          <a:xfrm>
            <a:off x="5143500" y="833437"/>
            <a:ext cx="1905000" cy="1905000"/>
          </a:xfrm>
          <a:prstGeom prst="rect">
            <a:avLst/>
          </a:prstGeom>
          <a:noFill/>
          <a:ln>
            <a:noFill/>
          </a:ln>
        </p:spPr>
      </p:pic>
      <p:sp>
        <p:nvSpPr>
          <p:cNvPr id="263" name="Google Shape;263;g3ee9487a86e_1_109"/>
          <p:cNvSpPr txBox="1"/>
          <p:nvPr/>
        </p:nvSpPr>
        <p:spPr>
          <a:xfrm>
            <a:off x="1201700" y="3167050"/>
            <a:ext cx="9820800" cy="1108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7200"/>
              <a:buFont typeface="Arial"/>
              <a:buNone/>
            </a:pPr>
            <a:r>
              <a:rPr b="1" i="0" lang="ko-KR" sz="7200" u="none" cap="none" strike="noStrike">
                <a:solidFill>
                  <a:srgbClr val="F8FAFC"/>
                </a:solidFill>
                <a:latin typeface="Urbanist"/>
                <a:ea typeface="Urbanist"/>
                <a:cs typeface="Urbanist"/>
                <a:sym typeface="Urbanist"/>
              </a:rPr>
              <a:t>CodeFab Interpreter</a:t>
            </a:r>
            <a:endParaRPr b="0" i="0" sz="1400" u="none" cap="none" strike="noStrike">
              <a:solidFill>
                <a:srgbClr val="000000"/>
              </a:solidFill>
              <a:latin typeface="Arial"/>
              <a:ea typeface="Arial"/>
              <a:cs typeface="Arial"/>
              <a:sym typeface="Arial"/>
            </a:endParaRPr>
          </a:p>
        </p:txBody>
      </p:sp>
      <p:sp>
        <p:nvSpPr>
          <p:cNvPr id="264" name="Google Shape;264;g3ee9487a86e_1_109"/>
          <p:cNvSpPr txBox="1"/>
          <p:nvPr/>
        </p:nvSpPr>
        <p:spPr>
          <a:xfrm>
            <a:off x="4185761" y="4414837"/>
            <a:ext cx="3820500" cy="3693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2400"/>
              <a:buFont typeface="Arial"/>
              <a:buNone/>
            </a:pPr>
            <a:r>
              <a:rPr b="1" i="0" lang="ko-KR" sz="2400" u="none" cap="none" strike="noStrike">
                <a:solidFill>
                  <a:srgbClr val="14B8A6"/>
                </a:solidFill>
                <a:latin typeface="Urbanist"/>
                <a:ea typeface="Urbanist"/>
                <a:cs typeface="Urbanist"/>
                <a:sym typeface="Urbanist"/>
              </a:rPr>
              <a:t>D팀 DON'T TOUCH</a:t>
            </a:r>
            <a:endParaRPr b="0" i="0" sz="1400" u="none" cap="none" strike="noStrike">
              <a:solidFill>
                <a:srgbClr val="000000"/>
              </a:solidFill>
              <a:latin typeface="Arial"/>
              <a:ea typeface="Arial"/>
              <a:cs typeface="Arial"/>
              <a:sym typeface="Arial"/>
            </a:endParaRPr>
          </a:p>
        </p:txBody>
      </p:sp>
      <p:sp>
        <p:nvSpPr>
          <p:cNvPr id="265" name="Google Shape;265;g3ee9487a86e_1_109"/>
          <p:cNvSpPr/>
          <p:nvPr/>
        </p:nvSpPr>
        <p:spPr>
          <a:xfrm>
            <a:off x="3848100" y="4957762"/>
            <a:ext cx="4495800" cy="9600"/>
          </a:xfrm>
          <a:prstGeom prst="rect">
            <a:avLst/>
          </a:prstGeom>
          <a:solidFill>
            <a:srgbClr val="14B8A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6" name="Google Shape;266;g3ee9487a86e_1_109"/>
          <p:cNvSpPr/>
          <p:nvPr/>
        </p:nvSpPr>
        <p:spPr>
          <a:xfrm>
            <a:off x="3848100" y="4319587"/>
            <a:ext cx="4495800" cy="9600"/>
          </a:xfrm>
          <a:prstGeom prst="rect">
            <a:avLst/>
          </a:prstGeom>
          <a:solidFill>
            <a:srgbClr val="14B8A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7" name="Google Shape;267;g3ee9487a86e_1_109"/>
          <p:cNvSpPr/>
          <p:nvPr/>
        </p:nvSpPr>
        <p:spPr>
          <a:xfrm>
            <a:off x="5022575" y="712512"/>
            <a:ext cx="2146800" cy="2146800"/>
          </a:xfrm>
          <a:prstGeom prst="roundRect">
            <a:avLst>
              <a:gd fmla="val 22183" name="adj"/>
            </a:avLst>
          </a:prstGeom>
          <a:noFill/>
          <a:ln cap="flat" cmpd="sng" w="9525">
            <a:solidFill>
              <a:srgbClr val="14B8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image.png" id="268" name="Google Shape;268;g3ee9487a86e_1_109"/>
          <p:cNvPicPr preferRelativeResize="0"/>
          <p:nvPr/>
        </p:nvPicPr>
        <p:blipFill rotWithShape="1">
          <a:blip r:embed="rId5">
            <a:alphaModFix/>
          </a:blip>
          <a:srcRect b="0" l="0" r="0" t="0"/>
          <a:stretch/>
        </p:blipFill>
        <p:spPr>
          <a:xfrm>
            <a:off x="5619750" y="1309687"/>
            <a:ext cx="952500" cy="952500"/>
          </a:xfrm>
          <a:prstGeom prst="rect">
            <a:avLst/>
          </a:prstGeom>
          <a:noFill/>
          <a:ln>
            <a:noFill/>
          </a:ln>
        </p:spPr>
      </p:pic>
      <p:sp>
        <p:nvSpPr>
          <p:cNvPr id="269" name="Google Shape;269;g3ee9487a86e_1_109"/>
          <p:cNvSpPr txBox="1"/>
          <p:nvPr/>
        </p:nvSpPr>
        <p:spPr>
          <a:xfrm>
            <a:off x="3857625" y="5776912"/>
            <a:ext cx="857400" cy="207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350"/>
              <a:buFont typeface="Arial"/>
              <a:buNone/>
            </a:pPr>
            <a:r>
              <a:rPr b="0" i="0" lang="ko-KR" sz="1350" u="none" cap="none" strike="noStrike">
                <a:solidFill>
                  <a:srgbClr val="CBD5E1"/>
                </a:solidFill>
                <a:latin typeface="Noto Sans KR"/>
                <a:ea typeface="Noto Sans KR"/>
                <a:cs typeface="Noto Sans KR"/>
                <a:sym typeface="Noto Sans KR"/>
              </a:rPr>
              <a:t>2026.06.09</a:t>
            </a:r>
            <a:endParaRPr b="0" i="0" sz="1400" u="none" cap="none" strike="noStrike">
              <a:solidFill>
                <a:srgbClr val="000000"/>
              </a:solidFill>
              <a:latin typeface="Arial"/>
              <a:ea typeface="Arial"/>
              <a:cs typeface="Arial"/>
              <a:sym typeface="Arial"/>
            </a:endParaRPr>
          </a:p>
        </p:txBody>
      </p:sp>
      <p:sp>
        <p:nvSpPr>
          <p:cNvPr id="270" name="Google Shape;270;g3ee9487a86e_1_109"/>
          <p:cNvSpPr/>
          <p:nvPr/>
        </p:nvSpPr>
        <p:spPr>
          <a:xfrm>
            <a:off x="4905375" y="5824537"/>
            <a:ext cx="9600" cy="152400"/>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1" name="Google Shape;271;g3ee9487a86e_1_109"/>
          <p:cNvSpPr txBox="1"/>
          <p:nvPr/>
        </p:nvSpPr>
        <p:spPr>
          <a:xfrm>
            <a:off x="4691019" y="5776900"/>
            <a:ext cx="4062900" cy="207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350"/>
              <a:buFont typeface="Arial"/>
              <a:buNone/>
            </a:pPr>
            <a:r>
              <a:rPr b="0" i="0" lang="ko-KR" sz="1350" u="none" cap="none" strike="noStrike">
                <a:solidFill>
                  <a:srgbClr val="94A3B8"/>
                </a:solidFill>
                <a:latin typeface="Noto Sans KR"/>
                <a:ea typeface="Noto Sans KR"/>
                <a:cs typeface="Noto Sans KR"/>
                <a:sym typeface="Noto Sans KR"/>
              </a:rPr>
              <a:t>CRA(Code Review Agent) 과정 팀 프로젝트</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g3ee9487a86e_8_0"/>
          <p:cNvSpPr/>
          <p:nvPr/>
        </p:nvSpPr>
        <p:spPr>
          <a:xfrm>
            <a:off x="0" y="0"/>
            <a:ext cx="12192002" cy="6858000"/>
          </a:xfrm>
          <a:prstGeom prst="rect">
            <a:avLst/>
          </a:prstGeom>
          <a:solidFill>
            <a:srgbClr val="F8FAF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7" name="Google Shape;277;g3ee9487a86e_8_0"/>
          <p:cNvSpPr/>
          <p:nvPr/>
        </p:nvSpPr>
        <p:spPr>
          <a:xfrm>
            <a:off x="0" y="0"/>
            <a:ext cx="3841441" cy="6858000"/>
          </a:xfrm>
          <a:prstGeom prst="rect">
            <a:avLst/>
          </a:prstGeom>
          <a:solidFill>
            <a:srgbClr val="0F172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8" name="Google Shape;278;g3ee9487a86e_8_0"/>
          <p:cNvSpPr txBox="1"/>
          <p:nvPr/>
        </p:nvSpPr>
        <p:spPr>
          <a:xfrm>
            <a:off x="503046" y="2377440"/>
            <a:ext cx="2835349" cy="7315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1" i="0" lang="ko-KR" sz="4000" u="none" cap="none" strike="noStrike">
                <a:solidFill>
                  <a:srgbClr val="FFFFFF"/>
                </a:solidFill>
                <a:latin typeface="Calibri"/>
                <a:ea typeface="Calibri"/>
                <a:cs typeface="Calibri"/>
                <a:sym typeface="Calibri"/>
              </a:rPr>
              <a:t>목  차</a:t>
            </a:r>
            <a:endParaRPr b="0" i="0" sz="1400" u="none" cap="none" strike="noStrike">
              <a:solidFill>
                <a:srgbClr val="000000"/>
              </a:solidFill>
              <a:latin typeface="Arial"/>
              <a:ea typeface="Arial"/>
              <a:cs typeface="Arial"/>
              <a:sym typeface="Arial"/>
            </a:endParaRPr>
          </a:p>
        </p:txBody>
      </p:sp>
      <p:sp>
        <p:nvSpPr>
          <p:cNvPr id="279" name="Google Shape;279;g3ee9487a86e_8_0"/>
          <p:cNvSpPr txBox="1"/>
          <p:nvPr/>
        </p:nvSpPr>
        <p:spPr>
          <a:xfrm>
            <a:off x="503046" y="3182112"/>
            <a:ext cx="2835349"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ko-KR" sz="1200" u="none" cap="none" strike="noStrike">
                <a:solidFill>
                  <a:srgbClr val="64748B"/>
                </a:solidFill>
                <a:latin typeface="Calibri"/>
                <a:ea typeface="Calibri"/>
                <a:cs typeface="Calibri"/>
                <a:sym typeface="Calibri"/>
              </a:rPr>
              <a:t>TABLE OF CONTENTS</a:t>
            </a:r>
            <a:endParaRPr b="0" i="0" sz="1400" u="none" cap="none" strike="noStrike">
              <a:solidFill>
                <a:srgbClr val="000000"/>
              </a:solidFill>
              <a:latin typeface="Arial"/>
              <a:ea typeface="Arial"/>
              <a:cs typeface="Arial"/>
              <a:sym typeface="Arial"/>
            </a:endParaRPr>
          </a:p>
        </p:txBody>
      </p:sp>
      <p:sp>
        <p:nvSpPr>
          <p:cNvPr id="280" name="Google Shape;280;g3ee9487a86e_8_0"/>
          <p:cNvSpPr txBox="1"/>
          <p:nvPr/>
        </p:nvSpPr>
        <p:spPr>
          <a:xfrm>
            <a:off x="503046" y="6217920"/>
            <a:ext cx="2835349"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ko-KR" sz="1200" u="none" cap="none" strike="noStrike">
                <a:solidFill>
                  <a:srgbClr val="475569"/>
                </a:solidFill>
                <a:latin typeface="Calibri"/>
                <a:ea typeface="Calibri"/>
                <a:cs typeface="Calibri"/>
                <a:sym typeface="Calibri"/>
              </a:rPr>
              <a:t>Team  Don't Touch</a:t>
            </a:r>
            <a:endParaRPr b="0" i="0" sz="1400" u="none" cap="none" strike="noStrike">
              <a:solidFill>
                <a:srgbClr val="000000"/>
              </a:solidFill>
              <a:latin typeface="Arial"/>
              <a:ea typeface="Arial"/>
              <a:cs typeface="Arial"/>
              <a:sym typeface="Arial"/>
            </a:endParaRPr>
          </a:p>
        </p:txBody>
      </p:sp>
      <p:sp>
        <p:nvSpPr>
          <p:cNvPr id="281" name="Google Shape;281;g3ee9487a86e_8_0"/>
          <p:cNvSpPr/>
          <p:nvPr/>
        </p:nvSpPr>
        <p:spPr>
          <a:xfrm>
            <a:off x="3786563" y="0"/>
            <a:ext cx="54878" cy="1714500"/>
          </a:xfrm>
          <a:prstGeom prst="rect">
            <a:avLst/>
          </a:prstGeom>
          <a:solidFill>
            <a:srgbClr val="47556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2" name="Google Shape;282;g3ee9487a86e_8_0"/>
          <p:cNvSpPr/>
          <p:nvPr/>
        </p:nvSpPr>
        <p:spPr>
          <a:xfrm>
            <a:off x="3786563" y="1714500"/>
            <a:ext cx="54878" cy="1714500"/>
          </a:xfrm>
          <a:prstGeom prst="rect">
            <a:avLst/>
          </a:prstGeom>
          <a:solidFill>
            <a:srgbClr val="2563E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3" name="Google Shape;283;g3ee9487a86e_8_0"/>
          <p:cNvSpPr/>
          <p:nvPr/>
        </p:nvSpPr>
        <p:spPr>
          <a:xfrm>
            <a:off x="3786563" y="3429000"/>
            <a:ext cx="54878" cy="1714500"/>
          </a:xfrm>
          <a:prstGeom prst="rect">
            <a:avLst/>
          </a:prstGeom>
          <a:solidFill>
            <a:srgbClr val="4F46E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4" name="Google Shape;284;g3ee9487a86e_8_0"/>
          <p:cNvSpPr/>
          <p:nvPr/>
        </p:nvSpPr>
        <p:spPr>
          <a:xfrm>
            <a:off x="3786563" y="5143500"/>
            <a:ext cx="54878" cy="1714500"/>
          </a:xfrm>
          <a:prstGeom prst="rect">
            <a:avLst/>
          </a:prstGeom>
          <a:solidFill>
            <a:srgbClr val="0D948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5" name="Google Shape;285;g3ee9487a86e_8_0"/>
          <p:cNvSpPr/>
          <p:nvPr/>
        </p:nvSpPr>
        <p:spPr>
          <a:xfrm>
            <a:off x="4344487" y="809244"/>
            <a:ext cx="475607" cy="475488"/>
          </a:xfrm>
          <a:prstGeom prst="rect">
            <a:avLst/>
          </a:prstGeom>
          <a:solidFill>
            <a:srgbClr val="47556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6" name="Google Shape;286;g3ee9487a86e_8_0"/>
          <p:cNvSpPr txBox="1"/>
          <p:nvPr/>
        </p:nvSpPr>
        <p:spPr>
          <a:xfrm>
            <a:off x="4344487" y="809244"/>
            <a:ext cx="475607" cy="4754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ko-KR" sz="1400" u="none" cap="none" strike="noStrike">
                <a:solidFill>
                  <a:srgbClr val="FFFFFF"/>
                </a:solidFill>
                <a:latin typeface="Calibri"/>
                <a:ea typeface="Calibri"/>
                <a:cs typeface="Calibri"/>
                <a:sym typeface="Calibri"/>
              </a:rPr>
              <a:t>01</a:t>
            </a:r>
            <a:endParaRPr b="0" i="0" sz="1400" u="none" cap="none" strike="noStrike">
              <a:solidFill>
                <a:srgbClr val="000000"/>
              </a:solidFill>
              <a:latin typeface="Arial"/>
              <a:ea typeface="Arial"/>
              <a:cs typeface="Arial"/>
              <a:sym typeface="Arial"/>
            </a:endParaRPr>
          </a:p>
        </p:txBody>
      </p:sp>
      <p:sp>
        <p:nvSpPr>
          <p:cNvPr id="287" name="Google Shape;287;g3ee9487a86e_8_0"/>
          <p:cNvSpPr/>
          <p:nvPr/>
        </p:nvSpPr>
        <p:spPr>
          <a:xfrm>
            <a:off x="4929849" y="1028700"/>
            <a:ext cx="6942033" cy="18288"/>
          </a:xfrm>
          <a:prstGeom prst="rect">
            <a:avLst/>
          </a:prstGeom>
          <a:solidFill>
            <a:srgbClr val="E2E8F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8" name="Google Shape;288;g3ee9487a86e_8_0"/>
          <p:cNvSpPr txBox="1"/>
          <p:nvPr/>
        </p:nvSpPr>
        <p:spPr>
          <a:xfrm>
            <a:off x="4984727" y="790956"/>
            <a:ext cx="6887155" cy="51206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ko-KR" sz="2000" u="none" cap="none" strike="noStrike">
                <a:solidFill>
                  <a:srgbClr val="0F172A"/>
                </a:solidFill>
                <a:latin typeface="Calibri"/>
                <a:ea typeface="Calibri"/>
                <a:cs typeface="Calibri"/>
                <a:sym typeface="Calibri"/>
              </a:rPr>
              <a:t>조원 소개 및 역할</a:t>
            </a:r>
            <a:endParaRPr b="0" i="0" sz="1400" u="none" cap="none" strike="noStrike">
              <a:solidFill>
                <a:srgbClr val="000000"/>
              </a:solidFill>
              <a:latin typeface="Arial"/>
              <a:ea typeface="Arial"/>
              <a:cs typeface="Arial"/>
              <a:sym typeface="Arial"/>
            </a:endParaRPr>
          </a:p>
        </p:txBody>
      </p:sp>
      <p:sp>
        <p:nvSpPr>
          <p:cNvPr id="289" name="Google Shape;289;g3ee9487a86e_8_0"/>
          <p:cNvSpPr/>
          <p:nvPr/>
        </p:nvSpPr>
        <p:spPr>
          <a:xfrm>
            <a:off x="4344487" y="1741932"/>
            <a:ext cx="475607" cy="475488"/>
          </a:xfrm>
          <a:prstGeom prst="rect">
            <a:avLst/>
          </a:prstGeom>
          <a:solidFill>
            <a:srgbClr val="2563E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90" name="Google Shape;290;g3ee9487a86e_8_0"/>
          <p:cNvSpPr txBox="1"/>
          <p:nvPr/>
        </p:nvSpPr>
        <p:spPr>
          <a:xfrm>
            <a:off x="4344487" y="1741932"/>
            <a:ext cx="475607" cy="4754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ko-KR" sz="1400" u="none" cap="none" strike="noStrike">
                <a:solidFill>
                  <a:srgbClr val="FFFFFF"/>
                </a:solidFill>
                <a:latin typeface="Calibri"/>
                <a:ea typeface="Calibri"/>
                <a:cs typeface="Calibri"/>
                <a:sym typeface="Calibri"/>
              </a:rPr>
              <a:t>02</a:t>
            </a:r>
            <a:endParaRPr b="0" i="0" sz="1400" u="none" cap="none" strike="noStrike">
              <a:solidFill>
                <a:srgbClr val="000000"/>
              </a:solidFill>
              <a:latin typeface="Arial"/>
              <a:ea typeface="Arial"/>
              <a:cs typeface="Arial"/>
              <a:sym typeface="Arial"/>
            </a:endParaRPr>
          </a:p>
        </p:txBody>
      </p:sp>
      <p:sp>
        <p:nvSpPr>
          <p:cNvPr id="291" name="Google Shape;291;g3ee9487a86e_8_0"/>
          <p:cNvSpPr/>
          <p:nvPr/>
        </p:nvSpPr>
        <p:spPr>
          <a:xfrm>
            <a:off x="4929849" y="1961388"/>
            <a:ext cx="6942033" cy="18288"/>
          </a:xfrm>
          <a:prstGeom prst="rect">
            <a:avLst/>
          </a:prstGeom>
          <a:solidFill>
            <a:srgbClr val="E2E8F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92" name="Google Shape;292;g3ee9487a86e_8_0"/>
          <p:cNvSpPr txBox="1"/>
          <p:nvPr/>
        </p:nvSpPr>
        <p:spPr>
          <a:xfrm>
            <a:off x="4984727" y="1723644"/>
            <a:ext cx="6887155" cy="51206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ko-KR" sz="2000" u="none" cap="none" strike="noStrike">
                <a:solidFill>
                  <a:srgbClr val="0F172A"/>
                </a:solidFill>
                <a:latin typeface="Calibri"/>
                <a:ea typeface="Calibri"/>
                <a:cs typeface="Calibri"/>
                <a:sym typeface="Calibri"/>
              </a:rPr>
              <a:t>SW 구조 및 기능 소개</a:t>
            </a:r>
            <a:endParaRPr b="0" i="0" sz="1400" u="none" cap="none" strike="noStrike">
              <a:solidFill>
                <a:srgbClr val="000000"/>
              </a:solidFill>
              <a:latin typeface="Arial"/>
              <a:ea typeface="Arial"/>
              <a:cs typeface="Arial"/>
              <a:sym typeface="Arial"/>
            </a:endParaRPr>
          </a:p>
        </p:txBody>
      </p:sp>
      <p:sp>
        <p:nvSpPr>
          <p:cNvPr id="293" name="Google Shape;293;g3ee9487a86e_8_0"/>
          <p:cNvSpPr/>
          <p:nvPr/>
        </p:nvSpPr>
        <p:spPr>
          <a:xfrm>
            <a:off x="4344487" y="2674620"/>
            <a:ext cx="475607" cy="475488"/>
          </a:xfrm>
          <a:prstGeom prst="rect">
            <a:avLst/>
          </a:prstGeom>
          <a:solidFill>
            <a:srgbClr val="4F46E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94" name="Google Shape;294;g3ee9487a86e_8_0"/>
          <p:cNvSpPr txBox="1"/>
          <p:nvPr/>
        </p:nvSpPr>
        <p:spPr>
          <a:xfrm>
            <a:off x="4344487" y="2674620"/>
            <a:ext cx="475607" cy="4754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ko-KR" sz="1400" u="none" cap="none" strike="noStrike">
                <a:solidFill>
                  <a:srgbClr val="FFFFFF"/>
                </a:solidFill>
                <a:latin typeface="Calibri"/>
                <a:ea typeface="Calibri"/>
                <a:cs typeface="Calibri"/>
                <a:sym typeface="Calibri"/>
              </a:rPr>
              <a:t>03</a:t>
            </a:r>
            <a:endParaRPr b="0" i="0" sz="1400" u="none" cap="none" strike="noStrike">
              <a:solidFill>
                <a:srgbClr val="000000"/>
              </a:solidFill>
              <a:latin typeface="Arial"/>
              <a:ea typeface="Arial"/>
              <a:cs typeface="Arial"/>
              <a:sym typeface="Arial"/>
            </a:endParaRPr>
          </a:p>
        </p:txBody>
      </p:sp>
      <p:sp>
        <p:nvSpPr>
          <p:cNvPr id="295" name="Google Shape;295;g3ee9487a86e_8_0"/>
          <p:cNvSpPr/>
          <p:nvPr/>
        </p:nvSpPr>
        <p:spPr>
          <a:xfrm>
            <a:off x="4929849" y="2894076"/>
            <a:ext cx="6942033" cy="18288"/>
          </a:xfrm>
          <a:prstGeom prst="rect">
            <a:avLst/>
          </a:prstGeom>
          <a:solidFill>
            <a:srgbClr val="E2E8F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96" name="Google Shape;296;g3ee9487a86e_8_0"/>
          <p:cNvSpPr txBox="1"/>
          <p:nvPr/>
        </p:nvSpPr>
        <p:spPr>
          <a:xfrm>
            <a:off x="4984727" y="2656332"/>
            <a:ext cx="6887155" cy="51206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ko-KR" sz="2000" u="none" cap="none" strike="noStrike">
                <a:solidFill>
                  <a:srgbClr val="0F172A"/>
                </a:solidFill>
                <a:latin typeface="Calibri"/>
                <a:ea typeface="Calibri"/>
                <a:cs typeface="Calibri"/>
                <a:sym typeface="Calibri"/>
              </a:rPr>
              <a:t>BP 사례 소개</a:t>
            </a:r>
            <a:endParaRPr b="0" i="0" sz="1400" u="none" cap="none" strike="noStrike">
              <a:solidFill>
                <a:srgbClr val="000000"/>
              </a:solidFill>
              <a:latin typeface="Arial"/>
              <a:ea typeface="Arial"/>
              <a:cs typeface="Arial"/>
              <a:sym typeface="Arial"/>
            </a:endParaRPr>
          </a:p>
        </p:txBody>
      </p:sp>
      <p:sp>
        <p:nvSpPr>
          <p:cNvPr id="297" name="Google Shape;297;g3ee9487a86e_8_0"/>
          <p:cNvSpPr/>
          <p:nvPr/>
        </p:nvSpPr>
        <p:spPr>
          <a:xfrm>
            <a:off x="5131068" y="3442716"/>
            <a:ext cx="36585" cy="219456"/>
          </a:xfrm>
          <a:prstGeom prst="rect">
            <a:avLst/>
          </a:prstGeom>
          <a:solidFill>
            <a:srgbClr val="4F46E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98" name="Google Shape;298;g3ee9487a86e_8_0"/>
          <p:cNvSpPr txBox="1"/>
          <p:nvPr/>
        </p:nvSpPr>
        <p:spPr>
          <a:xfrm>
            <a:off x="5277408" y="3424428"/>
            <a:ext cx="6594474" cy="3291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0" i="0" lang="ko-KR" sz="1300" u="none" cap="none" strike="noStrike">
                <a:solidFill>
                  <a:srgbClr val="4F46E5"/>
                </a:solidFill>
                <a:latin typeface="Calibri"/>
                <a:ea typeface="Calibri"/>
                <a:cs typeface="Calibri"/>
                <a:sym typeface="Calibri"/>
              </a:rPr>
              <a:t>1)  Refactoring 사례</a:t>
            </a:r>
            <a:endParaRPr b="0" i="0" sz="1400" u="none" cap="none" strike="noStrike">
              <a:solidFill>
                <a:srgbClr val="000000"/>
              </a:solidFill>
              <a:latin typeface="Arial"/>
              <a:ea typeface="Arial"/>
              <a:cs typeface="Arial"/>
              <a:sym typeface="Arial"/>
            </a:endParaRPr>
          </a:p>
        </p:txBody>
      </p:sp>
      <p:sp>
        <p:nvSpPr>
          <p:cNvPr id="299" name="Google Shape;299;g3ee9487a86e_8_0"/>
          <p:cNvSpPr/>
          <p:nvPr/>
        </p:nvSpPr>
        <p:spPr>
          <a:xfrm>
            <a:off x="5131068" y="3817620"/>
            <a:ext cx="36585" cy="219456"/>
          </a:xfrm>
          <a:prstGeom prst="rect">
            <a:avLst/>
          </a:prstGeom>
          <a:solidFill>
            <a:srgbClr val="D9770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0" name="Google Shape;300;g3ee9487a86e_8_0"/>
          <p:cNvSpPr txBox="1"/>
          <p:nvPr/>
        </p:nvSpPr>
        <p:spPr>
          <a:xfrm>
            <a:off x="5277408" y="3799332"/>
            <a:ext cx="6594474" cy="3291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0" i="0" lang="ko-KR" sz="1300" u="none" cap="none" strike="noStrike">
                <a:solidFill>
                  <a:srgbClr val="D97706"/>
                </a:solidFill>
                <a:latin typeface="Calibri"/>
                <a:ea typeface="Calibri"/>
                <a:cs typeface="Calibri"/>
                <a:sym typeface="Calibri"/>
              </a:rPr>
              <a:t>2)  최적화 및 검증 사례</a:t>
            </a:r>
            <a:endParaRPr b="0" i="0" sz="1400" u="none" cap="none" strike="noStrike">
              <a:solidFill>
                <a:srgbClr val="000000"/>
              </a:solidFill>
              <a:latin typeface="Arial"/>
              <a:ea typeface="Arial"/>
              <a:cs typeface="Arial"/>
              <a:sym typeface="Arial"/>
            </a:endParaRPr>
          </a:p>
        </p:txBody>
      </p:sp>
      <p:sp>
        <p:nvSpPr>
          <p:cNvPr id="301" name="Google Shape;301;g3ee9487a86e_8_0"/>
          <p:cNvSpPr/>
          <p:nvPr/>
        </p:nvSpPr>
        <p:spPr>
          <a:xfrm>
            <a:off x="5131068" y="4192524"/>
            <a:ext cx="36585" cy="219456"/>
          </a:xfrm>
          <a:prstGeom prst="rect">
            <a:avLst/>
          </a:prstGeom>
          <a:solidFill>
            <a:srgbClr val="0D948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2" name="Google Shape;302;g3ee9487a86e_8_0"/>
          <p:cNvSpPr txBox="1"/>
          <p:nvPr/>
        </p:nvSpPr>
        <p:spPr>
          <a:xfrm>
            <a:off x="5277408" y="4174236"/>
            <a:ext cx="6594474" cy="3291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0" i="0" lang="ko-KR" sz="1300" u="none" cap="none" strike="noStrike">
                <a:solidFill>
                  <a:srgbClr val="0D9488"/>
                </a:solidFill>
                <a:latin typeface="Calibri"/>
                <a:ea typeface="Calibri"/>
                <a:cs typeface="Calibri"/>
                <a:sym typeface="Calibri"/>
              </a:rPr>
              <a:t>3)  TDD 사례</a:t>
            </a:r>
            <a:endParaRPr b="0" i="0" sz="1400" u="none" cap="none" strike="noStrike">
              <a:solidFill>
                <a:srgbClr val="000000"/>
              </a:solidFill>
              <a:latin typeface="Arial"/>
              <a:ea typeface="Arial"/>
              <a:cs typeface="Arial"/>
              <a:sym typeface="Arial"/>
            </a:endParaRPr>
          </a:p>
        </p:txBody>
      </p:sp>
      <p:sp>
        <p:nvSpPr>
          <p:cNvPr id="303" name="Google Shape;303;g3ee9487a86e_8_0"/>
          <p:cNvSpPr/>
          <p:nvPr/>
        </p:nvSpPr>
        <p:spPr>
          <a:xfrm>
            <a:off x="5131068" y="4567428"/>
            <a:ext cx="36585" cy="219456"/>
          </a:xfrm>
          <a:prstGeom prst="rect">
            <a:avLst/>
          </a:prstGeom>
          <a:solidFill>
            <a:srgbClr val="E11D4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4" name="Google Shape;304;g3ee9487a86e_8_0"/>
          <p:cNvSpPr txBox="1"/>
          <p:nvPr/>
        </p:nvSpPr>
        <p:spPr>
          <a:xfrm>
            <a:off x="5277408" y="4549140"/>
            <a:ext cx="6594474" cy="3291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0" i="0" lang="ko-KR" sz="1300" u="none" cap="none" strike="noStrike">
                <a:solidFill>
                  <a:srgbClr val="E11D48"/>
                </a:solidFill>
                <a:latin typeface="Calibri"/>
                <a:ea typeface="Calibri"/>
                <a:cs typeface="Calibri"/>
                <a:sym typeface="Calibri"/>
              </a:rPr>
              <a:t>4)  Code Review 사례</a:t>
            </a:r>
            <a:endParaRPr b="0" i="0" sz="1400" u="none" cap="none" strike="noStrike">
              <a:solidFill>
                <a:srgbClr val="000000"/>
              </a:solidFill>
              <a:latin typeface="Arial"/>
              <a:ea typeface="Arial"/>
              <a:cs typeface="Arial"/>
              <a:sym typeface="Arial"/>
            </a:endParaRPr>
          </a:p>
        </p:txBody>
      </p:sp>
      <p:sp>
        <p:nvSpPr>
          <p:cNvPr id="305" name="Google Shape;305;g3ee9487a86e_8_0"/>
          <p:cNvSpPr/>
          <p:nvPr/>
        </p:nvSpPr>
        <p:spPr>
          <a:xfrm>
            <a:off x="5131068" y="4942332"/>
            <a:ext cx="36585" cy="219456"/>
          </a:xfrm>
          <a:prstGeom prst="rect">
            <a:avLst/>
          </a:prstGeom>
          <a:solidFill>
            <a:srgbClr val="2563E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6" name="Google Shape;306;g3ee9487a86e_8_0"/>
          <p:cNvSpPr txBox="1"/>
          <p:nvPr/>
        </p:nvSpPr>
        <p:spPr>
          <a:xfrm>
            <a:off x="5277408" y="4924044"/>
            <a:ext cx="6594474" cy="3291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0" i="0" lang="ko-KR" sz="1300" u="none" cap="none" strike="noStrike">
                <a:solidFill>
                  <a:srgbClr val="2563EB"/>
                </a:solidFill>
                <a:latin typeface="Calibri"/>
                <a:ea typeface="Calibri"/>
                <a:cs typeface="Calibri"/>
                <a:sym typeface="Calibri"/>
              </a:rPr>
              <a:t>5)  AI 활용 사례</a:t>
            </a:r>
            <a:endParaRPr b="0" i="0" sz="1400" u="none" cap="none" strike="noStrike">
              <a:solidFill>
                <a:srgbClr val="000000"/>
              </a:solidFill>
              <a:latin typeface="Arial"/>
              <a:ea typeface="Arial"/>
              <a:cs typeface="Arial"/>
              <a:sym typeface="Arial"/>
            </a:endParaRPr>
          </a:p>
        </p:txBody>
      </p:sp>
      <p:sp>
        <p:nvSpPr>
          <p:cNvPr id="307" name="Google Shape;307;g3ee9487a86e_8_0"/>
          <p:cNvSpPr/>
          <p:nvPr/>
        </p:nvSpPr>
        <p:spPr>
          <a:xfrm>
            <a:off x="4344487" y="5554980"/>
            <a:ext cx="475607" cy="475488"/>
          </a:xfrm>
          <a:prstGeom prst="rect">
            <a:avLst/>
          </a:prstGeom>
          <a:solidFill>
            <a:srgbClr val="0D948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8" name="Google Shape;308;g3ee9487a86e_8_0"/>
          <p:cNvSpPr txBox="1"/>
          <p:nvPr/>
        </p:nvSpPr>
        <p:spPr>
          <a:xfrm>
            <a:off x="4344487" y="5554980"/>
            <a:ext cx="475607" cy="4754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ko-KR" sz="1400" u="none" cap="none" strike="noStrike">
                <a:solidFill>
                  <a:srgbClr val="FFFFFF"/>
                </a:solidFill>
                <a:latin typeface="Calibri"/>
                <a:ea typeface="Calibri"/>
                <a:cs typeface="Calibri"/>
                <a:sym typeface="Calibri"/>
              </a:rPr>
              <a:t>04</a:t>
            </a:r>
            <a:endParaRPr b="0" i="0" sz="1400" u="none" cap="none" strike="noStrike">
              <a:solidFill>
                <a:srgbClr val="000000"/>
              </a:solidFill>
              <a:latin typeface="Arial"/>
              <a:ea typeface="Arial"/>
              <a:cs typeface="Arial"/>
              <a:sym typeface="Arial"/>
            </a:endParaRPr>
          </a:p>
        </p:txBody>
      </p:sp>
      <p:sp>
        <p:nvSpPr>
          <p:cNvPr id="309" name="Google Shape;309;g3ee9487a86e_8_0"/>
          <p:cNvSpPr/>
          <p:nvPr/>
        </p:nvSpPr>
        <p:spPr>
          <a:xfrm>
            <a:off x="4929849" y="5774436"/>
            <a:ext cx="6942033" cy="18288"/>
          </a:xfrm>
          <a:prstGeom prst="rect">
            <a:avLst/>
          </a:prstGeom>
          <a:solidFill>
            <a:srgbClr val="E2E8F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0" name="Google Shape;310;g3ee9487a86e_8_0"/>
          <p:cNvSpPr txBox="1"/>
          <p:nvPr/>
        </p:nvSpPr>
        <p:spPr>
          <a:xfrm>
            <a:off x="4984727" y="5536692"/>
            <a:ext cx="6887155" cy="51206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ko-KR" sz="2000" u="none" cap="none" strike="noStrike">
                <a:solidFill>
                  <a:srgbClr val="0F172A"/>
                </a:solidFill>
                <a:latin typeface="Calibri"/>
                <a:ea typeface="Calibri"/>
                <a:cs typeface="Calibri"/>
                <a:sym typeface="Calibri"/>
              </a:rPr>
              <a:t>회고 및 소감</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Malgun Gothic"/>
              <a:buNone/>
            </a:pPr>
            <a:r>
              <a:rPr lang="ko-KR"/>
              <a:t>조원 소개 및 역할</a:t>
            </a:r>
            <a:endParaRPr/>
          </a:p>
        </p:txBody>
      </p:sp>
      <p:pic>
        <p:nvPicPr>
          <p:cNvPr id="316" name="Google Shape;316;p24"/>
          <p:cNvPicPr preferRelativeResize="0"/>
          <p:nvPr/>
        </p:nvPicPr>
        <p:blipFill rotWithShape="1">
          <a:blip r:embed="rId3">
            <a:alphaModFix/>
          </a:blip>
          <a:srcRect b="0" l="0" r="0" t="0"/>
          <a:stretch/>
        </p:blipFill>
        <p:spPr>
          <a:xfrm>
            <a:off x="495300" y="4264819"/>
            <a:ext cx="2453580" cy="2409825"/>
          </a:xfrm>
          <a:prstGeom prst="rect">
            <a:avLst/>
          </a:prstGeom>
          <a:noFill/>
          <a:ln>
            <a:noFill/>
          </a:ln>
        </p:spPr>
      </p:pic>
      <p:pic>
        <p:nvPicPr>
          <p:cNvPr id="317" name="Google Shape;317;p24"/>
          <p:cNvPicPr preferRelativeResize="0"/>
          <p:nvPr/>
        </p:nvPicPr>
        <p:blipFill rotWithShape="1">
          <a:blip r:embed="rId4">
            <a:alphaModFix/>
          </a:blip>
          <a:srcRect b="0" l="0" r="0" t="0"/>
          <a:stretch/>
        </p:blipFill>
        <p:spPr>
          <a:xfrm>
            <a:off x="3233439" y="1388269"/>
            <a:ext cx="2453580" cy="2114550"/>
          </a:xfrm>
          <a:prstGeom prst="rect">
            <a:avLst/>
          </a:prstGeom>
          <a:noFill/>
          <a:ln>
            <a:noFill/>
          </a:ln>
        </p:spPr>
      </p:pic>
      <p:pic>
        <p:nvPicPr>
          <p:cNvPr id="318" name="Google Shape;318;p24"/>
          <p:cNvPicPr preferRelativeResize="0"/>
          <p:nvPr/>
        </p:nvPicPr>
        <p:blipFill rotWithShape="1">
          <a:blip r:embed="rId5">
            <a:alphaModFix/>
          </a:blip>
          <a:srcRect b="0" l="0" r="0" t="0"/>
          <a:stretch/>
        </p:blipFill>
        <p:spPr>
          <a:xfrm>
            <a:off x="5971579" y="4264819"/>
            <a:ext cx="2453580" cy="2114550"/>
          </a:xfrm>
          <a:prstGeom prst="rect">
            <a:avLst/>
          </a:prstGeom>
          <a:noFill/>
          <a:ln>
            <a:noFill/>
          </a:ln>
        </p:spPr>
      </p:pic>
      <p:pic>
        <p:nvPicPr>
          <p:cNvPr id="319" name="Google Shape;319;p24"/>
          <p:cNvPicPr preferRelativeResize="0"/>
          <p:nvPr/>
        </p:nvPicPr>
        <p:blipFill rotWithShape="1">
          <a:blip r:embed="rId6">
            <a:alphaModFix/>
          </a:blip>
          <a:srcRect b="0" l="0" r="0" t="0"/>
          <a:stretch/>
        </p:blipFill>
        <p:spPr>
          <a:xfrm>
            <a:off x="8709719" y="1388269"/>
            <a:ext cx="2453580" cy="2114550"/>
          </a:xfrm>
          <a:prstGeom prst="rect">
            <a:avLst/>
          </a:prstGeom>
          <a:noFill/>
          <a:ln>
            <a:noFill/>
          </a:ln>
        </p:spPr>
      </p:pic>
      <p:pic>
        <p:nvPicPr>
          <p:cNvPr id="320" name="Google Shape;320;p24"/>
          <p:cNvPicPr preferRelativeResize="0"/>
          <p:nvPr/>
        </p:nvPicPr>
        <p:blipFill rotWithShape="1">
          <a:blip r:embed="rId7">
            <a:alphaModFix/>
          </a:blip>
          <a:srcRect b="0" l="0" r="0" t="0"/>
          <a:stretch/>
        </p:blipFill>
        <p:spPr>
          <a:xfrm>
            <a:off x="933896" y="6226969"/>
            <a:ext cx="1576387" cy="247650"/>
          </a:xfrm>
          <a:prstGeom prst="rect">
            <a:avLst/>
          </a:prstGeom>
          <a:noFill/>
          <a:ln>
            <a:noFill/>
          </a:ln>
        </p:spPr>
      </p:pic>
      <p:sp>
        <p:nvSpPr>
          <p:cNvPr id="321" name="Google Shape;321;p24"/>
          <p:cNvSpPr/>
          <p:nvPr/>
        </p:nvSpPr>
        <p:spPr>
          <a:xfrm>
            <a:off x="495300" y="3855244"/>
            <a:ext cx="10668000" cy="57150"/>
          </a:xfrm>
          <a:prstGeom prst="roundRect">
            <a:avLst>
              <a:gd fmla="val 50000" name="adj"/>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322" name="Google Shape;322;p24"/>
          <p:cNvPicPr preferRelativeResize="0"/>
          <p:nvPr/>
        </p:nvPicPr>
        <p:blipFill rotWithShape="1">
          <a:blip r:embed="rId8">
            <a:alphaModFix/>
          </a:blip>
          <a:srcRect b="0" l="0" r="0" t="0"/>
          <a:stretch/>
        </p:blipFill>
        <p:spPr>
          <a:xfrm>
            <a:off x="1141065" y="4464844"/>
            <a:ext cx="1162050" cy="276225"/>
          </a:xfrm>
          <a:prstGeom prst="rect">
            <a:avLst/>
          </a:prstGeom>
          <a:noFill/>
          <a:ln>
            <a:noFill/>
          </a:ln>
        </p:spPr>
      </p:pic>
      <p:sp>
        <p:nvSpPr>
          <p:cNvPr id="323" name="Google Shape;323;p24"/>
          <p:cNvSpPr txBox="1"/>
          <p:nvPr/>
        </p:nvSpPr>
        <p:spPr>
          <a:xfrm>
            <a:off x="643986" y="4855369"/>
            <a:ext cx="2156206" cy="352425"/>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b="1" i="0" lang="ko-KR" sz="1800" u="none" cap="none" strike="noStrike">
                <a:solidFill>
                  <a:srgbClr val="0F172A"/>
                </a:solidFill>
                <a:latin typeface="Poppins"/>
                <a:ea typeface="Poppins"/>
                <a:cs typeface="Poppins"/>
                <a:sym typeface="Poppins"/>
              </a:rPr>
              <a:t>이혜림</a:t>
            </a:r>
            <a:endParaRPr b="0" i="0" sz="1400" u="none" cap="none" strike="noStrike">
              <a:solidFill>
                <a:srgbClr val="000000"/>
              </a:solidFill>
              <a:latin typeface="Arial"/>
              <a:ea typeface="Arial"/>
              <a:cs typeface="Arial"/>
              <a:sym typeface="Arial"/>
            </a:endParaRPr>
          </a:p>
        </p:txBody>
      </p:sp>
      <p:sp>
        <p:nvSpPr>
          <p:cNvPr id="324" name="Google Shape;324;p24"/>
          <p:cNvSpPr txBox="1"/>
          <p:nvPr/>
        </p:nvSpPr>
        <p:spPr>
          <a:xfrm>
            <a:off x="695325" y="5255419"/>
            <a:ext cx="2053530" cy="24765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350"/>
              <a:buFont typeface="Arial"/>
              <a:buNone/>
            </a:pPr>
            <a:r>
              <a:rPr b="0" i="0" lang="ko-KR" sz="1350" u="none" cap="none" strike="noStrike">
                <a:solidFill>
                  <a:srgbClr val="475569"/>
                </a:solidFill>
                <a:latin typeface="Noto Sans KR"/>
                <a:ea typeface="Noto Sans KR"/>
                <a:cs typeface="Noto Sans KR"/>
                <a:sym typeface="Noto Sans KR"/>
              </a:rPr>
              <a:t>팀원</a:t>
            </a:r>
            <a:endParaRPr b="0" i="0" sz="1400" u="none" cap="none" strike="noStrike">
              <a:solidFill>
                <a:srgbClr val="000000"/>
              </a:solidFill>
              <a:latin typeface="Arial"/>
              <a:ea typeface="Arial"/>
              <a:cs typeface="Arial"/>
              <a:sym typeface="Arial"/>
            </a:endParaRPr>
          </a:p>
        </p:txBody>
      </p:sp>
      <p:sp>
        <p:nvSpPr>
          <p:cNvPr id="325" name="Google Shape;325;p24"/>
          <p:cNvSpPr txBox="1"/>
          <p:nvPr/>
        </p:nvSpPr>
        <p:spPr>
          <a:xfrm>
            <a:off x="695325" y="5645944"/>
            <a:ext cx="2053530" cy="45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200"/>
              <a:buFont typeface="Arial"/>
              <a:buNone/>
            </a:pPr>
            <a:r>
              <a:rPr b="0" i="0" lang="ko-KR" sz="1200" u="none" cap="none" strike="noStrike">
                <a:solidFill>
                  <a:srgbClr val="334155"/>
                </a:solidFill>
                <a:latin typeface="Noto Sans KR"/>
                <a:ea typeface="Noto Sans KR"/>
                <a:cs typeface="Noto Sans KR"/>
                <a:sym typeface="Noto Sans KR"/>
              </a:rPr>
              <a:t>소스 코드(문자열)를</a:t>
            </a:r>
            <a:br>
              <a:rPr b="0" i="0" lang="ko-KR" sz="1800" u="none" cap="none" strike="noStrike">
                <a:solidFill>
                  <a:schemeClr val="dk1"/>
                </a:solidFill>
                <a:latin typeface="Calibri"/>
                <a:ea typeface="Calibri"/>
                <a:cs typeface="Calibri"/>
                <a:sym typeface="Calibri"/>
              </a:rPr>
            </a:br>
            <a:r>
              <a:rPr b="0" i="0" lang="ko-KR" sz="1200" u="none" cap="none" strike="noStrike">
                <a:solidFill>
                  <a:srgbClr val="334155"/>
                </a:solidFill>
                <a:latin typeface="Noto Sans KR"/>
                <a:ea typeface="Noto Sans KR"/>
                <a:cs typeface="Noto Sans KR"/>
                <a:sym typeface="Noto Sans KR"/>
              </a:rPr>
              <a:t> 의미 있는 </a:t>
            </a:r>
            <a:r>
              <a:rPr b="1" i="0" lang="ko-KR" sz="1200" u="none" cap="none" strike="noStrike">
                <a:solidFill>
                  <a:srgbClr val="334155"/>
                </a:solidFill>
                <a:latin typeface="Noto Sans KR"/>
                <a:ea typeface="Noto Sans KR"/>
                <a:cs typeface="Noto Sans KR"/>
                <a:sym typeface="Noto Sans KR"/>
              </a:rPr>
              <a:t>토큰</a:t>
            </a:r>
            <a:r>
              <a:rPr b="0" i="0" lang="ko-KR" sz="1200" u="none" cap="none" strike="noStrike">
                <a:solidFill>
                  <a:srgbClr val="334155"/>
                </a:solidFill>
                <a:latin typeface="Noto Sans KR"/>
                <a:ea typeface="Noto Sans KR"/>
                <a:cs typeface="Noto Sans KR"/>
                <a:sym typeface="Noto Sans KR"/>
              </a:rPr>
              <a:t>으로 변환</a:t>
            </a:r>
            <a:endParaRPr b="0" i="0" sz="1400" u="none" cap="none" strike="noStrike">
              <a:solidFill>
                <a:srgbClr val="000000"/>
              </a:solidFill>
              <a:latin typeface="Arial"/>
              <a:ea typeface="Arial"/>
              <a:cs typeface="Arial"/>
              <a:sym typeface="Arial"/>
            </a:endParaRPr>
          </a:p>
        </p:txBody>
      </p:sp>
      <p:pic>
        <p:nvPicPr>
          <p:cNvPr id="326" name="Google Shape;326;p24"/>
          <p:cNvPicPr preferRelativeResize="0"/>
          <p:nvPr/>
        </p:nvPicPr>
        <p:blipFill rotWithShape="1">
          <a:blip r:embed="rId9">
            <a:alphaModFix/>
          </a:blip>
          <a:srcRect b="0" l="0" r="0" t="0"/>
          <a:stretch/>
        </p:blipFill>
        <p:spPr>
          <a:xfrm>
            <a:off x="3836342" y="1588294"/>
            <a:ext cx="1247775" cy="276225"/>
          </a:xfrm>
          <a:prstGeom prst="rect">
            <a:avLst/>
          </a:prstGeom>
          <a:noFill/>
          <a:ln>
            <a:noFill/>
          </a:ln>
        </p:spPr>
      </p:pic>
      <p:sp>
        <p:nvSpPr>
          <p:cNvPr id="327" name="Google Shape;327;p24"/>
          <p:cNvSpPr txBox="1"/>
          <p:nvPr/>
        </p:nvSpPr>
        <p:spPr>
          <a:xfrm>
            <a:off x="3382126" y="1978819"/>
            <a:ext cx="2156206" cy="352425"/>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b="1" i="0" lang="ko-KR" sz="1800" u="none" cap="none" strike="noStrike">
                <a:solidFill>
                  <a:srgbClr val="0F172A"/>
                </a:solidFill>
                <a:latin typeface="Poppins"/>
                <a:ea typeface="Poppins"/>
                <a:cs typeface="Poppins"/>
                <a:sym typeface="Poppins"/>
              </a:rPr>
              <a:t>윤동현</a:t>
            </a:r>
            <a:endParaRPr b="0" i="0" sz="1400" u="none" cap="none" strike="noStrike">
              <a:solidFill>
                <a:srgbClr val="000000"/>
              </a:solidFill>
              <a:latin typeface="Arial"/>
              <a:ea typeface="Arial"/>
              <a:cs typeface="Arial"/>
              <a:sym typeface="Arial"/>
            </a:endParaRPr>
          </a:p>
        </p:txBody>
      </p:sp>
      <p:sp>
        <p:nvSpPr>
          <p:cNvPr id="328" name="Google Shape;328;p24"/>
          <p:cNvSpPr txBox="1"/>
          <p:nvPr/>
        </p:nvSpPr>
        <p:spPr>
          <a:xfrm>
            <a:off x="3433464" y="2378869"/>
            <a:ext cx="2053530" cy="24765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350"/>
              <a:buFont typeface="Arial"/>
              <a:buNone/>
            </a:pPr>
            <a:r>
              <a:rPr b="0" i="0" lang="ko-KR" sz="1350" u="none" cap="none" strike="noStrike">
                <a:solidFill>
                  <a:srgbClr val="475569"/>
                </a:solidFill>
                <a:latin typeface="Noto Sans KR"/>
                <a:ea typeface="Noto Sans KR"/>
                <a:cs typeface="Noto Sans KR"/>
                <a:sym typeface="Noto Sans KR"/>
              </a:rPr>
              <a:t>팀원</a:t>
            </a:r>
            <a:endParaRPr b="0" i="0" sz="1400" u="none" cap="none" strike="noStrike">
              <a:solidFill>
                <a:srgbClr val="000000"/>
              </a:solidFill>
              <a:latin typeface="Arial"/>
              <a:ea typeface="Arial"/>
              <a:cs typeface="Arial"/>
              <a:sym typeface="Arial"/>
            </a:endParaRPr>
          </a:p>
        </p:txBody>
      </p:sp>
      <p:sp>
        <p:nvSpPr>
          <p:cNvPr id="329" name="Google Shape;329;p24"/>
          <p:cNvSpPr txBox="1"/>
          <p:nvPr/>
        </p:nvSpPr>
        <p:spPr>
          <a:xfrm>
            <a:off x="3433464" y="2769394"/>
            <a:ext cx="2053530" cy="45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200"/>
              <a:buFont typeface="Arial"/>
              <a:buNone/>
            </a:pPr>
            <a:r>
              <a:rPr b="0" i="0" lang="ko-KR" sz="1200" u="none" cap="none" strike="noStrike">
                <a:solidFill>
                  <a:srgbClr val="334155"/>
                </a:solidFill>
                <a:latin typeface="Noto Sans KR"/>
                <a:ea typeface="Noto Sans KR"/>
                <a:cs typeface="Noto Sans KR"/>
                <a:sym typeface="Noto Sans KR"/>
              </a:rPr>
              <a:t>토큰 목록을 구조화하여</a:t>
            </a:r>
            <a:br>
              <a:rPr b="0" i="0" lang="ko-KR" sz="1800" u="none" cap="none" strike="noStrike">
                <a:solidFill>
                  <a:schemeClr val="dk1"/>
                </a:solidFill>
                <a:latin typeface="Calibri"/>
                <a:ea typeface="Calibri"/>
                <a:cs typeface="Calibri"/>
                <a:sym typeface="Calibri"/>
              </a:rPr>
            </a:br>
            <a:r>
              <a:rPr b="1" i="0" lang="ko-KR" sz="1200" u="none" cap="none" strike="noStrike">
                <a:solidFill>
                  <a:srgbClr val="334155"/>
                </a:solidFill>
                <a:latin typeface="Noto Sans KR"/>
                <a:ea typeface="Noto Sans KR"/>
                <a:cs typeface="Noto Sans KR"/>
                <a:sym typeface="Noto Sans KR"/>
              </a:rPr>
              <a:t>추상 구문 트리(AST)</a:t>
            </a:r>
            <a:r>
              <a:rPr b="0" i="0" lang="ko-KR" sz="1200" u="none" cap="none" strike="noStrike">
                <a:solidFill>
                  <a:srgbClr val="334155"/>
                </a:solidFill>
                <a:latin typeface="Noto Sans KR"/>
                <a:ea typeface="Noto Sans KR"/>
                <a:cs typeface="Noto Sans KR"/>
                <a:sym typeface="Noto Sans KR"/>
              </a:rPr>
              <a:t> 생성</a:t>
            </a:r>
            <a:endParaRPr b="0" i="0" sz="1400" u="none" cap="none" strike="noStrike">
              <a:solidFill>
                <a:srgbClr val="000000"/>
              </a:solidFill>
              <a:latin typeface="Arial"/>
              <a:ea typeface="Arial"/>
              <a:cs typeface="Arial"/>
              <a:sym typeface="Arial"/>
            </a:endParaRPr>
          </a:p>
        </p:txBody>
      </p:sp>
      <p:pic>
        <p:nvPicPr>
          <p:cNvPr id="330" name="Google Shape;330;p24"/>
          <p:cNvPicPr preferRelativeResize="0"/>
          <p:nvPr/>
        </p:nvPicPr>
        <p:blipFill rotWithShape="1">
          <a:blip r:embed="rId10">
            <a:alphaModFix/>
          </a:blip>
          <a:srcRect b="0" l="0" r="0" t="0"/>
          <a:stretch/>
        </p:blipFill>
        <p:spPr>
          <a:xfrm>
            <a:off x="6498282" y="4464844"/>
            <a:ext cx="1400175" cy="276225"/>
          </a:xfrm>
          <a:prstGeom prst="rect">
            <a:avLst/>
          </a:prstGeom>
          <a:noFill/>
          <a:ln>
            <a:noFill/>
          </a:ln>
        </p:spPr>
      </p:pic>
      <p:sp>
        <p:nvSpPr>
          <p:cNvPr id="331" name="Google Shape;331;p24"/>
          <p:cNvSpPr txBox="1"/>
          <p:nvPr/>
        </p:nvSpPr>
        <p:spPr>
          <a:xfrm>
            <a:off x="6120266" y="4855369"/>
            <a:ext cx="2156206" cy="352425"/>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b="1" i="0" lang="ko-KR" sz="1800" u="none" cap="none" strike="noStrike">
                <a:solidFill>
                  <a:srgbClr val="0F172A"/>
                </a:solidFill>
                <a:latin typeface="Poppins"/>
                <a:ea typeface="Poppins"/>
                <a:cs typeface="Poppins"/>
                <a:sym typeface="Poppins"/>
              </a:rPr>
              <a:t>이상현</a:t>
            </a:r>
            <a:endParaRPr b="0" i="0" sz="1400" u="none" cap="none" strike="noStrike">
              <a:solidFill>
                <a:srgbClr val="000000"/>
              </a:solidFill>
              <a:latin typeface="Arial"/>
              <a:ea typeface="Arial"/>
              <a:cs typeface="Arial"/>
              <a:sym typeface="Arial"/>
            </a:endParaRPr>
          </a:p>
        </p:txBody>
      </p:sp>
      <p:sp>
        <p:nvSpPr>
          <p:cNvPr id="332" name="Google Shape;332;p24"/>
          <p:cNvSpPr txBox="1"/>
          <p:nvPr/>
        </p:nvSpPr>
        <p:spPr>
          <a:xfrm>
            <a:off x="6171604" y="5255419"/>
            <a:ext cx="2053530" cy="24765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350"/>
              <a:buFont typeface="Arial"/>
              <a:buNone/>
            </a:pPr>
            <a:r>
              <a:rPr b="0" i="0" lang="ko-KR" sz="1350" u="none" cap="none" strike="noStrike">
                <a:solidFill>
                  <a:srgbClr val="475569"/>
                </a:solidFill>
                <a:latin typeface="Noto Sans KR"/>
                <a:ea typeface="Noto Sans KR"/>
                <a:cs typeface="Noto Sans KR"/>
                <a:sym typeface="Noto Sans KR"/>
              </a:rPr>
              <a:t>팀원</a:t>
            </a:r>
            <a:endParaRPr b="0" i="0" sz="1400" u="none" cap="none" strike="noStrike">
              <a:solidFill>
                <a:srgbClr val="000000"/>
              </a:solidFill>
              <a:latin typeface="Arial"/>
              <a:ea typeface="Arial"/>
              <a:cs typeface="Arial"/>
              <a:sym typeface="Arial"/>
            </a:endParaRPr>
          </a:p>
        </p:txBody>
      </p:sp>
      <p:sp>
        <p:nvSpPr>
          <p:cNvPr id="333" name="Google Shape;333;p24"/>
          <p:cNvSpPr txBox="1"/>
          <p:nvPr/>
        </p:nvSpPr>
        <p:spPr>
          <a:xfrm>
            <a:off x="6171604" y="5645944"/>
            <a:ext cx="2053530" cy="45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200"/>
              <a:buFont typeface="Arial"/>
              <a:buNone/>
            </a:pPr>
            <a:r>
              <a:rPr b="0" i="0" lang="ko-KR" sz="1200" u="none" cap="none" strike="noStrike">
                <a:solidFill>
                  <a:srgbClr val="334155"/>
                </a:solidFill>
                <a:latin typeface="Noto Sans KR"/>
                <a:ea typeface="Noto Sans KR"/>
                <a:cs typeface="Noto Sans KR"/>
                <a:sym typeface="Noto Sans KR"/>
              </a:rPr>
              <a:t>실행 전 단계에서</a:t>
            </a:r>
            <a:br>
              <a:rPr b="0" i="0" lang="ko-KR" sz="1800" u="none" cap="none" strike="noStrike">
                <a:solidFill>
                  <a:schemeClr val="dk1"/>
                </a:solidFill>
                <a:latin typeface="Calibri"/>
                <a:ea typeface="Calibri"/>
                <a:cs typeface="Calibri"/>
                <a:sym typeface="Calibri"/>
              </a:rPr>
            </a:br>
            <a:r>
              <a:rPr b="1" i="0" lang="ko-KR" sz="1200" u="none" cap="none" strike="noStrike">
                <a:solidFill>
                  <a:srgbClr val="334155"/>
                </a:solidFill>
                <a:latin typeface="Noto Sans KR"/>
                <a:ea typeface="Noto Sans KR"/>
                <a:cs typeface="Noto Sans KR"/>
                <a:sym typeface="Noto Sans KR"/>
              </a:rPr>
              <a:t>의미 분석 및 유효성 검사</a:t>
            </a:r>
            <a:endParaRPr b="0" i="0" sz="1400" u="none" cap="none" strike="noStrike">
              <a:solidFill>
                <a:srgbClr val="000000"/>
              </a:solidFill>
              <a:latin typeface="Arial"/>
              <a:ea typeface="Arial"/>
              <a:cs typeface="Arial"/>
              <a:sym typeface="Arial"/>
            </a:endParaRPr>
          </a:p>
        </p:txBody>
      </p:sp>
      <p:pic>
        <p:nvPicPr>
          <p:cNvPr id="334" name="Google Shape;334;p24"/>
          <p:cNvPicPr preferRelativeResize="0"/>
          <p:nvPr/>
        </p:nvPicPr>
        <p:blipFill rotWithShape="1">
          <a:blip r:embed="rId11">
            <a:alphaModFix/>
          </a:blip>
          <a:srcRect b="0" l="0" r="0" t="0"/>
          <a:stretch/>
        </p:blipFill>
        <p:spPr>
          <a:xfrm>
            <a:off x="9126884" y="1588294"/>
            <a:ext cx="1619250" cy="276225"/>
          </a:xfrm>
          <a:prstGeom prst="rect">
            <a:avLst/>
          </a:prstGeom>
          <a:noFill/>
          <a:ln>
            <a:noFill/>
          </a:ln>
        </p:spPr>
      </p:pic>
      <p:sp>
        <p:nvSpPr>
          <p:cNvPr id="335" name="Google Shape;335;p24"/>
          <p:cNvSpPr txBox="1"/>
          <p:nvPr/>
        </p:nvSpPr>
        <p:spPr>
          <a:xfrm>
            <a:off x="8858406" y="1978819"/>
            <a:ext cx="2156206" cy="352425"/>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b="1" i="0" lang="ko-KR" sz="1800" u="none" cap="none" strike="noStrike">
                <a:solidFill>
                  <a:srgbClr val="0F172A"/>
                </a:solidFill>
                <a:latin typeface="Poppins"/>
                <a:ea typeface="Poppins"/>
                <a:cs typeface="Poppins"/>
                <a:sym typeface="Poppins"/>
              </a:rPr>
              <a:t>최연우</a:t>
            </a:r>
            <a:endParaRPr b="0" i="0" sz="1400" u="none" cap="none" strike="noStrike">
              <a:solidFill>
                <a:srgbClr val="000000"/>
              </a:solidFill>
              <a:latin typeface="Arial"/>
              <a:ea typeface="Arial"/>
              <a:cs typeface="Arial"/>
              <a:sym typeface="Arial"/>
            </a:endParaRPr>
          </a:p>
        </p:txBody>
      </p:sp>
      <p:sp>
        <p:nvSpPr>
          <p:cNvPr id="336" name="Google Shape;336;p24"/>
          <p:cNvSpPr txBox="1"/>
          <p:nvPr/>
        </p:nvSpPr>
        <p:spPr>
          <a:xfrm>
            <a:off x="8909744" y="2378869"/>
            <a:ext cx="2053530" cy="247650"/>
          </a:xfrm>
          <a:prstGeom prst="rect">
            <a:avLst/>
          </a:prstGeom>
          <a:noFill/>
          <a:ln>
            <a:noFill/>
          </a:ln>
        </p:spPr>
        <p:txBody>
          <a:bodyPr anchorCtr="0" anchor="t" bIns="0" lIns="209550" spcFirstLastPara="1" rIns="0" wrap="square" tIns="0">
            <a:spAutoFit/>
          </a:bodyPr>
          <a:lstStyle/>
          <a:p>
            <a:pPr indent="0" lvl="0" marL="0" marR="0" rtl="0" algn="ctr">
              <a:lnSpc>
                <a:spcPct val="100000"/>
              </a:lnSpc>
              <a:spcBef>
                <a:spcPts val="0"/>
              </a:spcBef>
              <a:spcAft>
                <a:spcPts val="0"/>
              </a:spcAft>
              <a:buClr>
                <a:srgbClr val="000000"/>
              </a:buClr>
              <a:buSzPts val="1350"/>
              <a:buFont typeface="Arial"/>
              <a:buNone/>
            </a:pPr>
            <a:r>
              <a:rPr b="0" i="0" lang="ko-KR" sz="1350" u="none" cap="none" strike="noStrike">
                <a:solidFill>
                  <a:srgbClr val="475569"/>
                </a:solidFill>
                <a:latin typeface="Noto Sans KR"/>
                <a:ea typeface="Noto Sans KR"/>
                <a:cs typeface="Noto Sans KR"/>
                <a:sym typeface="Noto Sans KR"/>
              </a:rPr>
              <a:t>팀장</a:t>
            </a:r>
            <a:endParaRPr b="0" i="0" sz="1400" u="none" cap="none" strike="noStrike">
              <a:solidFill>
                <a:srgbClr val="000000"/>
              </a:solidFill>
              <a:latin typeface="Arial"/>
              <a:ea typeface="Arial"/>
              <a:cs typeface="Arial"/>
              <a:sym typeface="Arial"/>
            </a:endParaRPr>
          </a:p>
        </p:txBody>
      </p:sp>
      <p:sp>
        <p:nvSpPr>
          <p:cNvPr id="337" name="Google Shape;337;p24"/>
          <p:cNvSpPr txBox="1"/>
          <p:nvPr/>
        </p:nvSpPr>
        <p:spPr>
          <a:xfrm>
            <a:off x="8909744" y="2769394"/>
            <a:ext cx="2053530" cy="45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200"/>
              <a:buFont typeface="Arial"/>
              <a:buNone/>
            </a:pPr>
            <a:r>
              <a:rPr b="0" i="0" lang="ko-KR" sz="1200" u="none" cap="none" strike="noStrike">
                <a:solidFill>
                  <a:srgbClr val="334155"/>
                </a:solidFill>
                <a:latin typeface="Noto Sans KR"/>
                <a:ea typeface="Noto Sans KR"/>
                <a:cs typeface="Noto Sans KR"/>
                <a:sym typeface="Noto Sans KR"/>
              </a:rPr>
              <a:t>최종 완성된 AST를</a:t>
            </a:r>
            <a:br>
              <a:rPr b="0" i="0" lang="ko-KR" sz="1800" u="none" cap="none" strike="noStrike">
                <a:solidFill>
                  <a:schemeClr val="dk1"/>
                </a:solidFill>
                <a:latin typeface="Calibri"/>
                <a:ea typeface="Calibri"/>
                <a:cs typeface="Calibri"/>
                <a:sym typeface="Calibri"/>
              </a:rPr>
            </a:br>
            <a:r>
              <a:rPr b="0" i="0" lang="ko-KR" sz="1200" u="none" cap="none" strike="noStrike">
                <a:solidFill>
                  <a:srgbClr val="334155"/>
                </a:solidFill>
                <a:latin typeface="Noto Sans KR"/>
                <a:ea typeface="Noto Sans KR"/>
                <a:cs typeface="Noto Sans KR"/>
                <a:sym typeface="Noto Sans KR"/>
              </a:rPr>
              <a:t> 해석하고 </a:t>
            </a:r>
            <a:r>
              <a:rPr b="1" i="0" lang="ko-KR" sz="1200" u="none" cap="none" strike="noStrike">
                <a:solidFill>
                  <a:srgbClr val="334155"/>
                </a:solidFill>
                <a:latin typeface="Noto Sans KR"/>
                <a:ea typeface="Noto Sans KR"/>
                <a:cs typeface="Noto Sans KR"/>
                <a:sym typeface="Noto Sans KR"/>
              </a:rPr>
              <a:t>실행 결과</a:t>
            </a:r>
            <a:r>
              <a:rPr b="0" i="0" lang="ko-KR" sz="1200" u="none" cap="none" strike="noStrike">
                <a:solidFill>
                  <a:srgbClr val="334155"/>
                </a:solidFill>
                <a:latin typeface="Noto Sans KR"/>
                <a:ea typeface="Noto Sans KR"/>
                <a:cs typeface="Noto Sans KR"/>
                <a:sym typeface="Noto Sans KR"/>
              </a:rPr>
              <a:t> 도출</a:t>
            </a:r>
            <a:endParaRPr b="0" i="0" sz="1400" u="none" cap="none" strike="noStrike">
              <a:solidFill>
                <a:srgbClr val="000000"/>
              </a:solidFill>
              <a:latin typeface="Arial"/>
              <a:ea typeface="Arial"/>
              <a:cs typeface="Arial"/>
              <a:sym typeface="Arial"/>
            </a:endParaRPr>
          </a:p>
        </p:txBody>
      </p:sp>
      <p:sp>
        <p:nvSpPr>
          <p:cNvPr id="338" name="Google Shape;338;p24"/>
          <p:cNvSpPr/>
          <p:nvPr/>
        </p:nvSpPr>
        <p:spPr>
          <a:xfrm>
            <a:off x="1588740" y="3750469"/>
            <a:ext cx="266700" cy="266700"/>
          </a:xfrm>
          <a:prstGeom prst="roundRect">
            <a:avLst>
              <a:gd fmla="val 50000" name="adj"/>
            </a:avLst>
          </a:prstGeom>
          <a:solidFill>
            <a:srgbClr val="FFFFFF"/>
          </a:solidFill>
          <a:ln cap="flat" cmpd="sng" w="47625">
            <a:solidFill>
              <a:srgbClr val="3B82F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9" name="Google Shape;339;p24"/>
          <p:cNvSpPr/>
          <p:nvPr/>
        </p:nvSpPr>
        <p:spPr>
          <a:xfrm>
            <a:off x="4326880" y="3750469"/>
            <a:ext cx="266700" cy="266700"/>
          </a:xfrm>
          <a:prstGeom prst="roundRect">
            <a:avLst>
              <a:gd fmla="val 50000" name="adj"/>
            </a:avLst>
          </a:prstGeom>
          <a:solidFill>
            <a:srgbClr val="FFFFFF"/>
          </a:solidFill>
          <a:ln cap="flat" cmpd="sng" w="47625">
            <a:solidFill>
              <a:srgbClr val="6366F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0" name="Google Shape;340;p24"/>
          <p:cNvSpPr/>
          <p:nvPr/>
        </p:nvSpPr>
        <p:spPr>
          <a:xfrm>
            <a:off x="7065019" y="3750469"/>
            <a:ext cx="266700" cy="266700"/>
          </a:xfrm>
          <a:prstGeom prst="roundRect">
            <a:avLst>
              <a:gd fmla="val 50000" name="adj"/>
            </a:avLst>
          </a:prstGeom>
          <a:solidFill>
            <a:srgbClr val="FFFFFF"/>
          </a:solidFill>
          <a:ln cap="flat" cmpd="sng" w="47625">
            <a:solidFill>
              <a:srgbClr val="8B5CF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1" name="Google Shape;341;p24"/>
          <p:cNvSpPr/>
          <p:nvPr/>
        </p:nvSpPr>
        <p:spPr>
          <a:xfrm>
            <a:off x="9803159" y="3750469"/>
            <a:ext cx="266700" cy="266700"/>
          </a:xfrm>
          <a:prstGeom prst="roundRect">
            <a:avLst>
              <a:gd fmla="val 50000" name="adj"/>
            </a:avLst>
          </a:prstGeom>
          <a:solidFill>
            <a:srgbClr val="FFFFFF"/>
          </a:solidFill>
          <a:ln cap="flat" cmpd="sng" w="47625">
            <a:solidFill>
              <a:srgbClr val="A855F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Malgun Gothic"/>
              <a:buNone/>
            </a:pPr>
            <a:r>
              <a:rPr lang="ko-KR"/>
              <a:t>파이프라인 흐름</a:t>
            </a:r>
            <a:endParaRPr/>
          </a:p>
        </p:txBody>
      </p:sp>
      <p:pic>
        <p:nvPicPr>
          <p:cNvPr id="347" name="Google Shape;347;p25"/>
          <p:cNvPicPr preferRelativeResize="0"/>
          <p:nvPr/>
        </p:nvPicPr>
        <p:blipFill rotWithShape="1">
          <a:blip r:embed="rId3">
            <a:alphaModFix/>
          </a:blip>
          <a:srcRect b="0" l="0" r="0" t="0"/>
          <a:stretch/>
        </p:blipFill>
        <p:spPr>
          <a:xfrm>
            <a:off x="1988800" y="1690688"/>
            <a:ext cx="8949474" cy="4862513"/>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Malgun Gothic"/>
              <a:buNone/>
            </a:pPr>
            <a:r>
              <a:rPr lang="ko-KR"/>
              <a:t>4인 병렬 개발을 위한 아키텍처 설계</a:t>
            </a:r>
            <a:endParaRPr/>
          </a:p>
        </p:txBody>
      </p:sp>
      <p:pic>
        <p:nvPicPr>
          <p:cNvPr descr="image.png" id="353" name="Google Shape;353;p26"/>
          <p:cNvPicPr preferRelativeResize="0"/>
          <p:nvPr/>
        </p:nvPicPr>
        <p:blipFill rotWithShape="1">
          <a:blip r:embed="rId3">
            <a:alphaModFix/>
          </a:blip>
          <a:srcRect b="0" l="0" r="0" t="0"/>
          <a:stretch/>
        </p:blipFill>
        <p:spPr>
          <a:xfrm>
            <a:off x="718663" y="2334667"/>
            <a:ext cx="5095875" cy="1594395"/>
          </a:xfrm>
          <a:prstGeom prst="rect">
            <a:avLst/>
          </a:prstGeom>
          <a:noFill/>
          <a:ln>
            <a:noFill/>
          </a:ln>
        </p:spPr>
      </p:pic>
      <p:pic>
        <p:nvPicPr>
          <p:cNvPr descr="image.png" id="354" name="Google Shape;354;p26"/>
          <p:cNvPicPr preferRelativeResize="0"/>
          <p:nvPr/>
        </p:nvPicPr>
        <p:blipFill rotWithShape="1">
          <a:blip r:embed="rId4">
            <a:alphaModFix/>
          </a:blip>
          <a:srcRect b="0" l="0" r="0" t="0"/>
          <a:stretch/>
        </p:blipFill>
        <p:spPr>
          <a:xfrm>
            <a:off x="718663" y="4214812"/>
            <a:ext cx="5095875" cy="1594395"/>
          </a:xfrm>
          <a:prstGeom prst="rect">
            <a:avLst/>
          </a:prstGeom>
          <a:noFill/>
          <a:ln>
            <a:noFill/>
          </a:ln>
        </p:spPr>
      </p:pic>
      <p:sp>
        <p:nvSpPr>
          <p:cNvPr id="355" name="Google Shape;355;p26"/>
          <p:cNvSpPr txBox="1"/>
          <p:nvPr/>
        </p:nvSpPr>
        <p:spPr>
          <a:xfrm>
            <a:off x="6334125" y="2271712"/>
            <a:ext cx="5350668" cy="35242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ko-KR" sz="1800" u="none" cap="none" strike="noStrike">
                <a:solidFill>
                  <a:srgbClr val="4F46E5"/>
                </a:solidFill>
                <a:latin typeface="Poppins"/>
                <a:ea typeface="Poppins"/>
                <a:cs typeface="Poppins"/>
                <a:sym typeface="Poppins"/>
              </a:rPr>
              <a:t>3가지 핵심 설계 원칙</a:t>
            </a:r>
            <a:endParaRPr b="0" i="0" sz="1400" u="none" cap="none" strike="noStrike">
              <a:solidFill>
                <a:srgbClr val="000000"/>
              </a:solidFill>
              <a:latin typeface="Arial"/>
              <a:ea typeface="Arial"/>
              <a:cs typeface="Arial"/>
              <a:sym typeface="Arial"/>
            </a:endParaRPr>
          </a:p>
        </p:txBody>
      </p:sp>
      <p:sp>
        <p:nvSpPr>
          <p:cNvPr id="356" name="Google Shape;356;p26"/>
          <p:cNvSpPr txBox="1"/>
          <p:nvPr/>
        </p:nvSpPr>
        <p:spPr>
          <a:xfrm>
            <a:off x="947263" y="2525167"/>
            <a:ext cx="4910613" cy="295275"/>
          </a:xfrm>
          <a:prstGeom prst="rect">
            <a:avLst/>
          </a:prstGeom>
          <a:noFill/>
          <a:ln>
            <a:noFill/>
          </a:ln>
        </p:spPr>
        <p:txBody>
          <a:bodyPr anchorCtr="0" anchor="t" bIns="0" lIns="19050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ko-KR" sz="1500" u="none" cap="none" strike="noStrike">
                <a:solidFill>
                  <a:srgbClr val="B91C1C"/>
                </a:solidFill>
                <a:latin typeface="Poppins"/>
                <a:ea typeface="Poppins"/>
                <a:cs typeface="Poppins"/>
                <a:sym typeface="Poppins"/>
              </a:rPr>
              <a:t>잘못된 방법 (강한 결합)</a:t>
            </a:r>
            <a:endParaRPr b="0" i="0" sz="1400" u="none" cap="none" strike="noStrike">
              <a:solidFill>
                <a:srgbClr val="000000"/>
              </a:solidFill>
              <a:latin typeface="Arial"/>
              <a:ea typeface="Arial"/>
              <a:cs typeface="Arial"/>
              <a:sym typeface="Arial"/>
            </a:endParaRPr>
          </a:p>
        </p:txBody>
      </p:sp>
      <p:sp>
        <p:nvSpPr>
          <p:cNvPr id="357" name="Google Shape;357;p26"/>
          <p:cNvSpPr txBox="1"/>
          <p:nvPr/>
        </p:nvSpPr>
        <p:spPr>
          <a:xfrm>
            <a:off x="947263" y="2915692"/>
            <a:ext cx="4676775" cy="82287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1350"/>
              <a:buFont typeface="Arial"/>
              <a:buNone/>
            </a:pPr>
            <a:r>
              <a:rPr b="0" i="0" lang="ko-KR" sz="1350" u="none" cap="none" strike="noStrike">
                <a:solidFill>
                  <a:srgbClr val="334155"/>
                </a:solidFill>
                <a:latin typeface="Noto Sans KR"/>
                <a:ea typeface="Noto Sans KR"/>
                <a:cs typeface="Noto Sans KR"/>
                <a:sym typeface="Noto Sans KR"/>
              </a:rPr>
              <a:t>Interpreter 클래스 내부에 Lexer 객체를 직접 생성하고 호출함.</a:t>
            </a:r>
            <a:br>
              <a:rPr b="0" i="0" lang="ko-KR" sz="1800" u="none" cap="none" strike="noStrike">
                <a:solidFill>
                  <a:schemeClr val="dk1"/>
                </a:solidFill>
                <a:latin typeface="Calibri"/>
                <a:ea typeface="Calibri"/>
                <a:cs typeface="Calibri"/>
                <a:sym typeface="Calibri"/>
              </a:rPr>
            </a:br>
            <a:r>
              <a:rPr b="0" i="0" lang="ko-KR" sz="1350" u="none" cap="none" strike="noStrike">
                <a:solidFill>
                  <a:srgbClr val="334155"/>
                </a:solidFill>
                <a:latin typeface="Noto Sans KR"/>
                <a:ea typeface="Noto Sans KR"/>
                <a:cs typeface="Noto Sans KR"/>
                <a:sym typeface="Noto Sans KR"/>
              </a:rPr>
              <a:t> → A팀원이 Lexer 코드를 수정하면, D팀원의 Interpreter 빌드가 깨짐.</a:t>
            </a:r>
            <a:endParaRPr b="0" i="0" sz="1400" u="none" cap="none" strike="noStrike">
              <a:solidFill>
                <a:srgbClr val="000000"/>
              </a:solidFill>
              <a:latin typeface="Arial"/>
              <a:ea typeface="Arial"/>
              <a:cs typeface="Arial"/>
              <a:sym typeface="Arial"/>
            </a:endParaRPr>
          </a:p>
        </p:txBody>
      </p:sp>
      <p:sp>
        <p:nvSpPr>
          <p:cNvPr id="358" name="Google Shape;358;p26"/>
          <p:cNvSpPr txBox="1"/>
          <p:nvPr/>
        </p:nvSpPr>
        <p:spPr>
          <a:xfrm>
            <a:off x="947263" y="4405312"/>
            <a:ext cx="4910613" cy="295275"/>
          </a:xfrm>
          <a:prstGeom prst="rect">
            <a:avLst/>
          </a:prstGeom>
          <a:noFill/>
          <a:ln>
            <a:noFill/>
          </a:ln>
        </p:spPr>
        <p:txBody>
          <a:bodyPr anchorCtr="0" anchor="t" bIns="0" lIns="142875"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ko-KR" sz="1500" u="none" cap="none" strike="noStrike">
                <a:solidFill>
                  <a:srgbClr val="15803D"/>
                </a:solidFill>
                <a:latin typeface="Poppins"/>
                <a:ea typeface="Poppins"/>
                <a:cs typeface="Poppins"/>
                <a:sym typeface="Poppins"/>
              </a:rPr>
              <a:t>올바른 방법 (인터페이스 기반 분리)</a:t>
            </a:r>
            <a:endParaRPr b="0" i="0" sz="1400" u="none" cap="none" strike="noStrike">
              <a:solidFill>
                <a:srgbClr val="000000"/>
              </a:solidFill>
              <a:latin typeface="Arial"/>
              <a:ea typeface="Arial"/>
              <a:cs typeface="Arial"/>
              <a:sym typeface="Arial"/>
            </a:endParaRPr>
          </a:p>
        </p:txBody>
      </p:sp>
      <p:sp>
        <p:nvSpPr>
          <p:cNvPr id="359" name="Google Shape;359;p26"/>
          <p:cNvSpPr txBox="1"/>
          <p:nvPr/>
        </p:nvSpPr>
        <p:spPr>
          <a:xfrm>
            <a:off x="947263" y="4795837"/>
            <a:ext cx="4676775" cy="82287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1350"/>
              <a:buFont typeface="Arial"/>
              <a:buNone/>
            </a:pPr>
            <a:r>
              <a:rPr b="0" i="0" lang="ko-KR" sz="1350" u="none" cap="none" strike="noStrike">
                <a:solidFill>
                  <a:srgbClr val="334155"/>
                </a:solidFill>
                <a:latin typeface="Noto Sans KR"/>
                <a:ea typeface="Noto Sans KR"/>
                <a:cs typeface="Noto Sans KR"/>
                <a:sym typeface="Noto Sans KR"/>
              </a:rPr>
              <a:t>서로를 </a:t>
            </a:r>
            <a:r>
              <a:rPr b="1" i="0" lang="ko-KR" sz="1350" u="none" cap="none" strike="noStrike">
                <a:solidFill>
                  <a:srgbClr val="334155"/>
                </a:solidFill>
                <a:latin typeface="Noto Sans KR"/>
                <a:ea typeface="Noto Sans KR"/>
                <a:cs typeface="Noto Sans KR"/>
                <a:sym typeface="Noto Sans KR"/>
              </a:rPr>
              <a:t>"계약(Contract)"</a:t>
            </a:r>
            <a:r>
              <a:rPr b="0" i="0" lang="ko-KR" sz="1350" u="none" cap="none" strike="noStrike">
                <a:solidFill>
                  <a:srgbClr val="334155"/>
                </a:solidFill>
                <a:latin typeface="Noto Sans KR"/>
                <a:ea typeface="Noto Sans KR"/>
                <a:cs typeface="Noto Sans KR"/>
                <a:sym typeface="Noto Sans KR"/>
              </a:rPr>
              <a:t>으로만 인식함.</a:t>
            </a:r>
            <a:br>
              <a:rPr b="0" i="0" lang="ko-KR" sz="1800" u="none" cap="none" strike="noStrike">
                <a:solidFill>
                  <a:schemeClr val="dk1"/>
                </a:solidFill>
                <a:latin typeface="Calibri"/>
                <a:ea typeface="Calibri"/>
                <a:cs typeface="Calibri"/>
                <a:sym typeface="Calibri"/>
              </a:rPr>
            </a:br>
            <a:r>
              <a:rPr b="0" i="0" lang="ko-KR" sz="1350" u="none" cap="none" strike="noStrike">
                <a:solidFill>
                  <a:srgbClr val="334155"/>
                </a:solidFill>
                <a:latin typeface="Noto Sans KR"/>
                <a:ea typeface="Noto Sans KR"/>
                <a:cs typeface="Noto Sans KR"/>
                <a:sym typeface="Noto Sans KR"/>
              </a:rPr>
              <a:t> → 내부 구현 코드가 바뀌어도, 계약된 입출력 포맷만 유지하면 동시 개발이 가능함.</a:t>
            </a:r>
            <a:endParaRPr b="0" i="0" sz="1400" u="none" cap="none" strike="noStrike">
              <a:solidFill>
                <a:srgbClr val="000000"/>
              </a:solidFill>
              <a:latin typeface="Arial"/>
              <a:ea typeface="Arial"/>
              <a:cs typeface="Arial"/>
              <a:sym typeface="Arial"/>
            </a:endParaRPr>
          </a:p>
        </p:txBody>
      </p:sp>
      <p:sp>
        <p:nvSpPr>
          <p:cNvPr id="360" name="Google Shape;360;p26"/>
          <p:cNvSpPr txBox="1"/>
          <p:nvPr/>
        </p:nvSpPr>
        <p:spPr>
          <a:xfrm>
            <a:off x="6648450" y="2814637"/>
            <a:ext cx="4781550" cy="914400"/>
          </a:xfrm>
          <a:prstGeom prst="rect">
            <a:avLst/>
          </a:prstGeom>
          <a:noFill/>
          <a:ln>
            <a:noFill/>
          </a:ln>
        </p:spPr>
        <p:txBody>
          <a:bodyPr anchorCtr="0" anchor="ctr" bIns="0" lIns="0" spcFirstLastPara="1" rIns="0" wrap="square" tIns="0">
            <a:spAutoFit/>
          </a:bodyPr>
          <a:lstStyle/>
          <a:p>
            <a:pPr indent="0" lvl="0" marL="0" marR="0" rtl="0" algn="l">
              <a:lnSpc>
                <a:spcPct val="133333"/>
              </a:lnSpc>
              <a:spcBef>
                <a:spcPts val="0"/>
              </a:spcBef>
              <a:spcAft>
                <a:spcPts val="0"/>
              </a:spcAft>
              <a:buClr>
                <a:srgbClr val="000000"/>
              </a:buClr>
              <a:buSzPts val="1500"/>
              <a:buFont typeface="Arial"/>
              <a:buNone/>
            </a:pPr>
            <a:r>
              <a:rPr b="1" i="0" lang="ko-KR" sz="1500" u="none" cap="none" strike="noStrike">
                <a:solidFill>
                  <a:srgbClr val="334155"/>
                </a:solidFill>
                <a:latin typeface="Noto Sans KR"/>
                <a:ea typeface="Noto Sans KR"/>
                <a:cs typeface="Noto Sans KR"/>
                <a:sym typeface="Noto Sans KR"/>
              </a:rPr>
              <a:t>설계 원칙 ① : 인터페이스 분리</a:t>
            </a:r>
            <a:br>
              <a:rPr b="0" i="0" lang="ko-KR" sz="1800" u="none" cap="none" strike="noStrike">
                <a:solidFill>
                  <a:schemeClr val="dk1"/>
                </a:solidFill>
                <a:latin typeface="Calibri"/>
                <a:ea typeface="Calibri"/>
                <a:cs typeface="Calibri"/>
                <a:sym typeface="Calibri"/>
              </a:rPr>
            </a:br>
            <a:r>
              <a:rPr b="0" i="0" lang="ko-KR" sz="1500" u="none" cap="none" strike="noStrike">
                <a:solidFill>
                  <a:srgbClr val="334155"/>
                </a:solidFill>
                <a:latin typeface="Noto Sans KR"/>
                <a:ea typeface="Noto Sans KR"/>
                <a:cs typeface="Noto Sans KR"/>
                <a:sym typeface="Noto Sans KR"/>
              </a:rPr>
              <a:t> 모든 모듈은 순수 가상 함수(Interface)로 통신</a:t>
            </a:r>
            <a:endParaRPr b="0" i="0" sz="1400" u="none" cap="none" strike="noStrike">
              <a:solidFill>
                <a:srgbClr val="000000"/>
              </a:solidFill>
              <a:latin typeface="Arial"/>
              <a:ea typeface="Arial"/>
              <a:cs typeface="Arial"/>
              <a:sym typeface="Arial"/>
            </a:endParaRPr>
          </a:p>
        </p:txBody>
      </p:sp>
      <p:sp>
        <p:nvSpPr>
          <p:cNvPr id="361" name="Google Shape;361;p26"/>
          <p:cNvSpPr txBox="1"/>
          <p:nvPr/>
        </p:nvSpPr>
        <p:spPr>
          <a:xfrm>
            <a:off x="6705600" y="3881437"/>
            <a:ext cx="4724400" cy="914400"/>
          </a:xfrm>
          <a:prstGeom prst="rect">
            <a:avLst/>
          </a:prstGeom>
          <a:noFill/>
          <a:ln>
            <a:noFill/>
          </a:ln>
        </p:spPr>
        <p:txBody>
          <a:bodyPr anchorCtr="0" anchor="ctr" bIns="0" lIns="0" spcFirstLastPara="1" rIns="0" wrap="square" tIns="0">
            <a:spAutoFit/>
          </a:bodyPr>
          <a:lstStyle/>
          <a:p>
            <a:pPr indent="0" lvl="0" marL="0" marR="0" rtl="0" algn="l">
              <a:lnSpc>
                <a:spcPct val="133333"/>
              </a:lnSpc>
              <a:spcBef>
                <a:spcPts val="0"/>
              </a:spcBef>
              <a:spcAft>
                <a:spcPts val="0"/>
              </a:spcAft>
              <a:buClr>
                <a:srgbClr val="000000"/>
              </a:buClr>
              <a:buSzPts val="1500"/>
              <a:buFont typeface="Arial"/>
              <a:buNone/>
            </a:pPr>
            <a:r>
              <a:rPr b="1" i="0" lang="ko-KR" sz="1500" u="none" cap="none" strike="noStrike">
                <a:solidFill>
                  <a:srgbClr val="334155"/>
                </a:solidFill>
                <a:latin typeface="Noto Sans KR"/>
                <a:ea typeface="Noto Sans KR"/>
                <a:cs typeface="Noto Sans KR"/>
                <a:sym typeface="Noto Sans KR"/>
              </a:rPr>
              <a:t>설계 원칙 ② : 의존성 주입 (DI) &amp; Mock</a:t>
            </a:r>
            <a:br>
              <a:rPr b="0" i="0" lang="ko-KR" sz="1800" u="none" cap="none" strike="noStrike">
                <a:solidFill>
                  <a:schemeClr val="dk1"/>
                </a:solidFill>
                <a:latin typeface="Calibri"/>
                <a:ea typeface="Calibri"/>
                <a:cs typeface="Calibri"/>
                <a:sym typeface="Calibri"/>
              </a:rPr>
            </a:br>
            <a:r>
              <a:rPr b="0" i="0" lang="ko-KR" sz="1500" u="none" cap="none" strike="noStrike">
                <a:solidFill>
                  <a:srgbClr val="334155"/>
                </a:solidFill>
                <a:latin typeface="Noto Sans KR"/>
                <a:ea typeface="Noto Sans KR"/>
                <a:cs typeface="Noto Sans KR"/>
                <a:sym typeface="Noto Sans KR"/>
              </a:rPr>
              <a:t> Factory 패턴으로 조립, 미완성 모듈은 Mock으로 가짜 주입</a:t>
            </a:r>
            <a:endParaRPr b="0" i="0" sz="1400" u="none" cap="none" strike="noStrike">
              <a:solidFill>
                <a:srgbClr val="000000"/>
              </a:solidFill>
              <a:latin typeface="Arial"/>
              <a:ea typeface="Arial"/>
              <a:cs typeface="Arial"/>
              <a:sym typeface="Arial"/>
            </a:endParaRPr>
          </a:p>
        </p:txBody>
      </p:sp>
      <p:sp>
        <p:nvSpPr>
          <p:cNvPr id="362" name="Google Shape;362;p26"/>
          <p:cNvSpPr txBox="1"/>
          <p:nvPr/>
        </p:nvSpPr>
        <p:spPr>
          <a:xfrm>
            <a:off x="6705600" y="4948237"/>
            <a:ext cx="4724400" cy="914400"/>
          </a:xfrm>
          <a:prstGeom prst="rect">
            <a:avLst/>
          </a:prstGeom>
          <a:noFill/>
          <a:ln>
            <a:noFill/>
          </a:ln>
        </p:spPr>
        <p:txBody>
          <a:bodyPr anchorCtr="0" anchor="ctr" bIns="0" lIns="0" spcFirstLastPara="1" rIns="0" wrap="square" tIns="0">
            <a:spAutoFit/>
          </a:bodyPr>
          <a:lstStyle/>
          <a:p>
            <a:pPr indent="0" lvl="0" marL="0" marR="0" rtl="0" algn="l">
              <a:lnSpc>
                <a:spcPct val="133333"/>
              </a:lnSpc>
              <a:spcBef>
                <a:spcPts val="0"/>
              </a:spcBef>
              <a:spcAft>
                <a:spcPts val="0"/>
              </a:spcAft>
              <a:buClr>
                <a:srgbClr val="000000"/>
              </a:buClr>
              <a:buSzPts val="1500"/>
              <a:buFont typeface="Arial"/>
              <a:buNone/>
            </a:pPr>
            <a:r>
              <a:rPr b="1" i="0" lang="ko-KR" sz="1500" u="none" cap="none" strike="noStrike">
                <a:solidFill>
                  <a:srgbClr val="334155"/>
                </a:solidFill>
                <a:latin typeface="Noto Sans KR"/>
                <a:ea typeface="Noto Sans KR"/>
                <a:cs typeface="Noto Sans KR"/>
                <a:sym typeface="Noto Sans KR"/>
              </a:rPr>
              <a:t>설계 원칙 ③ : Visitor 패턴</a:t>
            </a:r>
            <a:br>
              <a:rPr b="0" i="0" lang="ko-KR" sz="1800" u="none" cap="none" strike="noStrike">
                <a:solidFill>
                  <a:schemeClr val="dk1"/>
                </a:solidFill>
                <a:latin typeface="Calibri"/>
                <a:ea typeface="Calibri"/>
                <a:cs typeface="Calibri"/>
                <a:sym typeface="Calibri"/>
              </a:rPr>
            </a:br>
            <a:r>
              <a:rPr b="0" i="0" lang="ko-KR" sz="1500" u="none" cap="none" strike="noStrike">
                <a:solidFill>
                  <a:srgbClr val="334155"/>
                </a:solidFill>
                <a:latin typeface="Noto Sans KR"/>
                <a:ea typeface="Noto Sans KR"/>
                <a:cs typeface="Noto Sans KR"/>
                <a:sym typeface="Noto Sans KR"/>
              </a:rPr>
              <a:t> AST 노드 확장 시, 누락 방지를 위한 컴파일 타임 안전망 확보</a:t>
            </a:r>
            <a:endParaRPr b="0" i="0" sz="1400" u="none" cap="none" strike="noStrike">
              <a:solidFill>
                <a:srgbClr val="000000"/>
              </a:solidFill>
              <a:latin typeface="Arial"/>
              <a:ea typeface="Arial"/>
              <a:cs typeface="Arial"/>
              <a:sym typeface="Arial"/>
            </a:endParaRPr>
          </a:p>
        </p:txBody>
      </p:sp>
      <p:pic>
        <p:nvPicPr>
          <p:cNvPr descr="image.png" id="363" name="Google Shape;363;p26"/>
          <p:cNvPicPr preferRelativeResize="0"/>
          <p:nvPr/>
        </p:nvPicPr>
        <p:blipFill rotWithShape="1">
          <a:blip r:embed="rId5">
            <a:alphaModFix/>
          </a:blip>
          <a:srcRect b="0" l="0" r="0" t="0"/>
          <a:stretch/>
        </p:blipFill>
        <p:spPr>
          <a:xfrm>
            <a:off x="947263" y="2582317"/>
            <a:ext cx="190500" cy="190500"/>
          </a:xfrm>
          <a:prstGeom prst="rect">
            <a:avLst/>
          </a:prstGeom>
          <a:noFill/>
          <a:ln>
            <a:noFill/>
          </a:ln>
        </p:spPr>
      </p:pic>
      <p:pic>
        <p:nvPicPr>
          <p:cNvPr descr="image.png" id="364" name="Google Shape;364;p26"/>
          <p:cNvPicPr preferRelativeResize="0"/>
          <p:nvPr/>
        </p:nvPicPr>
        <p:blipFill rotWithShape="1">
          <a:blip r:embed="rId6">
            <a:alphaModFix/>
          </a:blip>
          <a:srcRect b="0" l="0" r="0" t="0"/>
          <a:stretch/>
        </p:blipFill>
        <p:spPr>
          <a:xfrm>
            <a:off x="947263" y="4462462"/>
            <a:ext cx="142875" cy="190500"/>
          </a:xfrm>
          <a:prstGeom prst="rect">
            <a:avLst/>
          </a:prstGeom>
          <a:noFill/>
          <a:ln>
            <a:noFill/>
          </a:ln>
        </p:spPr>
      </p:pic>
      <p:pic>
        <p:nvPicPr>
          <p:cNvPr descr="image.png" id="365" name="Google Shape;365;p26"/>
          <p:cNvPicPr preferRelativeResize="0"/>
          <p:nvPr/>
        </p:nvPicPr>
        <p:blipFill rotWithShape="1">
          <a:blip r:embed="rId7">
            <a:alphaModFix/>
          </a:blip>
          <a:srcRect b="0" l="0" r="0" t="0"/>
          <a:stretch/>
        </p:blipFill>
        <p:spPr>
          <a:xfrm>
            <a:off x="6334125" y="3148012"/>
            <a:ext cx="171450" cy="247650"/>
          </a:xfrm>
          <a:prstGeom prst="rect">
            <a:avLst/>
          </a:prstGeom>
          <a:noFill/>
          <a:ln>
            <a:noFill/>
          </a:ln>
        </p:spPr>
      </p:pic>
      <p:pic>
        <p:nvPicPr>
          <p:cNvPr descr="image.png" id="366" name="Google Shape;366;p26"/>
          <p:cNvPicPr preferRelativeResize="0"/>
          <p:nvPr/>
        </p:nvPicPr>
        <p:blipFill rotWithShape="1">
          <a:blip r:embed="rId8">
            <a:alphaModFix/>
          </a:blip>
          <a:srcRect b="0" l="0" r="0" t="0"/>
          <a:stretch/>
        </p:blipFill>
        <p:spPr>
          <a:xfrm>
            <a:off x="6334125" y="4214812"/>
            <a:ext cx="228600" cy="247650"/>
          </a:xfrm>
          <a:prstGeom prst="rect">
            <a:avLst/>
          </a:prstGeom>
          <a:noFill/>
          <a:ln>
            <a:noFill/>
          </a:ln>
        </p:spPr>
      </p:pic>
      <p:pic>
        <p:nvPicPr>
          <p:cNvPr descr="image.png" id="367" name="Google Shape;367;p26"/>
          <p:cNvPicPr preferRelativeResize="0"/>
          <p:nvPr/>
        </p:nvPicPr>
        <p:blipFill rotWithShape="1">
          <a:blip r:embed="rId9">
            <a:alphaModFix/>
          </a:blip>
          <a:srcRect b="0" l="0" r="0" t="0"/>
          <a:stretch/>
        </p:blipFill>
        <p:spPr>
          <a:xfrm>
            <a:off x="6334125" y="5281612"/>
            <a:ext cx="228600" cy="247650"/>
          </a:xfrm>
          <a:prstGeom prst="rect">
            <a:avLst/>
          </a:prstGeom>
          <a:noFill/>
          <a:ln>
            <a:noFill/>
          </a:ln>
        </p:spPr>
      </p:pic>
      <p:sp>
        <p:nvSpPr>
          <p:cNvPr id="368" name="Google Shape;368;p26"/>
          <p:cNvSpPr txBox="1"/>
          <p:nvPr/>
        </p:nvSpPr>
        <p:spPr>
          <a:xfrm>
            <a:off x="718663" y="1658392"/>
            <a:ext cx="6305550" cy="30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650"/>
              <a:buFont typeface="Arial"/>
              <a:buNone/>
            </a:pPr>
            <a:r>
              <a:rPr b="0" i="0" lang="ko-KR" sz="1650" u="none" cap="none" strike="noStrike">
                <a:solidFill>
                  <a:srgbClr val="64748B"/>
                </a:solidFill>
                <a:latin typeface="Noto Sans KR"/>
                <a:ea typeface="Noto Sans KR"/>
                <a:cs typeface="Noto Sans KR"/>
                <a:sym typeface="Noto Sans KR"/>
              </a:rPr>
              <a:t>문제: "4명이 서로의 코드를 기다리지 않고 충돌 없이 동시에 개발하려면?"</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Malgun Gothic"/>
              <a:buNone/>
            </a:pPr>
            <a:r>
              <a:rPr lang="ko-KR"/>
              <a:t>의존성 주입(DI)과 Mock을 활용한 독립 테스트</a:t>
            </a:r>
            <a:endParaRPr/>
          </a:p>
        </p:txBody>
      </p:sp>
      <p:pic>
        <p:nvPicPr>
          <p:cNvPr descr="image.png" id="374" name="Google Shape;374;p27"/>
          <p:cNvPicPr preferRelativeResize="0"/>
          <p:nvPr/>
        </p:nvPicPr>
        <p:blipFill rotWithShape="1">
          <a:blip r:embed="rId3">
            <a:alphaModFix/>
          </a:blip>
          <a:srcRect b="0" l="0" r="0" t="0"/>
          <a:stretch/>
        </p:blipFill>
        <p:spPr>
          <a:xfrm>
            <a:off x="762000" y="1962150"/>
            <a:ext cx="5095875" cy="1857375"/>
          </a:xfrm>
          <a:prstGeom prst="rect">
            <a:avLst/>
          </a:prstGeom>
          <a:noFill/>
          <a:ln>
            <a:noFill/>
          </a:ln>
        </p:spPr>
      </p:pic>
      <p:pic>
        <p:nvPicPr>
          <p:cNvPr descr="image.png" id="375" name="Google Shape;375;p27"/>
          <p:cNvPicPr preferRelativeResize="0"/>
          <p:nvPr/>
        </p:nvPicPr>
        <p:blipFill rotWithShape="1">
          <a:blip r:embed="rId4">
            <a:alphaModFix/>
          </a:blip>
          <a:srcRect b="0" l="0" r="0" t="0"/>
          <a:stretch/>
        </p:blipFill>
        <p:spPr>
          <a:xfrm>
            <a:off x="762000" y="4371975"/>
            <a:ext cx="5095875" cy="1657350"/>
          </a:xfrm>
          <a:prstGeom prst="rect">
            <a:avLst/>
          </a:prstGeom>
          <a:noFill/>
          <a:ln>
            <a:noFill/>
          </a:ln>
        </p:spPr>
      </p:pic>
      <p:pic>
        <p:nvPicPr>
          <p:cNvPr descr="image.png" id="376" name="Google Shape;376;p27"/>
          <p:cNvPicPr preferRelativeResize="0"/>
          <p:nvPr/>
        </p:nvPicPr>
        <p:blipFill rotWithShape="1">
          <a:blip r:embed="rId5">
            <a:alphaModFix/>
          </a:blip>
          <a:srcRect b="0" l="0" r="0" t="0"/>
          <a:stretch/>
        </p:blipFill>
        <p:spPr>
          <a:xfrm>
            <a:off x="6334125" y="1962150"/>
            <a:ext cx="5095875" cy="3057525"/>
          </a:xfrm>
          <a:prstGeom prst="rect">
            <a:avLst/>
          </a:prstGeom>
          <a:noFill/>
          <a:ln>
            <a:noFill/>
          </a:ln>
        </p:spPr>
      </p:pic>
      <p:sp>
        <p:nvSpPr>
          <p:cNvPr id="377" name="Google Shape;377;p27"/>
          <p:cNvSpPr txBox="1"/>
          <p:nvPr/>
        </p:nvSpPr>
        <p:spPr>
          <a:xfrm>
            <a:off x="762000" y="1600200"/>
            <a:ext cx="5350668" cy="266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50"/>
              <a:buFont typeface="Arial"/>
              <a:buNone/>
            </a:pPr>
            <a:r>
              <a:rPr b="1" i="0" lang="ko-KR" sz="1350" u="none" cap="none" strike="noStrike">
                <a:solidFill>
                  <a:srgbClr val="0F172A"/>
                </a:solidFill>
                <a:latin typeface="Poppins"/>
                <a:ea typeface="Poppins"/>
                <a:cs typeface="Poppins"/>
                <a:sym typeface="Poppins"/>
              </a:rPr>
              <a:t>1. 인터페이스 계약 (src/interface/)</a:t>
            </a:r>
            <a:endParaRPr b="0" i="0" sz="1400" u="none" cap="none" strike="noStrike">
              <a:solidFill>
                <a:srgbClr val="000000"/>
              </a:solidFill>
              <a:latin typeface="Arial"/>
              <a:ea typeface="Arial"/>
              <a:cs typeface="Arial"/>
              <a:sym typeface="Arial"/>
            </a:endParaRPr>
          </a:p>
        </p:txBody>
      </p:sp>
      <p:sp>
        <p:nvSpPr>
          <p:cNvPr id="378" name="Google Shape;378;p27"/>
          <p:cNvSpPr txBox="1"/>
          <p:nvPr/>
        </p:nvSpPr>
        <p:spPr>
          <a:xfrm>
            <a:off x="762000" y="4010025"/>
            <a:ext cx="5350668" cy="266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50"/>
              <a:buFont typeface="Arial"/>
              <a:buNone/>
            </a:pPr>
            <a:r>
              <a:rPr b="1" i="0" lang="ko-KR" sz="1350" u="none" cap="none" strike="noStrike">
                <a:solidFill>
                  <a:srgbClr val="0F172A"/>
                </a:solidFill>
                <a:latin typeface="Poppins"/>
                <a:ea typeface="Poppins"/>
                <a:cs typeface="Poppins"/>
                <a:sym typeface="Poppins"/>
              </a:rPr>
              <a:t>2. Mock 객체 생성 (GoogleMock)</a:t>
            </a:r>
            <a:endParaRPr b="0" i="0" sz="1400" u="none" cap="none" strike="noStrike">
              <a:solidFill>
                <a:srgbClr val="000000"/>
              </a:solidFill>
              <a:latin typeface="Arial"/>
              <a:ea typeface="Arial"/>
              <a:cs typeface="Arial"/>
              <a:sym typeface="Arial"/>
            </a:endParaRPr>
          </a:p>
        </p:txBody>
      </p:sp>
      <p:sp>
        <p:nvSpPr>
          <p:cNvPr id="379" name="Google Shape;379;p27"/>
          <p:cNvSpPr txBox="1"/>
          <p:nvPr/>
        </p:nvSpPr>
        <p:spPr>
          <a:xfrm>
            <a:off x="6334125" y="1600200"/>
            <a:ext cx="5350668" cy="20774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50"/>
              <a:buFont typeface="Arial"/>
              <a:buNone/>
            </a:pPr>
            <a:r>
              <a:rPr b="1" i="0" lang="ko-KR" sz="1350" u="none" cap="none" strike="noStrike">
                <a:solidFill>
                  <a:srgbClr val="0F172A"/>
                </a:solidFill>
                <a:latin typeface="Poppins"/>
                <a:ea typeface="Poppins"/>
                <a:cs typeface="Poppins"/>
                <a:sym typeface="Poppins"/>
              </a:rPr>
              <a:t>3.  예시 D팀원(Interpreter) 단독 테스트</a:t>
            </a:r>
            <a:endParaRPr b="0" i="0" sz="1400" u="none" cap="none" strike="noStrike">
              <a:solidFill>
                <a:srgbClr val="000000"/>
              </a:solidFill>
              <a:latin typeface="Arial"/>
              <a:ea typeface="Arial"/>
              <a:cs typeface="Arial"/>
              <a:sym typeface="Arial"/>
            </a:endParaRPr>
          </a:p>
        </p:txBody>
      </p:sp>
      <p:sp>
        <p:nvSpPr>
          <p:cNvPr id="380" name="Google Shape;380;p27"/>
          <p:cNvSpPr/>
          <p:nvPr/>
        </p:nvSpPr>
        <p:spPr>
          <a:xfrm>
            <a:off x="6334125" y="5210175"/>
            <a:ext cx="4284600" cy="1431000"/>
          </a:xfrm>
          <a:prstGeom prst="roundRect">
            <a:avLst>
              <a:gd fmla="val 0" name="adj"/>
            </a:avLst>
          </a:prstGeom>
          <a:solidFill>
            <a:srgbClr val="FFFFFF"/>
          </a:solidFill>
          <a:ln cap="flat" cmpd="sng" w="9525">
            <a:solidFill>
              <a:srgbClr val="4A7DBA"/>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aphicFrame>
        <p:nvGraphicFramePr>
          <p:cNvPr id="381" name="Google Shape;381;p27"/>
          <p:cNvGraphicFramePr/>
          <p:nvPr/>
        </p:nvGraphicFramePr>
        <p:xfrm>
          <a:off x="6334125" y="5210175"/>
          <a:ext cx="3000000" cy="3000000"/>
        </p:xfrm>
        <a:graphic>
          <a:graphicData uri="http://schemas.openxmlformats.org/drawingml/2006/table">
            <a:tbl>
              <a:tblPr>
                <a:noFill/>
                <a:tableStyleId>{F9C213E6-7237-467A-AF39-990B62790904}</a:tableStyleId>
              </a:tblPr>
              <a:tblGrid>
                <a:gridCol w="837450"/>
                <a:gridCol w="898775"/>
                <a:gridCol w="1031525"/>
                <a:gridCol w="1516850"/>
              </a:tblGrid>
              <a:tr h="331400">
                <a:tc>
                  <a:txBody>
                    <a:bodyPr/>
                    <a:lstStyle/>
                    <a:p>
                      <a:pPr indent="0" lvl="0" marL="0" marR="0" rtl="0" algn="l">
                        <a:lnSpc>
                          <a:spcPct val="100000"/>
                        </a:lnSpc>
                        <a:spcBef>
                          <a:spcPts val="0"/>
                        </a:spcBef>
                        <a:spcAft>
                          <a:spcPts val="0"/>
                        </a:spcAft>
                        <a:buClr>
                          <a:srgbClr val="000000"/>
                        </a:buClr>
                        <a:buSzPts val="1125"/>
                        <a:buFont typeface="Arial"/>
                        <a:buNone/>
                      </a:pPr>
                      <a:r>
                        <a:rPr b="1" i="0" lang="ko-KR" sz="1125" u="none" cap="none" strike="noStrike">
                          <a:solidFill>
                            <a:srgbClr val="1E293B"/>
                          </a:solidFill>
                          <a:latin typeface="Noto Sans KR"/>
                          <a:ea typeface="Noto Sans KR"/>
                          <a:cs typeface="Noto Sans KR"/>
                          <a:sym typeface="Noto Sans KR"/>
                        </a:rPr>
                        <a:t>Lexer</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lnSpc>
                          <a:spcPct val="100000"/>
                        </a:lnSpc>
                        <a:spcBef>
                          <a:spcPts val="0"/>
                        </a:spcBef>
                        <a:spcAft>
                          <a:spcPts val="0"/>
                        </a:spcAft>
                        <a:buClr>
                          <a:srgbClr val="000000"/>
                        </a:buClr>
                        <a:buSzPts val="1125"/>
                        <a:buFont typeface="Arial"/>
                        <a:buNone/>
                      </a:pPr>
                      <a:r>
                        <a:rPr b="1" i="0" lang="ko-KR" sz="1125" u="none" cap="none" strike="noStrike">
                          <a:solidFill>
                            <a:srgbClr val="1E293B"/>
                          </a:solidFill>
                          <a:latin typeface="Noto Sans KR"/>
                          <a:ea typeface="Noto Sans KR"/>
                          <a:cs typeface="Noto Sans KR"/>
                          <a:sym typeface="Noto Sans KR"/>
                        </a:rPr>
                        <a:t>Parser</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lnSpc>
                          <a:spcPct val="100000"/>
                        </a:lnSpc>
                        <a:spcBef>
                          <a:spcPts val="0"/>
                        </a:spcBef>
                        <a:spcAft>
                          <a:spcPts val="0"/>
                        </a:spcAft>
                        <a:buClr>
                          <a:srgbClr val="000000"/>
                        </a:buClr>
                        <a:buSzPts val="1125"/>
                        <a:buFont typeface="Arial"/>
                        <a:buNone/>
                      </a:pPr>
                      <a:r>
                        <a:rPr b="1" i="0" lang="ko-KR" sz="1125" u="none" cap="none" strike="noStrike">
                          <a:solidFill>
                            <a:srgbClr val="1E293B"/>
                          </a:solidFill>
                          <a:latin typeface="Noto Sans KR"/>
                          <a:ea typeface="Noto Sans KR"/>
                          <a:cs typeface="Noto Sans KR"/>
                          <a:sym typeface="Noto Sans KR"/>
                        </a:rPr>
                        <a:t>Checker</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lnSpc>
                          <a:spcPct val="100000"/>
                        </a:lnSpc>
                        <a:spcBef>
                          <a:spcPts val="0"/>
                        </a:spcBef>
                        <a:spcAft>
                          <a:spcPts val="0"/>
                        </a:spcAft>
                        <a:buClr>
                          <a:srgbClr val="000000"/>
                        </a:buClr>
                        <a:buSzPts val="1125"/>
                        <a:buFont typeface="Arial"/>
                        <a:buNone/>
                      </a:pPr>
                      <a:r>
                        <a:rPr b="1" i="0" lang="ko-KR" sz="1125" u="none" cap="none" strike="noStrike">
                          <a:solidFill>
                            <a:srgbClr val="1E293B"/>
                          </a:solidFill>
                          <a:latin typeface="Noto Sans KR"/>
                          <a:ea typeface="Noto Sans KR"/>
                          <a:cs typeface="Noto Sans KR"/>
                          <a:sym typeface="Noto Sans KR"/>
                        </a:rPr>
                        <a:t>Interpreter</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r h="331400">
                <a:tc>
                  <a:txBody>
                    <a:bodyPr/>
                    <a:lstStyle/>
                    <a:p>
                      <a:pPr indent="0" lvl="0" marL="0" marR="0" rtl="0" algn="l">
                        <a:lnSpc>
                          <a:spcPct val="100000"/>
                        </a:lnSpc>
                        <a:spcBef>
                          <a:spcPts val="0"/>
                        </a:spcBef>
                        <a:spcAft>
                          <a:spcPts val="0"/>
                        </a:spcAft>
                        <a:buClr>
                          <a:srgbClr val="000000"/>
                        </a:buClr>
                        <a:buSzPts val="1125"/>
                        <a:buFont typeface="Arial"/>
                        <a:buNone/>
                      </a:pPr>
                      <a:r>
                        <a:rPr b="0" i="0" lang="ko-KR" sz="1125" u="none" cap="none" strike="noStrike">
                          <a:solidFill>
                            <a:srgbClr val="334155"/>
                          </a:solidFill>
                          <a:latin typeface="Noto Sans KR"/>
                          <a:ea typeface="Noto Sans KR"/>
                          <a:cs typeface="Noto Sans KR"/>
                          <a:sym typeface="Noto Sans KR"/>
                        </a:rPr>
                        <a:t>Real</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25"/>
                        <a:buFont typeface="Arial"/>
                        <a:buNone/>
                      </a:pPr>
                      <a:r>
                        <a:rPr b="1" i="0" lang="ko-KR" sz="1125" u="none" cap="none" strike="noStrike">
                          <a:solidFill>
                            <a:srgbClr val="EF4444"/>
                          </a:solidFill>
                          <a:latin typeface="Noto Sans KR"/>
                          <a:ea typeface="Noto Sans KR"/>
                          <a:cs typeface="Noto Sans KR"/>
                          <a:sym typeface="Noto Sans KR"/>
                        </a:rPr>
                        <a:t>Mock</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25"/>
                        <a:buFont typeface="Arial"/>
                        <a:buNone/>
                      </a:pPr>
                      <a:r>
                        <a:rPr b="1" i="0" lang="ko-KR" sz="1125" u="none" cap="none" strike="noStrike">
                          <a:solidFill>
                            <a:srgbClr val="EF4444"/>
                          </a:solidFill>
                          <a:latin typeface="Noto Sans KR"/>
                          <a:ea typeface="Noto Sans KR"/>
                          <a:cs typeface="Noto Sans KR"/>
                          <a:sym typeface="Noto Sans KR"/>
                        </a:rPr>
                        <a:t>Mock</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25"/>
                        <a:buFont typeface="Arial"/>
                        <a:buNone/>
                      </a:pPr>
                      <a:r>
                        <a:rPr b="0" i="0" lang="ko-KR" sz="1125" u="none" cap="none" strike="noStrike">
                          <a:solidFill>
                            <a:srgbClr val="334155"/>
                          </a:solidFill>
                          <a:latin typeface="Noto Sans KR"/>
                          <a:ea typeface="Noto Sans KR"/>
                          <a:cs typeface="Noto Sans KR"/>
                          <a:sym typeface="Noto Sans KR"/>
                        </a:rPr>
                        <a:t>Real (D 독립테스트)</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31400">
                <a:tc>
                  <a:txBody>
                    <a:bodyPr/>
                    <a:lstStyle/>
                    <a:p>
                      <a:pPr indent="0" lvl="0" marL="0" marR="0" rtl="0" algn="l">
                        <a:lnSpc>
                          <a:spcPct val="100000"/>
                        </a:lnSpc>
                        <a:spcBef>
                          <a:spcPts val="0"/>
                        </a:spcBef>
                        <a:spcAft>
                          <a:spcPts val="0"/>
                        </a:spcAft>
                        <a:buClr>
                          <a:srgbClr val="000000"/>
                        </a:buClr>
                        <a:buSzPts val="1125"/>
                        <a:buFont typeface="Arial"/>
                        <a:buNone/>
                      </a:pPr>
                      <a:r>
                        <a:rPr b="0" i="0" lang="ko-KR" sz="1125" u="none" cap="none" strike="noStrike">
                          <a:solidFill>
                            <a:srgbClr val="334155"/>
                          </a:solidFill>
                          <a:latin typeface="Noto Sans KR"/>
                          <a:ea typeface="Noto Sans KR"/>
                          <a:cs typeface="Noto Sans KR"/>
                          <a:sym typeface="Noto Sans KR"/>
                        </a:rPr>
                        <a:t>Real</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25"/>
                        <a:buFont typeface="Arial"/>
                        <a:buNone/>
                      </a:pPr>
                      <a:r>
                        <a:rPr b="0" i="0" lang="ko-KR" sz="1125" u="none" cap="none" strike="noStrike">
                          <a:solidFill>
                            <a:srgbClr val="334155"/>
                          </a:solidFill>
                          <a:latin typeface="Noto Sans KR"/>
                          <a:ea typeface="Noto Sans KR"/>
                          <a:cs typeface="Noto Sans KR"/>
                          <a:sym typeface="Noto Sans KR"/>
                        </a:rPr>
                        <a:t>Real</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25"/>
                        <a:buFont typeface="Arial"/>
                        <a:buNone/>
                      </a:pPr>
                      <a:r>
                        <a:rPr b="1" i="0" lang="ko-KR" sz="1125" u="none" cap="none" strike="noStrike">
                          <a:solidFill>
                            <a:srgbClr val="EF4444"/>
                          </a:solidFill>
                          <a:latin typeface="Noto Sans KR"/>
                          <a:ea typeface="Noto Sans KR"/>
                          <a:cs typeface="Noto Sans KR"/>
                          <a:sym typeface="Noto Sans KR"/>
                        </a:rPr>
                        <a:t>Mock</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25"/>
                        <a:buFont typeface="Arial"/>
                        <a:buNone/>
                      </a:pPr>
                      <a:r>
                        <a:rPr b="0" i="0" lang="ko-KR" sz="1125" u="none" cap="none" strike="noStrike">
                          <a:solidFill>
                            <a:srgbClr val="334155"/>
                          </a:solidFill>
                          <a:latin typeface="Noto Sans KR"/>
                          <a:ea typeface="Noto Sans KR"/>
                          <a:cs typeface="Noto Sans KR"/>
                          <a:sym typeface="Noto Sans KR"/>
                        </a:rPr>
                        <a:t>Real (부분 통합)</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31400">
                <a:tc>
                  <a:txBody>
                    <a:bodyPr/>
                    <a:lstStyle/>
                    <a:p>
                      <a:pPr indent="0" lvl="0" marL="0" marR="0" rtl="0" algn="l">
                        <a:lnSpc>
                          <a:spcPct val="100000"/>
                        </a:lnSpc>
                        <a:spcBef>
                          <a:spcPts val="0"/>
                        </a:spcBef>
                        <a:spcAft>
                          <a:spcPts val="0"/>
                        </a:spcAft>
                        <a:buClr>
                          <a:srgbClr val="000000"/>
                        </a:buClr>
                        <a:buSzPts val="1125"/>
                        <a:buFont typeface="Arial"/>
                        <a:buNone/>
                      </a:pPr>
                      <a:r>
                        <a:rPr b="1" i="0" lang="ko-KR" sz="1125" u="none" cap="none" strike="noStrike">
                          <a:solidFill>
                            <a:srgbClr val="10B981"/>
                          </a:solidFill>
                          <a:latin typeface="Noto Sans KR"/>
                          <a:ea typeface="Noto Sans KR"/>
                          <a:cs typeface="Noto Sans KR"/>
                          <a:sym typeface="Noto Sans KR"/>
                        </a:rPr>
                        <a:t>Real</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25"/>
                        <a:buFont typeface="Arial"/>
                        <a:buNone/>
                      </a:pPr>
                      <a:r>
                        <a:rPr b="1" i="0" lang="ko-KR" sz="1125" u="none" cap="none" strike="noStrike">
                          <a:solidFill>
                            <a:srgbClr val="10B981"/>
                          </a:solidFill>
                          <a:latin typeface="Noto Sans KR"/>
                          <a:ea typeface="Noto Sans KR"/>
                          <a:cs typeface="Noto Sans KR"/>
                          <a:sym typeface="Noto Sans KR"/>
                        </a:rPr>
                        <a:t>Real</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25"/>
                        <a:buFont typeface="Arial"/>
                        <a:buNone/>
                      </a:pPr>
                      <a:r>
                        <a:rPr b="1" i="0" lang="ko-KR" sz="1125" u="none" cap="none" strike="noStrike">
                          <a:solidFill>
                            <a:srgbClr val="10B981"/>
                          </a:solidFill>
                          <a:latin typeface="Noto Sans KR"/>
                          <a:ea typeface="Noto Sans KR"/>
                          <a:cs typeface="Noto Sans KR"/>
                          <a:sym typeface="Noto Sans KR"/>
                        </a:rPr>
                        <a:t>Real</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25"/>
                        <a:buFont typeface="Arial"/>
                        <a:buNone/>
                      </a:pPr>
                      <a:r>
                        <a:rPr b="1" i="0" lang="ko-KR" sz="1125" u="none" cap="none" strike="noStrike">
                          <a:solidFill>
                            <a:srgbClr val="10B981"/>
                          </a:solidFill>
                          <a:latin typeface="Noto Sans KR"/>
                          <a:ea typeface="Noto Sans KR"/>
                          <a:cs typeface="Noto Sans KR"/>
                          <a:sym typeface="Noto Sans KR"/>
                        </a:rPr>
                        <a:t>Real (전체 통합)</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382" name="Google Shape;382;p27"/>
          <p:cNvSpPr/>
          <p:nvPr/>
        </p:nvSpPr>
        <p:spPr>
          <a:xfrm>
            <a:off x="6338887" y="5748337"/>
            <a:ext cx="80173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3" name="Google Shape;383;p27"/>
          <p:cNvSpPr/>
          <p:nvPr/>
        </p:nvSpPr>
        <p:spPr>
          <a:xfrm>
            <a:off x="7140624" y="5748337"/>
            <a:ext cx="837455"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4" name="Google Shape;384;p27"/>
          <p:cNvSpPr/>
          <p:nvPr/>
        </p:nvSpPr>
        <p:spPr>
          <a:xfrm>
            <a:off x="7978080" y="5748337"/>
            <a:ext cx="898773"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5" name="Google Shape;385;p27"/>
          <p:cNvSpPr/>
          <p:nvPr/>
        </p:nvSpPr>
        <p:spPr>
          <a:xfrm>
            <a:off x="8876853" y="5748337"/>
            <a:ext cx="103152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6" name="Google Shape;386;p27"/>
          <p:cNvSpPr/>
          <p:nvPr/>
        </p:nvSpPr>
        <p:spPr>
          <a:xfrm>
            <a:off x="9908381" y="5748337"/>
            <a:ext cx="1516856"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7" name="Google Shape;387;p27"/>
          <p:cNvSpPr/>
          <p:nvPr/>
        </p:nvSpPr>
        <p:spPr>
          <a:xfrm>
            <a:off x="6338887" y="6291262"/>
            <a:ext cx="80173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8" name="Google Shape;388;p27"/>
          <p:cNvSpPr/>
          <p:nvPr/>
        </p:nvSpPr>
        <p:spPr>
          <a:xfrm>
            <a:off x="7140624" y="6291262"/>
            <a:ext cx="837455"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9" name="Google Shape;389;p27"/>
          <p:cNvSpPr/>
          <p:nvPr/>
        </p:nvSpPr>
        <p:spPr>
          <a:xfrm>
            <a:off x="7978080" y="6291262"/>
            <a:ext cx="898773"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0" name="Google Shape;390;p27"/>
          <p:cNvSpPr/>
          <p:nvPr/>
        </p:nvSpPr>
        <p:spPr>
          <a:xfrm>
            <a:off x="8876853" y="6291262"/>
            <a:ext cx="103152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1" name="Google Shape;391;p27"/>
          <p:cNvSpPr/>
          <p:nvPr/>
        </p:nvSpPr>
        <p:spPr>
          <a:xfrm>
            <a:off x="9908381" y="6291262"/>
            <a:ext cx="1516856"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2" name="Google Shape;392;p27"/>
          <p:cNvSpPr/>
          <p:nvPr/>
        </p:nvSpPr>
        <p:spPr>
          <a:xfrm>
            <a:off x="6338887" y="6834187"/>
            <a:ext cx="80173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3" name="Google Shape;393;p27"/>
          <p:cNvSpPr/>
          <p:nvPr/>
        </p:nvSpPr>
        <p:spPr>
          <a:xfrm>
            <a:off x="7140624" y="6834187"/>
            <a:ext cx="837455"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4" name="Google Shape;394;p27"/>
          <p:cNvSpPr/>
          <p:nvPr/>
        </p:nvSpPr>
        <p:spPr>
          <a:xfrm>
            <a:off x="7978080" y="6834187"/>
            <a:ext cx="898773"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5" name="Google Shape;395;p27"/>
          <p:cNvSpPr/>
          <p:nvPr/>
        </p:nvSpPr>
        <p:spPr>
          <a:xfrm>
            <a:off x="8876853" y="6834187"/>
            <a:ext cx="103152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6" name="Google Shape;396;p27"/>
          <p:cNvSpPr/>
          <p:nvPr/>
        </p:nvSpPr>
        <p:spPr>
          <a:xfrm>
            <a:off x="9908381" y="6834187"/>
            <a:ext cx="1516856"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Malgun Gothic"/>
              <a:buNone/>
            </a:pPr>
            <a:r>
              <a:rPr lang="ko-KR"/>
              <a:t>Visitor 패턴을 통한 안전한 노드 확장</a:t>
            </a:r>
            <a:endParaRPr/>
          </a:p>
        </p:txBody>
      </p:sp>
      <p:sp>
        <p:nvSpPr>
          <p:cNvPr id="402" name="Google Shape;402;p28"/>
          <p:cNvSpPr/>
          <p:nvPr/>
        </p:nvSpPr>
        <p:spPr>
          <a:xfrm>
            <a:off x="6338887" y="6462712"/>
            <a:ext cx="80173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3" name="Google Shape;403;p28"/>
          <p:cNvSpPr/>
          <p:nvPr/>
        </p:nvSpPr>
        <p:spPr>
          <a:xfrm>
            <a:off x="7140624" y="6462712"/>
            <a:ext cx="837455"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4" name="Google Shape;404;p28"/>
          <p:cNvSpPr/>
          <p:nvPr/>
        </p:nvSpPr>
        <p:spPr>
          <a:xfrm>
            <a:off x="7978080" y="6462712"/>
            <a:ext cx="898773"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5" name="Google Shape;405;p28"/>
          <p:cNvSpPr/>
          <p:nvPr/>
        </p:nvSpPr>
        <p:spPr>
          <a:xfrm>
            <a:off x="8876853" y="6462712"/>
            <a:ext cx="103152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6" name="Google Shape;406;p28"/>
          <p:cNvSpPr/>
          <p:nvPr/>
        </p:nvSpPr>
        <p:spPr>
          <a:xfrm>
            <a:off x="9908381" y="6462712"/>
            <a:ext cx="1516856"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image.png" id="407" name="Google Shape;407;p28"/>
          <p:cNvPicPr preferRelativeResize="0"/>
          <p:nvPr/>
        </p:nvPicPr>
        <p:blipFill rotWithShape="1">
          <a:blip r:embed="rId3">
            <a:alphaModFix/>
          </a:blip>
          <a:srcRect b="0" l="0" r="0" t="0"/>
          <a:stretch/>
        </p:blipFill>
        <p:spPr>
          <a:xfrm>
            <a:off x="762000" y="1628775"/>
            <a:ext cx="5095875" cy="1152525"/>
          </a:xfrm>
          <a:prstGeom prst="rect">
            <a:avLst/>
          </a:prstGeom>
          <a:noFill/>
          <a:ln>
            <a:noFill/>
          </a:ln>
        </p:spPr>
      </p:pic>
      <p:pic>
        <p:nvPicPr>
          <p:cNvPr descr="image.png" id="408" name="Google Shape;408;p28"/>
          <p:cNvPicPr preferRelativeResize="0"/>
          <p:nvPr/>
        </p:nvPicPr>
        <p:blipFill rotWithShape="1">
          <a:blip r:embed="rId4">
            <a:alphaModFix/>
          </a:blip>
          <a:srcRect b="0" l="0" r="0" t="0"/>
          <a:stretch/>
        </p:blipFill>
        <p:spPr>
          <a:xfrm>
            <a:off x="762000" y="2924175"/>
            <a:ext cx="5095875" cy="3857625"/>
          </a:xfrm>
          <a:prstGeom prst="rect">
            <a:avLst/>
          </a:prstGeom>
          <a:noFill/>
          <a:ln>
            <a:noFill/>
          </a:ln>
        </p:spPr>
      </p:pic>
      <p:pic>
        <p:nvPicPr>
          <p:cNvPr descr="image.png" id="409" name="Google Shape;409;p28"/>
          <p:cNvPicPr preferRelativeResize="0"/>
          <p:nvPr/>
        </p:nvPicPr>
        <p:blipFill rotWithShape="1">
          <a:blip r:embed="rId5">
            <a:alphaModFix/>
          </a:blip>
          <a:srcRect b="0" l="0" r="0" t="0"/>
          <a:stretch/>
        </p:blipFill>
        <p:spPr>
          <a:xfrm>
            <a:off x="6334125" y="1628775"/>
            <a:ext cx="5095875" cy="1152525"/>
          </a:xfrm>
          <a:prstGeom prst="rect">
            <a:avLst/>
          </a:prstGeom>
          <a:noFill/>
          <a:ln>
            <a:noFill/>
          </a:ln>
        </p:spPr>
      </p:pic>
      <p:pic>
        <p:nvPicPr>
          <p:cNvPr descr="image.png" id="410" name="Google Shape;410;p28"/>
          <p:cNvPicPr preferRelativeResize="0"/>
          <p:nvPr/>
        </p:nvPicPr>
        <p:blipFill rotWithShape="1">
          <a:blip r:embed="rId6">
            <a:alphaModFix/>
          </a:blip>
          <a:srcRect b="0" l="0" r="0" t="0"/>
          <a:stretch/>
        </p:blipFill>
        <p:spPr>
          <a:xfrm>
            <a:off x="6334125" y="2924175"/>
            <a:ext cx="5095875" cy="3857625"/>
          </a:xfrm>
          <a:prstGeom prst="rect">
            <a:avLst/>
          </a:prstGeom>
          <a:noFill/>
          <a:ln>
            <a:noFill/>
          </a:ln>
        </p:spPr>
      </p:pic>
      <p:sp>
        <p:nvSpPr>
          <p:cNvPr id="411" name="Google Shape;411;p28"/>
          <p:cNvSpPr txBox="1"/>
          <p:nvPr/>
        </p:nvSpPr>
        <p:spPr>
          <a:xfrm>
            <a:off x="990600" y="1819275"/>
            <a:ext cx="4910613" cy="266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50"/>
              <a:buFont typeface="Arial"/>
              <a:buNone/>
            </a:pPr>
            <a:r>
              <a:rPr b="1" i="0" lang="ko-KR" sz="1350" u="none" cap="none" strike="noStrike">
                <a:solidFill>
                  <a:srgbClr val="B91C1C"/>
                </a:solidFill>
                <a:latin typeface="Poppins"/>
                <a:ea typeface="Poppins"/>
                <a:cs typeface="Poppins"/>
                <a:sym typeface="Poppins"/>
              </a:rPr>
              <a:t>❌ 런타임 에러 위험 (Dynamic Cast)</a:t>
            </a:r>
            <a:endParaRPr b="0" i="0" sz="1400" u="none" cap="none" strike="noStrike">
              <a:solidFill>
                <a:srgbClr val="000000"/>
              </a:solidFill>
              <a:latin typeface="Arial"/>
              <a:ea typeface="Arial"/>
              <a:cs typeface="Arial"/>
              <a:sym typeface="Arial"/>
            </a:endParaRPr>
          </a:p>
        </p:txBody>
      </p:sp>
      <p:sp>
        <p:nvSpPr>
          <p:cNvPr id="412" name="Google Shape;412;p28"/>
          <p:cNvSpPr txBox="1"/>
          <p:nvPr/>
        </p:nvSpPr>
        <p:spPr>
          <a:xfrm>
            <a:off x="990600" y="2133600"/>
            <a:ext cx="4676775" cy="457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125"/>
              <a:buFont typeface="Arial"/>
              <a:buNone/>
            </a:pPr>
            <a:r>
              <a:rPr b="0" i="0" lang="ko-KR" sz="1125" u="none" cap="none" strike="noStrike">
                <a:solidFill>
                  <a:srgbClr val="334155"/>
                </a:solidFill>
                <a:latin typeface="Noto Sans KR"/>
                <a:ea typeface="Noto Sans KR"/>
                <a:cs typeface="Noto Sans KR"/>
                <a:sym typeface="Noto Sans KR"/>
              </a:rPr>
              <a:t>새로운 노드(CallExpr) 추가 시, Checker나 Interpreter에서 처리를 잊어버려도 컴파일은 성공함.</a:t>
            </a:r>
            <a:endParaRPr b="0" i="0" sz="1400" u="none" cap="none" strike="noStrike">
              <a:solidFill>
                <a:srgbClr val="000000"/>
              </a:solidFill>
              <a:latin typeface="Arial"/>
              <a:ea typeface="Arial"/>
              <a:cs typeface="Arial"/>
              <a:sym typeface="Arial"/>
            </a:endParaRPr>
          </a:p>
        </p:txBody>
      </p:sp>
      <p:sp>
        <p:nvSpPr>
          <p:cNvPr id="413" name="Google Shape;413;p28"/>
          <p:cNvSpPr txBox="1"/>
          <p:nvPr/>
        </p:nvSpPr>
        <p:spPr>
          <a:xfrm>
            <a:off x="6562725" y="1819275"/>
            <a:ext cx="4910613" cy="266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50"/>
              <a:buFont typeface="Arial"/>
              <a:buNone/>
            </a:pPr>
            <a:r>
              <a:rPr b="1" i="0" lang="ko-KR" sz="1350" u="none" cap="none" strike="noStrike">
                <a:solidFill>
                  <a:srgbClr val="15803D"/>
                </a:solidFill>
                <a:latin typeface="Poppins"/>
                <a:ea typeface="Poppins"/>
                <a:cs typeface="Poppins"/>
                <a:sym typeface="Poppins"/>
              </a:rPr>
              <a:t>✅ 컴파일 타임 안전망 (Visitor Pattern)</a:t>
            </a:r>
            <a:endParaRPr b="0" i="0" sz="1400" u="none" cap="none" strike="noStrike">
              <a:solidFill>
                <a:srgbClr val="000000"/>
              </a:solidFill>
              <a:latin typeface="Arial"/>
              <a:ea typeface="Arial"/>
              <a:cs typeface="Arial"/>
              <a:sym typeface="Arial"/>
            </a:endParaRPr>
          </a:p>
        </p:txBody>
      </p:sp>
      <p:sp>
        <p:nvSpPr>
          <p:cNvPr id="414" name="Google Shape;414;p28"/>
          <p:cNvSpPr txBox="1"/>
          <p:nvPr/>
        </p:nvSpPr>
        <p:spPr>
          <a:xfrm>
            <a:off x="6562725" y="2133600"/>
            <a:ext cx="4676775" cy="457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125"/>
              <a:buFont typeface="Arial"/>
              <a:buNone/>
            </a:pPr>
            <a:r>
              <a:rPr b="0" i="0" lang="ko-KR" sz="1125" u="none" cap="none" strike="noStrike">
                <a:solidFill>
                  <a:srgbClr val="334155"/>
                </a:solidFill>
                <a:latin typeface="Noto Sans KR"/>
                <a:ea typeface="Noto Sans KR"/>
                <a:cs typeface="Noto Sans KR"/>
                <a:sym typeface="Noto Sans KR"/>
              </a:rPr>
              <a:t>인터페이스에 순수 가상 함수를 추가하여, 구현하지 않은 클래스에서 </a:t>
            </a:r>
            <a:r>
              <a:rPr b="1" i="0" lang="ko-KR" sz="1125" u="none" cap="none" strike="noStrike">
                <a:solidFill>
                  <a:srgbClr val="334155"/>
                </a:solidFill>
                <a:latin typeface="Noto Sans KR"/>
                <a:ea typeface="Noto Sans KR"/>
                <a:cs typeface="Noto Sans KR"/>
                <a:sym typeface="Noto Sans KR"/>
              </a:rPr>
              <a:t>즉시 컴파일 에러 발생</a:t>
            </a:r>
            <a:r>
              <a:rPr b="0" i="0" lang="ko-KR" sz="1125" u="none" cap="none" strike="noStrike">
                <a:solidFill>
                  <a:srgbClr val="334155"/>
                </a:solidFill>
                <a:latin typeface="Noto Sans KR"/>
                <a:ea typeface="Noto Sans KR"/>
                <a:cs typeface="Noto Sans KR"/>
                <a:sym typeface="Noto Sans KR"/>
              </a:rPr>
              <a:t>.</a:t>
            </a:r>
            <a:endParaRPr b="0" i="0" sz="1400" u="none" cap="none" strike="noStrike">
              <a:solidFill>
                <a:srgbClr val="000000"/>
              </a:solidFill>
              <a:latin typeface="Arial"/>
              <a:ea typeface="Arial"/>
              <a:cs typeface="Arial"/>
              <a:sym typeface="Arial"/>
            </a:endParaRPr>
          </a:p>
        </p:txBody>
      </p:sp>
      <p:sp>
        <p:nvSpPr>
          <p:cNvPr id="415" name="Google Shape;415;p28"/>
          <p:cNvSpPr txBox="1"/>
          <p:nvPr/>
        </p:nvSpPr>
        <p:spPr>
          <a:xfrm>
            <a:off x="762000" y="1314450"/>
            <a:ext cx="6570900" cy="2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650"/>
              <a:buFont typeface="Arial"/>
              <a:buNone/>
            </a:pPr>
            <a:r>
              <a:rPr b="0" i="0" lang="ko-KR" sz="1650" u="none" cap="none" strike="noStrike">
                <a:solidFill>
                  <a:srgbClr val="64748B"/>
                </a:solidFill>
                <a:latin typeface="Noto Sans KR"/>
                <a:ea typeface="Noto Sans KR"/>
                <a:cs typeface="Noto Sans KR"/>
                <a:sym typeface="Noto Sans KR"/>
              </a:rPr>
              <a:t>AST 노드가 추가될 때 발생할 수 있는 런타임 에러의 컴파일 타임 차단</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419" name="Shape 419"/>
        <p:cNvGrpSpPr/>
        <p:nvPr/>
      </p:nvGrpSpPr>
      <p:grpSpPr>
        <a:xfrm>
          <a:off x="0" y="0"/>
          <a:ext cx="0" cy="0"/>
          <a:chOff x="0" y="0"/>
          <a:chExt cx="0" cy="0"/>
        </a:xfrm>
      </p:grpSpPr>
      <p:pic>
        <p:nvPicPr>
          <p:cNvPr descr="image.png" id="420" name="Google Shape;420;g3ee9487a86e_0_132"/>
          <p:cNvPicPr preferRelativeResize="0"/>
          <p:nvPr/>
        </p:nvPicPr>
        <p:blipFill rotWithShape="1">
          <a:blip r:embed="rId3">
            <a:alphaModFix/>
          </a:blip>
          <a:srcRect b="0" l="0" r="0" t="0"/>
          <a:stretch/>
        </p:blipFill>
        <p:spPr>
          <a:xfrm>
            <a:off x="571500" y="1504950"/>
            <a:ext cx="5867400" cy="4391025"/>
          </a:xfrm>
          <a:prstGeom prst="rect">
            <a:avLst/>
          </a:prstGeom>
          <a:noFill/>
          <a:ln>
            <a:noFill/>
          </a:ln>
        </p:spPr>
      </p:pic>
      <p:pic>
        <p:nvPicPr>
          <p:cNvPr descr="image.png" id="421" name="Google Shape;421;g3ee9487a86e_0_132"/>
          <p:cNvPicPr preferRelativeResize="0"/>
          <p:nvPr/>
        </p:nvPicPr>
        <p:blipFill rotWithShape="1">
          <a:blip r:embed="rId4">
            <a:alphaModFix/>
          </a:blip>
          <a:srcRect b="0" l="0" r="0" t="0"/>
          <a:stretch/>
        </p:blipFill>
        <p:spPr>
          <a:xfrm>
            <a:off x="6819900" y="1504950"/>
            <a:ext cx="4800600" cy="4391025"/>
          </a:xfrm>
          <a:prstGeom prst="rect">
            <a:avLst/>
          </a:prstGeom>
          <a:noFill/>
          <a:ln>
            <a:noFill/>
          </a:ln>
        </p:spPr>
      </p:pic>
      <p:pic>
        <p:nvPicPr>
          <p:cNvPr descr="image.png" id="422" name="Google Shape;422;g3ee9487a86e_0_132"/>
          <p:cNvPicPr preferRelativeResize="0"/>
          <p:nvPr/>
        </p:nvPicPr>
        <p:blipFill rotWithShape="1">
          <a:blip r:embed="rId5">
            <a:alphaModFix/>
          </a:blip>
          <a:srcRect b="0" l="0" r="0" t="0"/>
          <a:stretch/>
        </p:blipFill>
        <p:spPr>
          <a:xfrm>
            <a:off x="809625" y="4572000"/>
            <a:ext cx="5391151" cy="1085850"/>
          </a:xfrm>
          <a:prstGeom prst="rect">
            <a:avLst/>
          </a:prstGeom>
          <a:noFill/>
          <a:ln>
            <a:noFill/>
          </a:ln>
        </p:spPr>
      </p:pic>
      <p:pic>
        <p:nvPicPr>
          <p:cNvPr descr="image.png" id="423" name="Google Shape;423;g3ee9487a86e_0_132"/>
          <p:cNvPicPr preferRelativeResize="0"/>
          <p:nvPr/>
        </p:nvPicPr>
        <p:blipFill rotWithShape="1">
          <a:blip r:embed="rId6">
            <a:alphaModFix/>
          </a:blip>
          <a:srcRect b="0" l="0" r="0" t="0"/>
          <a:stretch/>
        </p:blipFill>
        <p:spPr>
          <a:xfrm>
            <a:off x="809625" y="2143125"/>
            <a:ext cx="2619375" cy="830460"/>
          </a:xfrm>
          <a:prstGeom prst="rect">
            <a:avLst/>
          </a:prstGeom>
          <a:noFill/>
          <a:ln>
            <a:noFill/>
          </a:ln>
        </p:spPr>
      </p:pic>
      <p:pic>
        <p:nvPicPr>
          <p:cNvPr descr="image.png" id="424" name="Google Shape;424;g3ee9487a86e_0_132"/>
          <p:cNvPicPr preferRelativeResize="0"/>
          <p:nvPr/>
        </p:nvPicPr>
        <p:blipFill rotWithShape="1">
          <a:blip r:embed="rId7">
            <a:alphaModFix/>
          </a:blip>
          <a:srcRect b="0" l="0" r="0" t="0"/>
          <a:stretch/>
        </p:blipFill>
        <p:spPr>
          <a:xfrm>
            <a:off x="3581400" y="2143125"/>
            <a:ext cx="2619375" cy="830460"/>
          </a:xfrm>
          <a:prstGeom prst="rect">
            <a:avLst/>
          </a:prstGeom>
          <a:noFill/>
          <a:ln>
            <a:noFill/>
          </a:ln>
        </p:spPr>
      </p:pic>
      <p:pic>
        <p:nvPicPr>
          <p:cNvPr descr="image.png" id="425" name="Google Shape;425;g3ee9487a86e_0_132"/>
          <p:cNvPicPr preferRelativeResize="0"/>
          <p:nvPr/>
        </p:nvPicPr>
        <p:blipFill rotWithShape="1">
          <a:blip r:embed="rId6">
            <a:alphaModFix/>
          </a:blip>
          <a:srcRect b="0" l="0" r="0" t="0"/>
          <a:stretch/>
        </p:blipFill>
        <p:spPr>
          <a:xfrm>
            <a:off x="809625" y="3125985"/>
            <a:ext cx="2619375" cy="830460"/>
          </a:xfrm>
          <a:prstGeom prst="rect">
            <a:avLst/>
          </a:prstGeom>
          <a:noFill/>
          <a:ln>
            <a:noFill/>
          </a:ln>
        </p:spPr>
      </p:pic>
      <p:pic>
        <p:nvPicPr>
          <p:cNvPr descr="image.png" id="426" name="Google Shape;426;g3ee9487a86e_0_132"/>
          <p:cNvPicPr preferRelativeResize="0"/>
          <p:nvPr/>
        </p:nvPicPr>
        <p:blipFill rotWithShape="1">
          <a:blip r:embed="rId8">
            <a:alphaModFix/>
          </a:blip>
          <a:srcRect b="0" l="0" r="0" t="0"/>
          <a:stretch/>
        </p:blipFill>
        <p:spPr>
          <a:xfrm>
            <a:off x="3581400" y="3125985"/>
            <a:ext cx="2619375" cy="830460"/>
          </a:xfrm>
          <a:prstGeom prst="rect">
            <a:avLst/>
          </a:prstGeom>
          <a:noFill/>
          <a:ln>
            <a:noFill/>
          </a:ln>
        </p:spPr>
      </p:pic>
      <p:pic>
        <p:nvPicPr>
          <p:cNvPr descr="image.png" id="427" name="Google Shape;427;g3ee9487a86e_0_132"/>
          <p:cNvPicPr preferRelativeResize="0"/>
          <p:nvPr/>
        </p:nvPicPr>
        <p:blipFill rotWithShape="1">
          <a:blip r:embed="rId9">
            <a:alphaModFix/>
          </a:blip>
          <a:srcRect b="0" l="0" r="0" t="0"/>
          <a:stretch/>
        </p:blipFill>
        <p:spPr>
          <a:xfrm>
            <a:off x="571500" y="6086475"/>
            <a:ext cx="11049000" cy="295275"/>
          </a:xfrm>
          <a:prstGeom prst="rect">
            <a:avLst/>
          </a:prstGeom>
          <a:noFill/>
          <a:ln>
            <a:noFill/>
          </a:ln>
        </p:spPr>
      </p:pic>
      <p:sp>
        <p:nvSpPr>
          <p:cNvPr id="428" name="Google Shape;428;g3ee9487a86e_0_132"/>
          <p:cNvSpPr txBox="1"/>
          <p:nvPr/>
        </p:nvSpPr>
        <p:spPr>
          <a:xfrm>
            <a:off x="781050" y="6238875"/>
            <a:ext cx="2019300" cy="150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975"/>
              <a:buFont typeface="Arial"/>
              <a:buNone/>
            </a:pPr>
            <a:r>
              <a:rPr b="0" i="0" lang="ko-KR" sz="975" u="none" cap="none" strike="noStrike">
                <a:solidFill>
                  <a:srgbClr val="475569"/>
                </a:solidFill>
                <a:latin typeface="Arial"/>
                <a:ea typeface="Arial"/>
                <a:cs typeface="Arial"/>
                <a:sym typeface="Arial"/>
              </a:rPr>
              <a:t>OpenCppCoverage 0.9.9.0 기반 측정</a:t>
            </a:r>
            <a:endParaRPr b="0" i="0" sz="1400" u="none" cap="none" strike="noStrike">
              <a:solidFill>
                <a:srgbClr val="000000"/>
              </a:solidFill>
              <a:latin typeface="Arial"/>
              <a:ea typeface="Arial"/>
              <a:cs typeface="Arial"/>
              <a:sym typeface="Arial"/>
            </a:endParaRPr>
          </a:p>
        </p:txBody>
      </p:sp>
      <p:sp>
        <p:nvSpPr>
          <p:cNvPr id="429" name="Google Shape;429;g3ee9487a86e_0_132"/>
          <p:cNvSpPr txBox="1"/>
          <p:nvPr/>
        </p:nvSpPr>
        <p:spPr>
          <a:xfrm>
            <a:off x="10248900" y="6238875"/>
            <a:ext cx="1371600" cy="300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975"/>
              <a:buFont typeface="Arial"/>
              <a:buNone/>
            </a:pPr>
            <a:r>
              <a:rPr b="0" i="0" lang="ko-KR" sz="975" u="none" cap="none" strike="noStrike">
                <a:solidFill>
                  <a:srgbClr val="475569"/>
                </a:solidFill>
                <a:latin typeface="Arial"/>
                <a:ea typeface="Arial"/>
                <a:cs typeface="Arial"/>
                <a:sym typeface="Arial"/>
              </a:rPr>
              <a:t>코드 커버리지 분석 발표 자료</a:t>
            </a:r>
            <a:endParaRPr b="0" i="0" sz="1400" u="none" cap="none" strike="noStrike">
              <a:solidFill>
                <a:srgbClr val="000000"/>
              </a:solidFill>
              <a:latin typeface="Arial"/>
              <a:ea typeface="Arial"/>
              <a:cs typeface="Arial"/>
              <a:sym typeface="Arial"/>
            </a:endParaRPr>
          </a:p>
        </p:txBody>
      </p:sp>
      <p:sp>
        <p:nvSpPr>
          <p:cNvPr id="430" name="Google Shape;430;g3ee9487a86e_0_132"/>
          <p:cNvSpPr txBox="1"/>
          <p:nvPr/>
        </p:nvSpPr>
        <p:spPr>
          <a:xfrm>
            <a:off x="571500" y="476250"/>
            <a:ext cx="57564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700"/>
              <a:buFont typeface="Arial"/>
              <a:buNone/>
            </a:pPr>
            <a:r>
              <a:rPr b="0" i="0" lang="ko-KR" sz="2700" u="none" cap="none" strike="noStrike">
                <a:solidFill>
                  <a:srgbClr val="F8FAFC"/>
                </a:solidFill>
                <a:latin typeface="Arial"/>
                <a:ea typeface="Arial"/>
                <a:cs typeface="Arial"/>
                <a:sym typeface="Arial"/>
              </a:rPr>
              <a:t>프로젝트 전체 개요 및 </a:t>
            </a:r>
            <a:r>
              <a:rPr b="0" i="0" lang="ko-KR" sz="2700" u="none" cap="none" strike="noStrike">
                <a:solidFill>
                  <a:srgbClr val="0EA5E9"/>
                </a:solidFill>
                <a:latin typeface="Arial"/>
                <a:ea typeface="Arial"/>
                <a:cs typeface="Arial"/>
                <a:sym typeface="Arial"/>
              </a:rPr>
              <a:t>커버리지 여정</a:t>
            </a:r>
            <a:endParaRPr b="0" i="0" sz="1400" u="none" cap="none" strike="noStrike">
              <a:solidFill>
                <a:srgbClr val="000000"/>
              </a:solidFill>
              <a:latin typeface="Arial"/>
              <a:ea typeface="Arial"/>
              <a:cs typeface="Arial"/>
              <a:sym typeface="Arial"/>
            </a:endParaRPr>
          </a:p>
        </p:txBody>
      </p:sp>
      <p:sp>
        <p:nvSpPr>
          <p:cNvPr id="431" name="Google Shape;431;g3ee9487a86e_0_132"/>
          <p:cNvSpPr txBox="1"/>
          <p:nvPr/>
        </p:nvSpPr>
        <p:spPr>
          <a:xfrm>
            <a:off x="571500" y="933450"/>
            <a:ext cx="54294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0" i="0" lang="ko-KR" sz="1200" u="none" cap="none" strike="noStrike">
                <a:solidFill>
                  <a:srgbClr val="94A3B8"/>
                </a:solidFill>
                <a:latin typeface="Arial"/>
                <a:ea typeface="Arial"/>
                <a:cs typeface="Arial"/>
                <a:sym typeface="Arial"/>
              </a:rPr>
              <a:t>소스 트리 재구성부터 점진적인 스트림 주입 설계를 통한 최종 99% 달성 프로세스</a:t>
            </a:r>
            <a:endParaRPr b="0" i="0" sz="1400" u="none" cap="none" strike="noStrike">
              <a:solidFill>
                <a:srgbClr val="000000"/>
              </a:solidFill>
              <a:latin typeface="Arial"/>
              <a:ea typeface="Arial"/>
              <a:cs typeface="Arial"/>
              <a:sym typeface="Arial"/>
            </a:endParaRPr>
          </a:p>
        </p:txBody>
      </p:sp>
      <p:pic>
        <p:nvPicPr>
          <p:cNvPr descr="image.png" id="432" name="Google Shape;432;g3ee9487a86e_0_132"/>
          <p:cNvPicPr preferRelativeResize="0"/>
          <p:nvPr/>
        </p:nvPicPr>
        <p:blipFill rotWithShape="1">
          <a:blip r:embed="rId10">
            <a:alphaModFix/>
          </a:blip>
          <a:srcRect b="0" l="0" r="0" t="0"/>
          <a:stretch/>
        </p:blipFill>
        <p:spPr>
          <a:xfrm>
            <a:off x="571500" y="6248400"/>
            <a:ext cx="152400" cy="123825"/>
          </a:xfrm>
          <a:prstGeom prst="rect">
            <a:avLst/>
          </a:prstGeom>
          <a:noFill/>
          <a:ln>
            <a:noFill/>
          </a:ln>
        </p:spPr>
      </p:pic>
      <p:sp>
        <p:nvSpPr>
          <p:cNvPr id="433" name="Google Shape;433;g3ee9487a86e_0_132"/>
          <p:cNvSpPr txBox="1"/>
          <p:nvPr/>
        </p:nvSpPr>
        <p:spPr>
          <a:xfrm>
            <a:off x="1076325" y="1743075"/>
            <a:ext cx="5124600" cy="231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0" i="0" lang="ko-KR" sz="1500" u="none" cap="none" strike="noStrike">
                <a:solidFill>
                  <a:srgbClr val="38BDF8"/>
                </a:solidFill>
                <a:latin typeface="Arial"/>
                <a:ea typeface="Arial"/>
                <a:cs typeface="Arial"/>
                <a:sym typeface="Arial"/>
              </a:rPr>
              <a:t>프로젝트 종합 통계</a:t>
            </a:r>
            <a:endParaRPr b="0" i="0" sz="1400" u="none" cap="none" strike="noStrike">
              <a:solidFill>
                <a:srgbClr val="000000"/>
              </a:solidFill>
              <a:latin typeface="Arial"/>
              <a:ea typeface="Arial"/>
              <a:cs typeface="Arial"/>
              <a:sym typeface="Arial"/>
            </a:endParaRPr>
          </a:p>
        </p:txBody>
      </p:sp>
      <p:sp>
        <p:nvSpPr>
          <p:cNvPr id="434" name="Google Shape;434;g3ee9487a86e_0_132"/>
          <p:cNvSpPr txBox="1"/>
          <p:nvPr/>
        </p:nvSpPr>
        <p:spPr>
          <a:xfrm>
            <a:off x="1009650" y="4772025"/>
            <a:ext cx="1581300" cy="831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5400"/>
              <a:buFont typeface="Arial"/>
              <a:buNone/>
            </a:pPr>
            <a:r>
              <a:rPr b="0" i="0" lang="ko-KR" sz="5400" u="none" cap="none" strike="noStrike">
                <a:solidFill>
                  <a:srgbClr val="10B981"/>
                </a:solidFill>
                <a:latin typeface="Arial"/>
                <a:ea typeface="Arial"/>
                <a:cs typeface="Arial"/>
                <a:sym typeface="Arial"/>
              </a:rPr>
              <a:t>99%</a:t>
            </a:r>
            <a:endParaRPr b="0" i="0" sz="1400" u="none" cap="none" strike="noStrike">
              <a:solidFill>
                <a:srgbClr val="000000"/>
              </a:solidFill>
              <a:latin typeface="Arial"/>
              <a:ea typeface="Arial"/>
              <a:cs typeface="Arial"/>
              <a:sym typeface="Arial"/>
            </a:endParaRPr>
          </a:p>
        </p:txBody>
      </p:sp>
      <p:sp>
        <p:nvSpPr>
          <p:cNvPr id="435" name="Google Shape;435;g3ee9487a86e_0_132"/>
          <p:cNvSpPr txBox="1"/>
          <p:nvPr/>
        </p:nvSpPr>
        <p:spPr>
          <a:xfrm>
            <a:off x="2781300" y="4838700"/>
            <a:ext cx="3219600" cy="36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0" i="0" lang="ko-KR" sz="1200" u="none" cap="none" strike="noStrike">
                <a:solidFill>
                  <a:srgbClr val="94A3B8"/>
                </a:solidFill>
                <a:latin typeface="Arial"/>
                <a:ea typeface="Arial"/>
                <a:cs typeface="Arial"/>
                <a:sym typeface="Arial"/>
              </a:rPr>
              <a:t>최종 커버리지 (실질적 최대 상한선)</a:t>
            </a:r>
            <a:r>
              <a:rPr b="0" i="0" lang="ko-KR" sz="1200" u="none" cap="none" strike="noStrike">
                <a:solidFill>
                  <a:srgbClr val="F8FAFC"/>
                </a:solidFill>
                <a:latin typeface="Arial"/>
                <a:ea typeface="Arial"/>
                <a:cs typeface="Arial"/>
                <a:sym typeface="Arial"/>
              </a:rPr>
              <a:t> 3,166 / 3,192 라인 (도구: OpenCppCoverage)</a:t>
            </a:r>
            <a:endParaRPr b="0" i="0" sz="1400" u="none" cap="none" strike="noStrike">
              <a:solidFill>
                <a:srgbClr val="000000"/>
              </a:solidFill>
              <a:latin typeface="Arial"/>
              <a:ea typeface="Arial"/>
              <a:cs typeface="Arial"/>
              <a:sym typeface="Arial"/>
            </a:endParaRPr>
          </a:p>
        </p:txBody>
      </p:sp>
      <p:sp>
        <p:nvSpPr>
          <p:cNvPr id="436" name="Google Shape;436;g3ee9487a86e_0_132"/>
          <p:cNvSpPr txBox="1"/>
          <p:nvPr/>
        </p:nvSpPr>
        <p:spPr>
          <a:xfrm>
            <a:off x="7324725" y="1743075"/>
            <a:ext cx="4057800" cy="231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0" i="0" lang="ko-KR" sz="1500" u="none" cap="none" strike="noStrike">
                <a:solidFill>
                  <a:srgbClr val="38BDF8"/>
                </a:solidFill>
                <a:latin typeface="Arial"/>
                <a:ea typeface="Arial"/>
                <a:cs typeface="Arial"/>
                <a:sym typeface="Arial"/>
              </a:rPr>
              <a:t>커버리지 개선 전체 여정</a:t>
            </a:r>
            <a:endParaRPr b="0" i="0" sz="1400" u="none" cap="none" strike="noStrike">
              <a:solidFill>
                <a:srgbClr val="000000"/>
              </a:solidFill>
              <a:latin typeface="Arial"/>
              <a:ea typeface="Arial"/>
              <a:cs typeface="Arial"/>
              <a:sym typeface="Arial"/>
            </a:endParaRPr>
          </a:p>
        </p:txBody>
      </p:sp>
      <p:pic>
        <p:nvPicPr>
          <p:cNvPr descr="image.png" id="437" name="Google Shape;437;g3ee9487a86e_0_132"/>
          <p:cNvPicPr preferRelativeResize="0"/>
          <p:nvPr/>
        </p:nvPicPr>
        <p:blipFill rotWithShape="1">
          <a:blip r:embed="rId11">
            <a:alphaModFix/>
          </a:blip>
          <a:srcRect b="0" l="0" r="0" t="0"/>
          <a:stretch/>
        </p:blipFill>
        <p:spPr>
          <a:xfrm>
            <a:off x="809625" y="1762125"/>
            <a:ext cx="190500" cy="190500"/>
          </a:xfrm>
          <a:prstGeom prst="rect">
            <a:avLst/>
          </a:prstGeom>
          <a:noFill/>
          <a:ln>
            <a:noFill/>
          </a:ln>
        </p:spPr>
      </p:pic>
      <p:pic>
        <p:nvPicPr>
          <p:cNvPr descr="image.png" id="438" name="Google Shape;438;g3ee9487a86e_0_132"/>
          <p:cNvPicPr preferRelativeResize="0"/>
          <p:nvPr/>
        </p:nvPicPr>
        <p:blipFill rotWithShape="1">
          <a:blip r:embed="rId12">
            <a:alphaModFix/>
          </a:blip>
          <a:srcRect b="0" l="0" r="0" t="0"/>
          <a:stretch/>
        </p:blipFill>
        <p:spPr>
          <a:xfrm>
            <a:off x="7058025" y="1762125"/>
            <a:ext cx="190500" cy="190500"/>
          </a:xfrm>
          <a:prstGeom prst="rect">
            <a:avLst/>
          </a:prstGeom>
          <a:noFill/>
          <a:ln>
            <a:noFill/>
          </a:ln>
        </p:spPr>
      </p:pic>
      <p:sp>
        <p:nvSpPr>
          <p:cNvPr id="439" name="Google Shape;439;g3ee9487a86e_0_132"/>
          <p:cNvSpPr/>
          <p:nvPr/>
        </p:nvSpPr>
        <p:spPr>
          <a:xfrm>
            <a:off x="9210675" y="2238375"/>
            <a:ext cx="19200" cy="17787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40" name="Google Shape;440;g3ee9487a86e_0_132"/>
          <p:cNvSpPr txBox="1"/>
          <p:nvPr/>
        </p:nvSpPr>
        <p:spPr>
          <a:xfrm>
            <a:off x="1000125" y="2295525"/>
            <a:ext cx="227640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2400"/>
              <a:buFont typeface="Arial"/>
              <a:buNone/>
            </a:pPr>
            <a:r>
              <a:rPr b="0" i="0" lang="ko-KR" sz="2400" u="none" cap="none" strike="noStrike">
                <a:solidFill>
                  <a:srgbClr val="F8FAFC"/>
                </a:solidFill>
                <a:latin typeface="Arial"/>
                <a:ea typeface="Arial"/>
                <a:cs typeface="Arial"/>
                <a:sym typeface="Arial"/>
              </a:rPr>
              <a:t>355개</a:t>
            </a:r>
            <a:endParaRPr b="0" i="0" sz="1400" u="none" cap="none" strike="noStrike">
              <a:solidFill>
                <a:srgbClr val="000000"/>
              </a:solidFill>
              <a:latin typeface="Arial"/>
              <a:ea typeface="Arial"/>
              <a:cs typeface="Arial"/>
              <a:sym typeface="Arial"/>
            </a:endParaRPr>
          </a:p>
        </p:txBody>
      </p:sp>
      <p:sp>
        <p:nvSpPr>
          <p:cNvPr id="441" name="Google Shape;441;g3ee9487a86e_0_132"/>
          <p:cNvSpPr txBox="1"/>
          <p:nvPr/>
        </p:nvSpPr>
        <p:spPr>
          <a:xfrm>
            <a:off x="1000125" y="2668785"/>
            <a:ext cx="2276400" cy="161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0" i="0" lang="ko-KR" sz="1050" u="none" cap="none" strike="noStrike">
                <a:solidFill>
                  <a:srgbClr val="94A3B8"/>
                </a:solidFill>
                <a:latin typeface="Arial"/>
                <a:ea typeface="Arial"/>
                <a:cs typeface="Arial"/>
                <a:sym typeface="Arial"/>
              </a:rPr>
              <a:t>총 커밋 수</a:t>
            </a:r>
            <a:endParaRPr b="0" i="0" sz="1400" u="none" cap="none" strike="noStrike">
              <a:solidFill>
                <a:srgbClr val="000000"/>
              </a:solidFill>
              <a:latin typeface="Arial"/>
              <a:ea typeface="Arial"/>
              <a:cs typeface="Arial"/>
              <a:sym typeface="Arial"/>
            </a:endParaRPr>
          </a:p>
        </p:txBody>
      </p:sp>
      <p:sp>
        <p:nvSpPr>
          <p:cNvPr id="442" name="Google Shape;442;g3ee9487a86e_0_132"/>
          <p:cNvSpPr txBox="1"/>
          <p:nvPr/>
        </p:nvSpPr>
        <p:spPr>
          <a:xfrm>
            <a:off x="3771900" y="2295525"/>
            <a:ext cx="227640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2400"/>
              <a:buFont typeface="Arial"/>
              <a:buNone/>
            </a:pPr>
            <a:r>
              <a:rPr b="0" i="0" lang="ko-KR" sz="2400" u="none" cap="none" strike="noStrike">
                <a:solidFill>
                  <a:srgbClr val="F8FAFC"/>
                </a:solidFill>
                <a:latin typeface="Arial"/>
                <a:ea typeface="Arial"/>
                <a:cs typeface="Arial"/>
                <a:sym typeface="Arial"/>
              </a:rPr>
              <a:t>324개</a:t>
            </a:r>
            <a:endParaRPr b="0" i="0" sz="1400" u="none" cap="none" strike="noStrike">
              <a:solidFill>
                <a:srgbClr val="000000"/>
              </a:solidFill>
              <a:latin typeface="Arial"/>
              <a:ea typeface="Arial"/>
              <a:cs typeface="Arial"/>
              <a:sym typeface="Arial"/>
            </a:endParaRPr>
          </a:p>
        </p:txBody>
      </p:sp>
      <p:sp>
        <p:nvSpPr>
          <p:cNvPr id="443" name="Google Shape;443;g3ee9487a86e_0_132"/>
          <p:cNvSpPr txBox="1"/>
          <p:nvPr/>
        </p:nvSpPr>
        <p:spPr>
          <a:xfrm>
            <a:off x="3771900" y="2668785"/>
            <a:ext cx="2276400" cy="161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0" i="0" lang="ko-KR" sz="1050" u="none" cap="none" strike="noStrike">
                <a:solidFill>
                  <a:srgbClr val="94A3B8"/>
                </a:solidFill>
                <a:latin typeface="Arial"/>
                <a:ea typeface="Arial"/>
                <a:cs typeface="Arial"/>
                <a:sym typeface="Arial"/>
              </a:rPr>
              <a:t>최종 테스트 케이스 (28개 스위트)</a:t>
            </a:r>
            <a:endParaRPr b="0" i="0" sz="1400" u="none" cap="none" strike="noStrike">
              <a:solidFill>
                <a:srgbClr val="000000"/>
              </a:solidFill>
              <a:latin typeface="Arial"/>
              <a:ea typeface="Arial"/>
              <a:cs typeface="Arial"/>
              <a:sym typeface="Arial"/>
            </a:endParaRPr>
          </a:p>
        </p:txBody>
      </p:sp>
      <p:sp>
        <p:nvSpPr>
          <p:cNvPr id="444" name="Google Shape;444;g3ee9487a86e_0_132"/>
          <p:cNvSpPr txBox="1"/>
          <p:nvPr/>
        </p:nvSpPr>
        <p:spPr>
          <a:xfrm>
            <a:off x="1000125" y="3278385"/>
            <a:ext cx="227640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2400"/>
              <a:buFont typeface="Arial"/>
              <a:buNone/>
            </a:pPr>
            <a:r>
              <a:rPr b="0" i="0" lang="ko-KR" sz="2400" u="none" cap="none" strike="noStrike">
                <a:solidFill>
                  <a:srgbClr val="F8FAFC"/>
                </a:solidFill>
                <a:latin typeface="Arial"/>
                <a:ea typeface="Arial"/>
                <a:cs typeface="Arial"/>
                <a:sym typeface="Arial"/>
              </a:rPr>
              <a:t>44개 / 12개</a:t>
            </a:r>
            <a:endParaRPr b="0" i="0" sz="1400" u="none" cap="none" strike="noStrike">
              <a:solidFill>
                <a:srgbClr val="000000"/>
              </a:solidFill>
              <a:latin typeface="Arial"/>
              <a:ea typeface="Arial"/>
              <a:cs typeface="Arial"/>
              <a:sym typeface="Arial"/>
            </a:endParaRPr>
          </a:p>
        </p:txBody>
      </p:sp>
      <p:sp>
        <p:nvSpPr>
          <p:cNvPr id="445" name="Google Shape;445;g3ee9487a86e_0_132"/>
          <p:cNvSpPr txBox="1"/>
          <p:nvPr/>
        </p:nvSpPr>
        <p:spPr>
          <a:xfrm>
            <a:off x="1000125" y="3651646"/>
            <a:ext cx="2276400" cy="161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0" i="0" lang="ko-KR" sz="1050" u="none" cap="none" strike="noStrike">
                <a:solidFill>
                  <a:srgbClr val="94A3B8"/>
                </a:solidFill>
                <a:latin typeface="Arial"/>
                <a:ea typeface="Arial"/>
                <a:cs typeface="Arial"/>
                <a:sym typeface="Arial"/>
              </a:rPr>
              <a:t>소스 파일 / 테스트 파일 수</a:t>
            </a:r>
            <a:endParaRPr b="0" i="0" sz="1400" u="none" cap="none" strike="noStrike">
              <a:solidFill>
                <a:srgbClr val="000000"/>
              </a:solidFill>
              <a:latin typeface="Arial"/>
              <a:ea typeface="Arial"/>
              <a:cs typeface="Arial"/>
              <a:sym typeface="Arial"/>
            </a:endParaRPr>
          </a:p>
        </p:txBody>
      </p:sp>
      <p:sp>
        <p:nvSpPr>
          <p:cNvPr id="446" name="Google Shape;446;g3ee9487a86e_0_132"/>
          <p:cNvSpPr txBox="1"/>
          <p:nvPr/>
        </p:nvSpPr>
        <p:spPr>
          <a:xfrm>
            <a:off x="3771900" y="3278385"/>
            <a:ext cx="227640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2400"/>
              <a:buFont typeface="Arial"/>
              <a:buNone/>
            </a:pPr>
            <a:r>
              <a:rPr b="0" i="0" lang="ko-KR" sz="2400" u="none" cap="none" strike="noStrike">
                <a:solidFill>
                  <a:srgbClr val="F8FAFC"/>
                </a:solidFill>
                <a:latin typeface="Arial"/>
                <a:ea typeface="Arial"/>
                <a:cs typeface="Arial"/>
                <a:sym typeface="Arial"/>
              </a:rPr>
              <a:t>75개</a:t>
            </a:r>
            <a:endParaRPr b="0" i="0" sz="1400" u="none" cap="none" strike="noStrike">
              <a:solidFill>
                <a:srgbClr val="000000"/>
              </a:solidFill>
              <a:latin typeface="Arial"/>
              <a:ea typeface="Arial"/>
              <a:cs typeface="Arial"/>
              <a:sym typeface="Arial"/>
            </a:endParaRPr>
          </a:p>
        </p:txBody>
      </p:sp>
      <p:sp>
        <p:nvSpPr>
          <p:cNvPr id="447" name="Google Shape;447;g3ee9487a86e_0_132"/>
          <p:cNvSpPr txBox="1"/>
          <p:nvPr/>
        </p:nvSpPr>
        <p:spPr>
          <a:xfrm>
            <a:off x="3771900" y="3651646"/>
            <a:ext cx="2276400" cy="161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0" i="0" lang="ko-KR" sz="1050" u="none" cap="none" strike="noStrike">
                <a:solidFill>
                  <a:srgbClr val="94A3B8"/>
                </a:solidFill>
                <a:latin typeface="Arial"/>
                <a:ea typeface="Arial"/>
                <a:cs typeface="Arial"/>
                <a:sym typeface="Arial"/>
              </a:rPr>
              <a:t>병합된 PR 수 (#1 ~ #82)</a:t>
            </a:r>
            <a:endParaRPr b="0" i="0" sz="1400" u="none" cap="none" strike="noStrike">
              <a:solidFill>
                <a:srgbClr val="000000"/>
              </a:solidFill>
              <a:latin typeface="Arial"/>
              <a:ea typeface="Arial"/>
              <a:cs typeface="Arial"/>
              <a:sym typeface="Arial"/>
            </a:endParaRPr>
          </a:p>
        </p:txBody>
      </p:sp>
      <p:sp>
        <p:nvSpPr>
          <p:cNvPr id="448" name="Google Shape;448;g3ee9487a86e_0_132"/>
          <p:cNvSpPr/>
          <p:nvPr/>
        </p:nvSpPr>
        <p:spPr>
          <a:xfrm>
            <a:off x="9267825" y="2291655"/>
            <a:ext cx="95400" cy="95400"/>
          </a:xfrm>
          <a:prstGeom prst="roundRect">
            <a:avLst>
              <a:gd fmla="val 50000" name="adj"/>
            </a:avLst>
          </a:prstGeom>
          <a:solidFill>
            <a:srgbClr val="475569"/>
          </a:solidFill>
          <a:ln cap="flat" cmpd="sng" w="19050">
            <a:solidFill>
              <a:srgbClr val="0F172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49" name="Google Shape;449;g3ee9487a86e_0_132"/>
          <p:cNvSpPr txBox="1"/>
          <p:nvPr/>
        </p:nvSpPr>
        <p:spPr>
          <a:xfrm>
            <a:off x="7248525" y="2143125"/>
            <a:ext cx="4134000" cy="1848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1" i="0" lang="ko-KR" sz="1200" u="none" cap="none" strike="noStrike">
                <a:solidFill>
                  <a:srgbClr val="F8FAFC"/>
                </a:solidFill>
                <a:latin typeface="Arial"/>
                <a:ea typeface="Arial"/>
                <a:cs typeface="Arial"/>
                <a:sym typeface="Arial"/>
              </a:rPr>
              <a:t>구버전 (Flat 구조)</a:t>
            </a:r>
            <a:endParaRPr b="0" i="0" sz="1400" u="none" cap="none" strike="noStrike">
              <a:solidFill>
                <a:srgbClr val="000000"/>
              </a:solidFill>
              <a:latin typeface="Arial"/>
              <a:ea typeface="Arial"/>
              <a:cs typeface="Arial"/>
              <a:sym typeface="Arial"/>
            </a:endParaRPr>
          </a:p>
        </p:txBody>
      </p:sp>
      <p:sp>
        <p:nvSpPr>
          <p:cNvPr id="450" name="Google Shape;450;g3ee9487a86e_0_132"/>
          <p:cNvSpPr txBox="1"/>
          <p:nvPr/>
        </p:nvSpPr>
        <p:spPr>
          <a:xfrm>
            <a:off x="7248525" y="2362200"/>
            <a:ext cx="4134000" cy="150000"/>
          </a:xfrm>
          <a:prstGeom prst="rect">
            <a:avLst/>
          </a:prstGeom>
          <a:noFill/>
          <a:ln>
            <a:noFill/>
          </a:ln>
        </p:spPr>
        <p:txBody>
          <a:bodyPr anchorCtr="0" anchor="t" bIns="0" lIns="0" spcFirstLastPara="1" rIns="0" wrap="square" tIns="0">
            <a:spAutoFit/>
          </a:bodyPr>
          <a:lstStyle/>
          <a:p>
            <a:pPr indent="0" lvl="0" marL="0" marR="0" rtl="0" algn="l">
              <a:lnSpc>
                <a:spcPct val="139897"/>
              </a:lnSpc>
              <a:spcBef>
                <a:spcPts val="0"/>
              </a:spcBef>
              <a:spcAft>
                <a:spcPts val="0"/>
              </a:spcAft>
              <a:buClr>
                <a:srgbClr val="000000"/>
              </a:buClr>
              <a:buSzPts val="975"/>
              <a:buFont typeface="Arial"/>
              <a:buNone/>
            </a:pPr>
            <a:r>
              <a:rPr b="0" i="0" lang="ko-KR" sz="975" u="none" cap="none" strike="noStrike">
                <a:solidFill>
                  <a:srgbClr val="94A3B8"/>
                </a:solidFill>
                <a:latin typeface="Arial"/>
                <a:ea typeface="Arial"/>
                <a:cs typeface="Arial"/>
                <a:sym typeface="Arial"/>
              </a:rPr>
              <a:t>소스 9개 파일의 매우 단순했던 초기 구조 상태</a:t>
            </a:r>
            <a:endParaRPr b="0" i="0" sz="1400" u="none" cap="none" strike="noStrike">
              <a:solidFill>
                <a:srgbClr val="000000"/>
              </a:solidFill>
              <a:latin typeface="Arial"/>
              <a:ea typeface="Arial"/>
              <a:cs typeface="Arial"/>
              <a:sym typeface="Arial"/>
            </a:endParaRPr>
          </a:p>
        </p:txBody>
      </p:sp>
      <p:sp>
        <p:nvSpPr>
          <p:cNvPr id="451" name="Google Shape;451;g3ee9487a86e_0_132"/>
          <p:cNvSpPr/>
          <p:nvPr/>
        </p:nvSpPr>
        <p:spPr>
          <a:xfrm>
            <a:off x="9267825" y="2817316"/>
            <a:ext cx="95400" cy="95400"/>
          </a:xfrm>
          <a:prstGeom prst="roundRect">
            <a:avLst>
              <a:gd fmla="val 50000" name="adj"/>
            </a:avLst>
          </a:prstGeom>
          <a:solidFill>
            <a:srgbClr val="475569"/>
          </a:solidFill>
          <a:ln cap="flat" cmpd="sng" w="19050">
            <a:solidFill>
              <a:srgbClr val="0F172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2" name="Google Shape;452;g3ee9487a86e_0_132"/>
          <p:cNvSpPr txBox="1"/>
          <p:nvPr/>
        </p:nvSpPr>
        <p:spPr>
          <a:xfrm>
            <a:off x="7248525" y="2668785"/>
            <a:ext cx="4134000" cy="1848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1" i="0" lang="ko-KR" sz="1200" u="none" cap="none" strike="noStrike">
                <a:solidFill>
                  <a:srgbClr val="F8FAFC"/>
                </a:solidFill>
                <a:latin typeface="Arial"/>
                <a:ea typeface="Arial"/>
                <a:cs typeface="Arial"/>
                <a:sym typeface="Arial"/>
              </a:rPr>
              <a:t>소스 트리 재구성 (src/ 분리)</a:t>
            </a:r>
            <a:endParaRPr b="0" i="0" sz="1400" u="none" cap="none" strike="noStrike">
              <a:solidFill>
                <a:srgbClr val="000000"/>
              </a:solidFill>
              <a:latin typeface="Arial"/>
              <a:ea typeface="Arial"/>
              <a:cs typeface="Arial"/>
              <a:sym typeface="Arial"/>
            </a:endParaRPr>
          </a:p>
        </p:txBody>
      </p:sp>
      <p:sp>
        <p:nvSpPr>
          <p:cNvPr id="453" name="Google Shape;453;g3ee9487a86e_0_132"/>
          <p:cNvSpPr txBox="1"/>
          <p:nvPr/>
        </p:nvSpPr>
        <p:spPr>
          <a:xfrm>
            <a:off x="7248525" y="2887860"/>
            <a:ext cx="4134000" cy="150000"/>
          </a:xfrm>
          <a:prstGeom prst="rect">
            <a:avLst/>
          </a:prstGeom>
          <a:noFill/>
          <a:ln>
            <a:noFill/>
          </a:ln>
        </p:spPr>
        <p:txBody>
          <a:bodyPr anchorCtr="0" anchor="t" bIns="0" lIns="0" spcFirstLastPara="1" rIns="0" wrap="square" tIns="0">
            <a:spAutoFit/>
          </a:bodyPr>
          <a:lstStyle/>
          <a:p>
            <a:pPr indent="0" lvl="0" marL="0" marR="0" rtl="0" algn="l">
              <a:lnSpc>
                <a:spcPct val="139897"/>
              </a:lnSpc>
              <a:spcBef>
                <a:spcPts val="0"/>
              </a:spcBef>
              <a:spcAft>
                <a:spcPts val="0"/>
              </a:spcAft>
              <a:buClr>
                <a:srgbClr val="000000"/>
              </a:buClr>
              <a:buSzPts val="975"/>
              <a:buFont typeface="Arial"/>
              <a:buNone/>
            </a:pPr>
            <a:r>
              <a:rPr b="0" i="0" lang="ko-KR" sz="975" u="none" cap="none" strike="noStrike">
                <a:solidFill>
                  <a:srgbClr val="94A3B8"/>
                </a:solidFill>
                <a:latin typeface="Arial"/>
                <a:ea typeface="Arial"/>
                <a:cs typeface="Arial"/>
                <a:sym typeface="Arial"/>
              </a:rPr>
              <a:t>Shell/Debugger 신규 추가로 인한 0% 파일 2개 등장</a:t>
            </a:r>
            <a:endParaRPr b="0" i="0" sz="1400" u="none" cap="none" strike="noStrike">
              <a:solidFill>
                <a:srgbClr val="000000"/>
              </a:solidFill>
              <a:latin typeface="Arial"/>
              <a:ea typeface="Arial"/>
              <a:cs typeface="Arial"/>
              <a:sym typeface="Arial"/>
            </a:endParaRPr>
          </a:p>
        </p:txBody>
      </p:sp>
      <p:sp>
        <p:nvSpPr>
          <p:cNvPr id="454" name="Google Shape;454;g3ee9487a86e_0_132"/>
          <p:cNvSpPr/>
          <p:nvPr/>
        </p:nvSpPr>
        <p:spPr>
          <a:xfrm>
            <a:off x="9267825" y="3342977"/>
            <a:ext cx="95400" cy="95400"/>
          </a:xfrm>
          <a:prstGeom prst="roundRect">
            <a:avLst>
              <a:gd fmla="val 50000" name="adj"/>
            </a:avLst>
          </a:prstGeom>
          <a:solidFill>
            <a:srgbClr val="475569"/>
          </a:solidFill>
          <a:ln cap="flat" cmpd="sng" w="19050">
            <a:solidFill>
              <a:srgbClr val="0F172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5" name="Google Shape;455;g3ee9487a86e_0_132"/>
          <p:cNvSpPr txBox="1"/>
          <p:nvPr/>
        </p:nvSpPr>
        <p:spPr>
          <a:xfrm>
            <a:off x="7248525" y="3194446"/>
            <a:ext cx="4134000" cy="1848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1" i="0" lang="ko-KR" sz="1200" u="none" cap="none" strike="noStrike">
                <a:solidFill>
                  <a:srgbClr val="F8FAFC"/>
                </a:solidFill>
                <a:latin typeface="Arial"/>
                <a:ea typeface="Arial"/>
                <a:cs typeface="Arial"/>
                <a:sym typeface="Arial"/>
              </a:rPr>
              <a:t>PR #81 병합 후</a:t>
            </a:r>
            <a:endParaRPr b="0" i="0" sz="1400" u="none" cap="none" strike="noStrike">
              <a:solidFill>
                <a:srgbClr val="000000"/>
              </a:solidFill>
              <a:latin typeface="Arial"/>
              <a:ea typeface="Arial"/>
              <a:cs typeface="Arial"/>
              <a:sym typeface="Arial"/>
            </a:endParaRPr>
          </a:p>
        </p:txBody>
      </p:sp>
      <p:sp>
        <p:nvSpPr>
          <p:cNvPr id="456" name="Google Shape;456;g3ee9487a86e_0_132"/>
          <p:cNvSpPr txBox="1"/>
          <p:nvPr/>
        </p:nvSpPr>
        <p:spPr>
          <a:xfrm>
            <a:off x="7248525" y="3413521"/>
            <a:ext cx="4134000" cy="150000"/>
          </a:xfrm>
          <a:prstGeom prst="rect">
            <a:avLst/>
          </a:prstGeom>
          <a:noFill/>
          <a:ln>
            <a:noFill/>
          </a:ln>
        </p:spPr>
        <p:txBody>
          <a:bodyPr anchorCtr="0" anchor="t" bIns="0" lIns="0" spcFirstLastPara="1" rIns="0" wrap="square" tIns="0">
            <a:spAutoFit/>
          </a:bodyPr>
          <a:lstStyle/>
          <a:p>
            <a:pPr indent="0" lvl="0" marL="0" marR="0" rtl="0" algn="l">
              <a:lnSpc>
                <a:spcPct val="139897"/>
              </a:lnSpc>
              <a:spcBef>
                <a:spcPts val="0"/>
              </a:spcBef>
              <a:spcAft>
                <a:spcPts val="0"/>
              </a:spcAft>
              <a:buClr>
                <a:srgbClr val="000000"/>
              </a:buClr>
              <a:buSzPts val="975"/>
              <a:buFont typeface="Arial"/>
              <a:buNone/>
            </a:pPr>
            <a:r>
              <a:rPr b="0" i="0" lang="ko-KR" sz="975" u="none" cap="none" strike="noStrike">
                <a:solidFill>
                  <a:srgbClr val="94A3B8"/>
                </a:solidFill>
                <a:latin typeface="Arial"/>
                <a:ea typeface="Arial"/>
                <a:cs typeface="Arial"/>
                <a:sym typeface="Arial"/>
              </a:rPr>
              <a:t>Shell/Debugger 전면 테스트 및 의존성 주입 패턴 도입</a:t>
            </a:r>
            <a:endParaRPr b="0" i="0" sz="1400" u="none" cap="none" strike="noStrike">
              <a:solidFill>
                <a:srgbClr val="000000"/>
              </a:solidFill>
              <a:latin typeface="Arial"/>
              <a:ea typeface="Arial"/>
              <a:cs typeface="Arial"/>
              <a:sym typeface="Arial"/>
            </a:endParaRPr>
          </a:p>
        </p:txBody>
      </p:sp>
      <p:sp>
        <p:nvSpPr>
          <p:cNvPr id="457" name="Google Shape;457;g3ee9487a86e_0_132"/>
          <p:cNvSpPr/>
          <p:nvPr/>
        </p:nvSpPr>
        <p:spPr>
          <a:xfrm>
            <a:off x="9267825" y="3868638"/>
            <a:ext cx="95400" cy="95400"/>
          </a:xfrm>
          <a:prstGeom prst="roundRect">
            <a:avLst>
              <a:gd fmla="val 50000" name="adj"/>
            </a:avLst>
          </a:prstGeom>
          <a:solidFill>
            <a:srgbClr val="10B981"/>
          </a:solidFill>
          <a:ln cap="flat" cmpd="sng" w="19050">
            <a:solidFill>
              <a:srgbClr val="0F172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8" name="Google Shape;458;g3ee9487a86e_0_132"/>
          <p:cNvSpPr txBox="1"/>
          <p:nvPr/>
        </p:nvSpPr>
        <p:spPr>
          <a:xfrm>
            <a:off x="7248525" y="3720107"/>
            <a:ext cx="4134000" cy="1848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1" i="0" lang="ko-KR" sz="1200" u="none" cap="none" strike="noStrike">
                <a:solidFill>
                  <a:srgbClr val="F8FAFC"/>
                </a:solidFill>
                <a:latin typeface="Arial"/>
                <a:ea typeface="Arial"/>
                <a:cs typeface="Arial"/>
                <a:sym typeface="Arial"/>
              </a:rPr>
              <a:t>PR #82 및 refactoring4</a:t>
            </a:r>
            <a:endParaRPr b="0" i="0" sz="1400" u="none" cap="none" strike="noStrike">
              <a:solidFill>
                <a:srgbClr val="000000"/>
              </a:solidFill>
              <a:latin typeface="Arial"/>
              <a:ea typeface="Arial"/>
              <a:cs typeface="Arial"/>
              <a:sym typeface="Arial"/>
            </a:endParaRPr>
          </a:p>
        </p:txBody>
      </p:sp>
      <p:sp>
        <p:nvSpPr>
          <p:cNvPr id="459" name="Google Shape;459;g3ee9487a86e_0_132"/>
          <p:cNvSpPr txBox="1"/>
          <p:nvPr/>
        </p:nvSpPr>
        <p:spPr>
          <a:xfrm>
            <a:off x="7248525" y="3939182"/>
            <a:ext cx="4134000" cy="150000"/>
          </a:xfrm>
          <a:prstGeom prst="rect">
            <a:avLst/>
          </a:prstGeom>
          <a:noFill/>
          <a:ln>
            <a:noFill/>
          </a:ln>
        </p:spPr>
        <p:txBody>
          <a:bodyPr anchorCtr="0" anchor="t" bIns="0" lIns="0" spcFirstLastPara="1" rIns="0" wrap="square" tIns="0">
            <a:spAutoFit/>
          </a:bodyPr>
          <a:lstStyle/>
          <a:p>
            <a:pPr indent="0" lvl="0" marL="0" marR="0" rtl="0" algn="l">
              <a:lnSpc>
                <a:spcPct val="139897"/>
              </a:lnSpc>
              <a:spcBef>
                <a:spcPts val="0"/>
              </a:spcBef>
              <a:spcAft>
                <a:spcPts val="0"/>
              </a:spcAft>
              <a:buClr>
                <a:srgbClr val="000000"/>
              </a:buClr>
              <a:buSzPts val="975"/>
              <a:buFont typeface="Arial"/>
              <a:buNone/>
            </a:pPr>
            <a:r>
              <a:rPr b="0" i="0" lang="ko-KR" sz="975" u="none" cap="none" strike="noStrike">
                <a:solidFill>
                  <a:srgbClr val="94A3B8"/>
                </a:solidFill>
                <a:latin typeface="Arial"/>
                <a:ea typeface="Arial"/>
                <a:cs typeface="Arial"/>
                <a:sym typeface="Arial"/>
              </a:rPr>
              <a:t>istream 주입 기법을 통한 정밀 구문 및 예외 분기 커버</a:t>
            </a:r>
            <a:endParaRPr b="0" i="0" sz="1400" u="none" cap="none" strike="noStrike">
              <a:solidFill>
                <a:srgbClr val="000000"/>
              </a:solidFill>
              <a:latin typeface="Arial"/>
              <a:ea typeface="Arial"/>
              <a:cs typeface="Arial"/>
              <a:sym typeface="Arial"/>
            </a:endParaRPr>
          </a:p>
        </p:txBody>
      </p:sp>
      <p:pic>
        <p:nvPicPr>
          <p:cNvPr descr="image.png" id="460" name="Google Shape;460;g3ee9487a86e_0_132"/>
          <p:cNvPicPr preferRelativeResize="0"/>
          <p:nvPr/>
        </p:nvPicPr>
        <p:blipFill rotWithShape="1">
          <a:blip r:embed="rId13">
            <a:alphaModFix/>
          </a:blip>
          <a:srcRect b="0" l="0" r="0" t="0"/>
          <a:stretch/>
        </p:blipFill>
        <p:spPr>
          <a:xfrm>
            <a:off x="10601325" y="2143125"/>
            <a:ext cx="781050" cy="180975"/>
          </a:xfrm>
          <a:prstGeom prst="rect">
            <a:avLst/>
          </a:prstGeom>
          <a:noFill/>
          <a:ln>
            <a:noFill/>
          </a:ln>
        </p:spPr>
      </p:pic>
      <p:pic>
        <p:nvPicPr>
          <p:cNvPr descr="image.png" id="461" name="Google Shape;461;g3ee9487a86e_0_132"/>
          <p:cNvPicPr preferRelativeResize="0"/>
          <p:nvPr/>
        </p:nvPicPr>
        <p:blipFill rotWithShape="1">
          <a:blip r:embed="rId14">
            <a:alphaModFix/>
          </a:blip>
          <a:srcRect b="0" l="0" r="0" t="0"/>
          <a:stretch/>
        </p:blipFill>
        <p:spPr>
          <a:xfrm>
            <a:off x="10601325" y="2668785"/>
            <a:ext cx="781050" cy="180975"/>
          </a:xfrm>
          <a:prstGeom prst="rect">
            <a:avLst/>
          </a:prstGeom>
          <a:noFill/>
          <a:ln>
            <a:noFill/>
          </a:ln>
        </p:spPr>
      </p:pic>
      <p:pic>
        <p:nvPicPr>
          <p:cNvPr descr="image.png" id="462" name="Google Shape;462;g3ee9487a86e_0_132"/>
          <p:cNvPicPr preferRelativeResize="0"/>
          <p:nvPr/>
        </p:nvPicPr>
        <p:blipFill rotWithShape="1">
          <a:blip r:embed="rId15">
            <a:alphaModFix/>
          </a:blip>
          <a:srcRect b="0" l="0" r="0" t="0"/>
          <a:stretch/>
        </p:blipFill>
        <p:spPr>
          <a:xfrm>
            <a:off x="10601325" y="3194446"/>
            <a:ext cx="781050" cy="180975"/>
          </a:xfrm>
          <a:prstGeom prst="rect">
            <a:avLst/>
          </a:prstGeom>
          <a:noFill/>
          <a:ln>
            <a:noFill/>
          </a:ln>
        </p:spPr>
      </p:pic>
      <p:pic>
        <p:nvPicPr>
          <p:cNvPr descr="image.png" id="463" name="Google Shape;463;g3ee9487a86e_0_132"/>
          <p:cNvPicPr preferRelativeResize="0"/>
          <p:nvPr/>
        </p:nvPicPr>
        <p:blipFill rotWithShape="1">
          <a:blip r:embed="rId16">
            <a:alphaModFix/>
          </a:blip>
          <a:srcRect b="0" l="0" r="0" t="0"/>
          <a:stretch/>
        </p:blipFill>
        <p:spPr>
          <a:xfrm>
            <a:off x="10601325" y="3720107"/>
            <a:ext cx="781050" cy="1809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467" name="Shape 467"/>
        <p:cNvGrpSpPr/>
        <p:nvPr/>
      </p:nvGrpSpPr>
      <p:grpSpPr>
        <a:xfrm>
          <a:off x="0" y="0"/>
          <a:ext cx="0" cy="0"/>
          <a:chOff x="0" y="0"/>
          <a:chExt cx="0" cy="0"/>
        </a:xfrm>
      </p:grpSpPr>
      <p:pic>
        <p:nvPicPr>
          <p:cNvPr descr="image.png" id="468" name="Google Shape;468;g3ee9487a86e_0_179"/>
          <p:cNvPicPr preferRelativeResize="0"/>
          <p:nvPr/>
        </p:nvPicPr>
        <p:blipFill rotWithShape="1">
          <a:blip r:embed="rId3">
            <a:alphaModFix/>
          </a:blip>
          <a:srcRect b="0" l="0" r="0" t="0"/>
          <a:stretch/>
        </p:blipFill>
        <p:spPr>
          <a:xfrm>
            <a:off x="951600" y="1499100"/>
            <a:ext cx="4800600" cy="4391025"/>
          </a:xfrm>
          <a:prstGeom prst="rect">
            <a:avLst/>
          </a:prstGeom>
          <a:noFill/>
          <a:ln>
            <a:noFill/>
          </a:ln>
        </p:spPr>
      </p:pic>
      <p:pic>
        <p:nvPicPr>
          <p:cNvPr descr="image.png" id="469" name="Google Shape;469;g3ee9487a86e_0_179"/>
          <p:cNvPicPr preferRelativeResize="0"/>
          <p:nvPr/>
        </p:nvPicPr>
        <p:blipFill rotWithShape="1">
          <a:blip r:embed="rId4">
            <a:alphaModFix/>
          </a:blip>
          <a:srcRect b="0" l="0" r="0" t="0"/>
          <a:stretch/>
        </p:blipFill>
        <p:spPr>
          <a:xfrm>
            <a:off x="1189725" y="2137275"/>
            <a:ext cx="4324349" cy="864691"/>
          </a:xfrm>
          <a:prstGeom prst="rect">
            <a:avLst/>
          </a:prstGeom>
          <a:noFill/>
          <a:ln>
            <a:noFill/>
          </a:ln>
        </p:spPr>
      </p:pic>
      <p:pic>
        <p:nvPicPr>
          <p:cNvPr descr="image.png" id="470" name="Google Shape;470;g3ee9487a86e_0_179"/>
          <p:cNvPicPr preferRelativeResize="0"/>
          <p:nvPr/>
        </p:nvPicPr>
        <p:blipFill rotWithShape="1">
          <a:blip r:embed="rId5">
            <a:alphaModFix/>
          </a:blip>
          <a:srcRect b="0" l="0" r="0" t="0"/>
          <a:stretch/>
        </p:blipFill>
        <p:spPr>
          <a:xfrm>
            <a:off x="1189725" y="3135316"/>
            <a:ext cx="4324349" cy="864691"/>
          </a:xfrm>
          <a:prstGeom prst="rect">
            <a:avLst/>
          </a:prstGeom>
          <a:noFill/>
          <a:ln>
            <a:noFill/>
          </a:ln>
        </p:spPr>
      </p:pic>
      <p:pic>
        <p:nvPicPr>
          <p:cNvPr descr="image.png" id="471" name="Google Shape;471;g3ee9487a86e_0_179"/>
          <p:cNvPicPr preferRelativeResize="0"/>
          <p:nvPr/>
        </p:nvPicPr>
        <p:blipFill rotWithShape="1">
          <a:blip r:embed="rId6">
            <a:alphaModFix/>
          </a:blip>
          <a:srcRect b="0" l="0" r="0" t="0"/>
          <a:stretch/>
        </p:blipFill>
        <p:spPr>
          <a:xfrm>
            <a:off x="1189725" y="4133357"/>
            <a:ext cx="4324349" cy="864691"/>
          </a:xfrm>
          <a:prstGeom prst="rect">
            <a:avLst/>
          </a:prstGeom>
          <a:noFill/>
          <a:ln>
            <a:noFill/>
          </a:ln>
        </p:spPr>
      </p:pic>
      <p:pic>
        <p:nvPicPr>
          <p:cNvPr descr="image.png" id="472" name="Google Shape;472;g3ee9487a86e_0_179"/>
          <p:cNvPicPr preferRelativeResize="0"/>
          <p:nvPr/>
        </p:nvPicPr>
        <p:blipFill rotWithShape="1">
          <a:blip r:embed="rId7">
            <a:alphaModFix/>
          </a:blip>
          <a:srcRect b="0" l="0" r="0" t="0"/>
          <a:stretch/>
        </p:blipFill>
        <p:spPr>
          <a:xfrm>
            <a:off x="571500" y="6086475"/>
            <a:ext cx="11049000" cy="295275"/>
          </a:xfrm>
          <a:prstGeom prst="rect">
            <a:avLst/>
          </a:prstGeom>
          <a:noFill/>
          <a:ln>
            <a:noFill/>
          </a:ln>
        </p:spPr>
      </p:pic>
      <p:sp>
        <p:nvSpPr>
          <p:cNvPr id="473" name="Google Shape;473;g3ee9487a86e_0_179"/>
          <p:cNvSpPr txBox="1"/>
          <p:nvPr/>
        </p:nvSpPr>
        <p:spPr>
          <a:xfrm>
            <a:off x="752475" y="6238875"/>
            <a:ext cx="4024500" cy="150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975"/>
              <a:buFont typeface="Arial"/>
              <a:buNone/>
            </a:pPr>
            <a:r>
              <a:rPr b="0" i="0" lang="ko-KR" sz="975" u="none" cap="none" strike="noStrike">
                <a:solidFill>
                  <a:srgbClr val="475569"/>
                </a:solidFill>
                <a:latin typeface="Arial"/>
                <a:ea typeface="Arial"/>
                <a:cs typeface="Arial"/>
                <a:sym typeface="Arial"/>
              </a:rPr>
              <a:t>나머지 1%는 도구 아티팩트 및 도달 불가한 방어 코드로 식별됨</a:t>
            </a:r>
            <a:endParaRPr b="0" i="0" sz="1400" u="none" cap="none" strike="noStrike">
              <a:solidFill>
                <a:srgbClr val="000000"/>
              </a:solidFill>
              <a:latin typeface="Arial"/>
              <a:ea typeface="Arial"/>
              <a:cs typeface="Arial"/>
              <a:sym typeface="Arial"/>
            </a:endParaRPr>
          </a:p>
        </p:txBody>
      </p:sp>
      <p:sp>
        <p:nvSpPr>
          <p:cNvPr id="474" name="Google Shape;474;g3ee9487a86e_0_179"/>
          <p:cNvSpPr txBox="1"/>
          <p:nvPr/>
        </p:nvSpPr>
        <p:spPr>
          <a:xfrm>
            <a:off x="10248900" y="6238875"/>
            <a:ext cx="1371600" cy="300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975"/>
              <a:buFont typeface="Arial"/>
              <a:buNone/>
            </a:pPr>
            <a:r>
              <a:rPr b="0" i="0" lang="ko-KR" sz="975" u="none" cap="none" strike="noStrike">
                <a:solidFill>
                  <a:srgbClr val="475569"/>
                </a:solidFill>
                <a:latin typeface="Arial"/>
                <a:ea typeface="Arial"/>
                <a:cs typeface="Arial"/>
                <a:sym typeface="Arial"/>
              </a:rPr>
              <a:t>코드 커버리지 분석 발표 자료</a:t>
            </a:r>
            <a:endParaRPr b="0" i="0" sz="1400" u="none" cap="none" strike="noStrike">
              <a:solidFill>
                <a:srgbClr val="000000"/>
              </a:solidFill>
              <a:latin typeface="Arial"/>
              <a:ea typeface="Arial"/>
              <a:cs typeface="Arial"/>
              <a:sym typeface="Arial"/>
            </a:endParaRPr>
          </a:p>
        </p:txBody>
      </p:sp>
      <p:sp>
        <p:nvSpPr>
          <p:cNvPr id="475" name="Google Shape;475;g3ee9487a86e_0_179"/>
          <p:cNvSpPr txBox="1"/>
          <p:nvPr/>
        </p:nvSpPr>
        <p:spPr>
          <a:xfrm>
            <a:off x="571500" y="476250"/>
            <a:ext cx="55608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700"/>
              <a:buFont typeface="Arial"/>
              <a:buNone/>
            </a:pPr>
            <a:r>
              <a:rPr b="0" i="0" lang="ko-KR" sz="2700" u="none" cap="none" strike="noStrike">
                <a:solidFill>
                  <a:srgbClr val="F8FAFC"/>
                </a:solidFill>
                <a:latin typeface="Arial"/>
                <a:ea typeface="Arial"/>
                <a:cs typeface="Arial"/>
                <a:sym typeface="Arial"/>
              </a:rPr>
              <a:t>테스트 가능 설계 및 </a:t>
            </a:r>
            <a:r>
              <a:rPr b="0" i="0" lang="ko-KR" sz="2700" u="none" cap="none" strike="noStrike">
                <a:solidFill>
                  <a:srgbClr val="0EA5E9"/>
                </a:solidFill>
                <a:latin typeface="Arial"/>
                <a:ea typeface="Arial"/>
                <a:cs typeface="Arial"/>
                <a:sym typeface="Arial"/>
              </a:rPr>
              <a:t>핵심 인사이트</a:t>
            </a:r>
            <a:endParaRPr b="0" i="0" sz="1400" u="none" cap="none" strike="noStrike">
              <a:solidFill>
                <a:srgbClr val="000000"/>
              </a:solidFill>
              <a:latin typeface="Arial"/>
              <a:ea typeface="Arial"/>
              <a:cs typeface="Arial"/>
              <a:sym typeface="Arial"/>
            </a:endParaRPr>
          </a:p>
        </p:txBody>
      </p:sp>
      <p:sp>
        <p:nvSpPr>
          <p:cNvPr id="476" name="Google Shape;476;g3ee9487a86e_0_179"/>
          <p:cNvSpPr txBox="1"/>
          <p:nvPr/>
        </p:nvSpPr>
        <p:spPr>
          <a:xfrm>
            <a:off x="571500" y="933450"/>
            <a:ext cx="63414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0" i="0" lang="ko-KR" sz="1200" u="none" cap="none" strike="noStrike">
                <a:solidFill>
                  <a:srgbClr val="94A3B8"/>
                </a:solidFill>
                <a:latin typeface="Arial"/>
                <a:ea typeface="Arial"/>
                <a:cs typeface="Arial"/>
                <a:sym typeface="Arial"/>
              </a:rPr>
              <a:t>스트림 주입을 활용한 설계 전환과 커버리지 강화를 통한 실제 예외 안전성 버그 검출 사례</a:t>
            </a:r>
            <a:endParaRPr b="0" i="0" sz="1400" u="none" cap="none" strike="noStrike">
              <a:solidFill>
                <a:srgbClr val="000000"/>
              </a:solidFill>
              <a:latin typeface="Arial"/>
              <a:ea typeface="Arial"/>
              <a:cs typeface="Arial"/>
              <a:sym typeface="Arial"/>
            </a:endParaRPr>
          </a:p>
        </p:txBody>
      </p:sp>
      <p:pic>
        <p:nvPicPr>
          <p:cNvPr descr="image.png" id="477" name="Google Shape;477;g3ee9487a86e_0_179"/>
          <p:cNvPicPr preferRelativeResize="0"/>
          <p:nvPr/>
        </p:nvPicPr>
        <p:blipFill rotWithShape="1">
          <a:blip r:embed="rId8">
            <a:alphaModFix/>
          </a:blip>
          <a:srcRect b="0" l="0" r="0" t="0"/>
          <a:stretch/>
        </p:blipFill>
        <p:spPr>
          <a:xfrm>
            <a:off x="571500" y="6248400"/>
            <a:ext cx="123825" cy="123825"/>
          </a:xfrm>
          <a:prstGeom prst="rect">
            <a:avLst/>
          </a:prstGeom>
          <a:noFill/>
          <a:ln>
            <a:noFill/>
          </a:ln>
        </p:spPr>
      </p:pic>
      <p:sp>
        <p:nvSpPr>
          <p:cNvPr id="478" name="Google Shape;478;g3ee9487a86e_0_179"/>
          <p:cNvSpPr txBox="1"/>
          <p:nvPr/>
        </p:nvSpPr>
        <p:spPr>
          <a:xfrm>
            <a:off x="1408800" y="1737225"/>
            <a:ext cx="4105200" cy="231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0" i="0" lang="ko-KR" sz="1500" u="none" cap="none" strike="noStrike">
                <a:solidFill>
                  <a:srgbClr val="38BDF8"/>
                </a:solidFill>
                <a:latin typeface="Arial"/>
                <a:ea typeface="Arial"/>
                <a:cs typeface="Arial"/>
                <a:sym typeface="Arial"/>
              </a:rPr>
              <a:t>핵심 인사이트 3가지</a:t>
            </a:r>
            <a:endParaRPr b="0" i="0" sz="1400" u="none" cap="none" strike="noStrike">
              <a:solidFill>
                <a:srgbClr val="000000"/>
              </a:solidFill>
              <a:latin typeface="Arial"/>
              <a:ea typeface="Arial"/>
              <a:cs typeface="Arial"/>
              <a:sym typeface="Arial"/>
            </a:endParaRPr>
          </a:p>
        </p:txBody>
      </p:sp>
      <p:pic>
        <p:nvPicPr>
          <p:cNvPr descr="image.png" id="479" name="Google Shape;479;g3ee9487a86e_0_179"/>
          <p:cNvPicPr preferRelativeResize="0"/>
          <p:nvPr/>
        </p:nvPicPr>
        <p:blipFill rotWithShape="1">
          <a:blip r:embed="rId9">
            <a:alphaModFix/>
          </a:blip>
          <a:srcRect b="0" l="0" r="0" t="0"/>
          <a:stretch/>
        </p:blipFill>
        <p:spPr>
          <a:xfrm>
            <a:off x="1189725" y="1756275"/>
            <a:ext cx="142875" cy="190500"/>
          </a:xfrm>
          <a:prstGeom prst="rect">
            <a:avLst/>
          </a:prstGeom>
          <a:noFill/>
          <a:ln>
            <a:noFill/>
          </a:ln>
        </p:spPr>
      </p:pic>
      <p:pic>
        <p:nvPicPr>
          <p:cNvPr descr="image.png" id="480" name="Google Shape;480;g3ee9487a86e_0_179"/>
          <p:cNvPicPr preferRelativeResize="0"/>
          <p:nvPr/>
        </p:nvPicPr>
        <p:blipFill rotWithShape="1">
          <a:blip r:embed="rId10">
            <a:alphaModFix/>
          </a:blip>
          <a:srcRect b="0" l="0" r="0" t="0"/>
          <a:stretch/>
        </p:blipFill>
        <p:spPr>
          <a:xfrm>
            <a:off x="1370700" y="2318250"/>
            <a:ext cx="190500" cy="190500"/>
          </a:xfrm>
          <a:prstGeom prst="rect">
            <a:avLst/>
          </a:prstGeom>
          <a:noFill/>
          <a:ln>
            <a:noFill/>
          </a:ln>
        </p:spPr>
      </p:pic>
      <p:sp>
        <p:nvSpPr>
          <p:cNvPr id="481" name="Google Shape;481;g3ee9487a86e_0_179"/>
          <p:cNvSpPr txBox="1"/>
          <p:nvPr/>
        </p:nvSpPr>
        <p:spPr>
          <a:xfrm>
            <a:off x="1704075" y="2280150"/>
            <a:ext cx="38505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0" i="0" lang="ko-KR" sz="1200" u="none" cap="none" strike="noStrike">
                <a:solidFill>
                  <a:srgbClr val="F8FAFC"/>
                </a:solidFill>
                <a:latin typeface="Arial"/>
                <a:ea typeface="Arial"/>
                <a:cs typeface="Arial"/>
                <a:sym typeface="Arial"/>
              </a:rPr>
              <a:t>① 테스트 가능한 설계가 커버리지보다 우선</a:t>
            </a:r>
            <a:endParaRPr b="0" i="0" sz="1400" u="none" cap="none" strike="noStrike">
              <a:solidFill>
                <a:srgbClr val="000000"/>
              </a:solidFill>
              <a:latin typeface="Arial"/>
              <a:ea typeface="Arial"/>
              <a:cs typeface="Arial"/>
              <a:sym typeface="Arial"/>
            </a:endParaRPr>
          </a:p>
        </p:txBody>
      </p:sp>
      <p:sp>
        <p:nvSpPr>
          <p:cNvPr id="482" name="Google Shape;482;g3ee9487a86e_0_179"/>
          <p:cNvSpPr txBox="1"/>
          <p:nvPr/>
        </p:nvSpPr>
        <p:spPr>
          <a:xfrm>
            <a:off x="1704075" y="2499225"/>
            <a:ext cx="3667200" cy="373800"/>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1012"/>
              <a:buFont typeface="Arial"/>
              <a:buNone/>
            </a:pPr>
            <a:r>
              <a:rPr b="0" i="0" lang="ko-KR" sz="1012" u="none" cap="none" strike="noStrike">
                <a:solidFill>
                  <a:srgbClr val="94A3B8"/>
                </a:solidFill>
                <a:latin typeface="Arial"/>
                <a:ea typeface="Arial"/>
                <a:cs typeface="Arial"/>
                <a:sym typeface="Arial"/>
              </a:rPr>
              <a:t>입출력 하드코딩 등의 설계 문제를 먼저 극복하지 않으면 커버리지는 물리적으로 정체됩니다. 의존성 주입이 해답입니다.</a:t>
            </a:r>
            <a:endParaRPr b="0" i="0" sz="1400" u="none" cap="none" strike="noStrike">
              <a:solidFill>
                <a:srgbClr val="000000"/>
              </a:solidFill>
              <a:latin typeface="Arial"/>
              <a:ea typeface="Arial"/>
              <a:cs typeface="Arial"/>
              <a:sym typeface="Arial"/>
            </a:endParaRPr>
          </a:p>
        </p:txBody>
      </p:sp>
      <p:pic>
        <p:nvPicPr>
          <p:cNvPr descr="image.png" id="483" name="Google Shape;483;g3ee9487a86e_0_179"/>
          <p:cNvPicPr preferRelativeResize="0"/>
          <p:nvPr/>
        </p:nvPicPr>
        <p:blipFill rotWithShape="1">
          <a:blip r:embed="rId11">
            <a:alphaModFix/>
          </a:blip>
          <a:srcRect b="0" l="0" r="0" t="0"/>
          <a:stretch/>
        </p:blipFill>
        <p:spPr>
          <a:xfrm>
            <a:off x="1370700" y="3316291"/>
            <a:ext cx="190500" cy="190500"/>
          </a:xfrm>
          <a:prstGeom prst="rect">
            <a:avLst/>
          </a:prstGeom>
          <a:noFill/>
          <a:ln>
            <a:noFill/>
          </a:ln>
        </p:spPr>
      </p:pic>
      <p:sp>
        <p:nvSpPr>
          <p:cNvPr id="484" name="Google Shape;484;g3ee9487a86e_0_179"/>
          <p:cNvSpPr txBox="1"/>
          <p:nvPr/>
        </p:nvSpPr>
        <p:spPr>
          <a:xfrm>
            <a:off x="1704075" y="3278191"/>
            <a:ext cx="38505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0" i="0" lang="ko-KR" sz="1200" u="none" cap="none" strike="noStrike">
                <a:solidFill>
                  <a:srgbClr val="F8FAFC"/>
                </a:solidFill>
                <a:latin typeface="Arial"/>
                <a:ea typeface="Arial"/>
                <a:cs typeface="Arial"/>
                <a:sym typeface="Arial"/>
              </a:rPr>
              <a:t>② 100% 수치는 목표가 아니며 불필요</a:t>
            </a:r>
            <a:endParaRPr b="0" i="0" sz="1400" u="none" cap="none" strike="noStrike">
              <a:solidFill>
                <a:srgbClr val="000000"/>
              </a:solidFill>
              <a:latin typeface="Arial"/>
              <a:ea typeface="Arial"/>
              <a:cs typeface="Arial"/>
              <a:sym typeface="Arial"/>
            </a:endParaRPr>
          </a:p>
        </p:txBody>
      </p:sp>
      <p:sp>
        <p:nvSpPr>
          <p:cNvPr id="485" name="Google Shape;485;g3ee9487a86e_0_179"/>
          <p:cNvSpPr txBox="1"/>
          <p:nvPr/>
        </p:nvSpPr>
        <p:spPr>
          <a:xfrm>
            <a:off x="1704075" y="3497266"/>
            <a:ext cx="3667200" cy="373800"/>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1012"/>
              <a:buFont typeface="Arial"/>
              <a:buNone/>
            </a:pPr>
            <a:r>
              <a:rPr b="0" i="0" lang="ko-KR" sz="1012" u="none" cap="none" strike="noStrike">
                <a:solidFill>
                  <a:srgbClr val="94A3B8"/>
                </a:solidFill>
                <a:latin typeface="Arial"/>
                <a:ea typeface="Arial"/>
                <a:cs typeface="Arial"/>
                <a:sym typeface="Arial"/>
              </a:rPr>
              <a:t>나머지 1%는 도구 아티팩트와 방어 코드 영역입니다. 억지로 채우기보단 "의미 있는 테스트 격차(Gap)" 해소가 참된 목적입니다.</a:t>
            </a:r>
            <a:endParaRPr b="0" i="0" sz="1400" u="none" cap="none" strike="noStrike">
              <a:solidFill>
                <a:srgbClr val="000000"/>
              </a:solidFill>
              <a:latin typeface="Arial"/>
              <a:ea typeface="Arial"/>
              <a:cs typeface="Arial"/>
              <a:sym typeface="Arial"/>
            </a:endParaRPr>
          </a:p>
        </p:txBody>
      </p:sp>
      <p:pic>
        <p:nvPicPr>
          <p:cNvPr descr="image.png" id="486" name="Google Shape;486;g3ee9487a86e_0_179"/>
          <p:cNvPicPr preferRelativeResize="0"/>
          <p:nvPr/>
        </p:nvPicPr>
        <p:blipFill rotWithShape="1">
          <a:blip r:embed="rId12">
            <a:alphaModFix/>
          </a:blip>
          <a:srcRect b="0" l="0" r="0" t="0"/>
          <a:stretch/>
        </p:blipFill>
        <p:spPr>
          <a:xfrm>
            <a:off x="1370700" y="4314332"/>
            <a:ext cx="190500" cy="190500"/>
          </a:xfrm>
          <a:prstGeom prst="rect">
            <a:avLst/>
          </a:prstGeom>
          <a:noFill/>
          <a:ln>
            <a:noFill/>
          </a:ln>
        </p:spPr>
      </p:pic>
      <p:sp>
        <p:nvSpPr>
          <p:cNvPr id="487" name="Google Shape;487;g3ee9487a86e_0_179"/>
          <p:cNvSpPr txBox="1"/>
          <p:nvPr/>
        </p:nvSpPr>
        <p:spPr>
          <a:xfrm>
            <a:off x="1704075" y="4276232"/>
            <a:ext cx="38505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0" i="0" lang="ko-KR" sz="1200" u="none" cap="none" strike="noStrike">
                <a:solidFill>
                  <a:srgbClr val="F8FAFC"/>
                </a:solidFill>
                <a:latin typeface="Arial"/>
                <a:ea typeface="Arial"/>
                <a:cs typeface="Arial"/>
                <a:sym typeface="Arial"/>
              </a:rPr>
              <a:t>③ 커버리지 보강의 부수 효과 = 버그 탐지</a:t>
            </a:r>
            <a:endParaRPr b="0" i="0" sz="1400" u="none" cap="none" strike="noStrike">
              <a:solidFill>
                <a:srgbClr val="000000"/>
              </a:solidFill>
              <a:latin typeface="Arial"/>
              <a:ea typeface="Arial"/>
              <a:cs typeface="Arial"/>
              <a:sym typeface="Arial"/>
            </a:endParaRPr>
          </a:p>
        </p:txBody>
      </p:sp>
      <p:sp>
        <p:nvSpPr>
          <p:cNvPr id="488" name="Google Shape;488;g3ee9487a86e_0_179"/>
          <p:cNvSpPr txBox="1"/>
          <p:nvPr/>
        </p:nvSpPr>
        <p:spPr>
          <a:xfrm>
            <a:off x="1704075" y="4495307"/>
            <a:ext cx="3667200" cy="373800"/>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1012"/>
              <a:buFont typeface="Arial"/>
              <a:buNone/>
            </a:pPr>
            <a:r>
              <a:rPr b="0" i="0" lang="ko-KR" sz="1012" u="none" cap="none" strike="noStrike">
                <a:solidFill>
                  <a:srgbClr val="94A3B8"/>
                </a:solidFill>
                <a:latin typeface="Arial"/>
                <a:ea typeface="Arial"/>
                <a:cs typeface="Arial"/>
                <a:sym typeface="Arial"/>
              </a:rPr>
              <a:t>수치를 올리는 활동 자체보다, 미도달 구문을 검증하기 위한 엣지 케이스 작성 과정에서 숨겨진 예외 처리 결함이 노출되었습니다.</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365D"/>
        </a:solidFill>
      </p:bgPr>
    </p:bg>
    <p:spTree>
      <p:nvGrpSpPr>
        <p:cNvPr id="492" name="Shape 492"/>
        <p:cNvGrpSpPr/>
        <p:nvPr/>
      </p:nvGrpSpPr>
      <p:grpSpPr>
        <a:xfrm>
          <a:off x="0" y="0"/>
          <a:ext cx="0" cy="0"/>
          <a:chOff x="0" y="0"/>
          <a:chExt cx="0" cy="0"/>
        </a:xfrm>
      </p:grpSpPr>
      <p:sp>
        <p:nvSpPr>
          <p:cNvPr id="493" name="Google Shape;493;g3ed4bf590d6_0_31"/>
          <p:cNvSpPr txBox="1"/>
          <p:nvPr/>
        </p:nvSpPr>
        <p:spPr>
          <a:xfrm>
            <a:off x="3060620" y="2238375"/>
            <a:ext cx="60708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b="1" i="0" lang="ko-KR" sz="1800" u="none" cap="none" strike="noStrike">
                <a:solidFill>
                  <a:srgbClr val="FFFFFF"/>
                </a:solidFill>
                <a:latin typeface="Urbanist"/>
                <a:ea typeface="Urbanist"/>
                <a:cs typeface="Urbanist"/>
                <a:sym typeface="Urbanist"/>
              </a:rPr>
              <a:t>BEST PRACTICE</a:t>
            </a:r>
            <a:endParaRPr b="0" i="0" sz="1400" u="none" cap="none" strike="noStrike">
              <a:solidFill>
                <a:srgbClr val="000000"/>
              </a:solidFill>
              <a:latin typeface="Arial"/>
              <a:ea typeface="Arial"/>
              <a:cs typeface="Arial"/>
              <a:sym typeface="Arial"/>
            </a:endParaRPr>
          </a:p>
        </p:txBody>
      </p:sp>
      <p:sp>
        <p:nvSpPr>
          <p:cNvPr id="494" name="Google Shape;494;g3ed4bf590d6_0_31"/>
          <p:cNvSpPr txBox="1"/>
          <p:nvPr/>
        </p:nvSpPr>
        <p:spPr>
          <a:xfrm>
            <a:off x="3060620" y="2705100"/>
            <a:ext cx="6070800" cy="738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4800"/>
              <a:buFont typeface="Arial"/>
              <a:buNone/>
            </a:pPr>
            <a:r>
              <a:rPr b="1" i="0" lang="ko-KR" sz="4800" u="none" cap="none" strike="noStrike">
                <a:solidFill>
                  <a:srgbClr val="FFFFFF"/>
                </a:solidFill>
                <a:latin typeface="Urbanist"/>
                <a:ea typeface="Urbanist"/>
                <a:cs typeface="Urbanist"/>
                <a:sym typeface="Urbanist"/>
              </a:rPr>
              <a:t>BP - Refactoring 사례</a:t>
            </a:r>
            <a:endParaRPr b="0" i="0" sz="1400" u="none" cap="none" strike="noStrike">
              <a:solidFill>
                <a:srgbClr val="000000"/>
              </a:solidFill>
              <a:latin typeface="Arial"/>
              <a:ea typeface="Arial"/>
              <a:cs typeface="Arial"/>
              <a:sym typeface="Arial"/>
            </a:endParaRPr>
          </a:p>
        </p:txBody>
      </p:sp>
      <p:sp>
        <p:nvSpPr>
          <p:cNvPr id="495" name="Google Shape;495;g3ed4bf590d6_0_31"/>
          <p:cNvSpPr/>
          <p:nvPr/>
        </p:nvSpPr>
        <p:spPr>
          <a:xfrm>
            <a:off x="5619750" y="3819525"/>
            <a:ext cx="952500" cy="47700"/>
          </a:xfrm>
          <a:prstGeom prst="rect">
            <a:avLst/>
          </a:prstGeom>
          <a:solidFill>
            <a:srgbClr val="00808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96" name="Google Shape;496;g3ed4bf590d6_0_31"/>
          <p:cNvSpPr txBox="1"/>
          <p:nvPr/>
        </p:nvSpPr>
        <p:spPr>
          <a:xfrm>
            <a:off x="3205162" y="4152900"/>
            <a:ext cx="5781600" cy="231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500"/>
              <a:buFont typeface="Arial"/>
              <a:buNone/>
            </a:pPr>
            <a:r>
              <a:rPr b="0" i="0" lang="ko-KR" sz="1500" u="none" cap="none" strike="noStrike">
                <a:solidFill>
                  <a:srgbClr val="FFFFFF"/>
                </a:solidFill>
                <a:latin typeface="Noto Sans KR"/>
                <a:ea typeface="Noto Sans KR"/>
                <a:cs typeface="Noto Sans KR"/>
                <a:sym typeface="Noto Sans KR"/>
              </a:rPr>
              <a:t>디자인 패턴 적용을 통한 아키텍처 개선 및 품질 성과</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g3ee94320d98_2_75"/>
          <p:cNvSpPr txBox="1"/>
          <p:nvPr/>
        </p:nvSpPr>
        <p:spPr>
          <a:xfrm>
            <a:off x="493905" y="256032"/>
            <a:ext cx="10518339" cy="5943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ko-KR" sz="2800" u="none" cap="none" strike="noStrike">
                <a:solidFill>
                  <a:srgbClr val="0F172A"/>
                </a:solidFill>
                <a:latin typeface="Calibri"/>
                <a:ea typeface="Calibri"/>
                <a:cs typeface="Calibri"/>
                <a:sym typeface="Calibri"/>
              </a:rPr>
              <a:t>디자인 패턴 분류 및 적용 현황</a:t>
            </a:r>
            <a:endParaRPr b="0" i="0" sz="1400" u="none" cap="none" strike="noStrike">
              <a:solidFill>
                <a:srgbClr val="000000"/>
              </a:solidFill>
              <a:latin typeface="Arial"/>
              <a:ea typeface="Arial"/>
              <a:cs typeface="Arial"/>
              <a:sym typeface="Arial"/>
            </a:endParaRPr>
          </a:p>
        </p:txBody>
      </p:sp>
      <p:sp>
        <p:nvSpPr>
          <p:cNvPr id="502" name="Google Shape;502;g3ee94320d98_2_75"/>
          <p:cNvSpPr/>
          <p:nvPr/>
        </p:nvSpPr>
        <p:spPr>
          <a:xfrm>
            <a:off x="493905" y="886968"/>
            <a:ext cx="11204318" cy="50292"/>
          </a:xfrm>
          <a:prstGeom prst="rect">
            <a:avLst/>
          </a:prstGeom>
          <a:solidFill>
            <a:srgbClr val="E2E8F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03" name="Google Shape;503;g3ee94320d98_2_75"/>
          <p:cNvSpPr txBox="1"/>
          <p:nvPr/>
        </p:nvSpPr>
        <p:spPr>
          <a:xfrm>
            <a:off x="493905" y="978408"/>
            <a:ext cx="10975658"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0" i="0" lang="ko-KR" sz="1300" u="none" cap="none" strike="noStrike">
                <a:solidFill>
                  <a:srgbClr val="64748B"/>
                </a:solidFill>
                <a:latin typeface="Calibri"/>
                <a:ea typeface="Calibri"/>
                <a:cs typeface="Calibri"/>
                <a:sym typeface="Calibri"/>
              </a:rPr>
              <a:t>CodeFab Interpreter  |  C++20  |  생성 2종 · 구조 4종 · 동작 7종  =  총 13종 35개소</a:t>
            </a:r>
            <a:endParaRPr b="0" i="0" sz="1400" u="none" cap="none" strike="noStrike">
              <a:solidFill>
                <a:srgbClr val="000000"/>
              </a:solidFill>
              <a:latin typeface="Arial"/>
              <a:ea typeface="Arial"/>
              <a:cs typeface="Arial"/>
              <a:sym typeface="Arial"/>
            </a:endParaRPr>
          </a:p>
        </p:txBody>
      </p:sp>
      <p:sp>
        <p:nvSpPr>
          <p:cNvPr id="504" name="Google Shape;504;g3ee94320d98_2_75"/>
          <p:cNvSpPr/>
          <p:nvPr/>
        </p:nvSpPr>
        <p:spPr>
          <a:xfrm>
            <a:off x="256099" y="1335024"/>
            <a:ext cx="3722577" cy="4434840"/>
          </a:xfrm>
          <a:prstGeom prst="rect">
            <a:avLst/>
          </a:prstGeom>
          <a:solidFill>
            <a:srgbClr val="FFFFFF"/>
          </a:solidFill>
          <a:ln cap="flat" cmpd="sng" w="9525">
            <a:solidFill>
              <a:srgbClr val="CBD5E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05" name="Google Shape;505;g3ee94320d98_2_75"/>
          <p:cNvSpPr/>
          <p:nvPr/>
        </p:nvSpPr>
        <p:spPr>
          <a:xfrm>
            <a:off x="256099" y="1335024"/>
            <a:ext cx="3722577" cy="566928"/>
          </a:xfrm>
          <a:prstGeom prst="rect">
            <a:avLst/>
          </a:prstGeom>
          <a:solidFill>
            <a:srgbClr val="7C3AE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06" name="Google Shape;506;g3ee94320d98_2_75"/>
          <p:cNvSpPr txBox="1"/>
          <p:nvPr/>
        </p:nvSpPr>
        <p:spPr>
          <a:xfrm>
            <a:off x="365855" y="1389888"/>
            <a:ext cx="2762207" cy="2194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1" i="0" lang="ko-KR" sz="1300" u="none" cap="none" strike="noStrike">
                <a:solidFill>
                  <a:srgbClr val="FFFFFF"/>
                </a:solidFill>
                <a:latin typeface="Calibri"/>
                <a:ea typeface="Calibri"/>
                <a:cs typeface="Calibri"/>
                <a:sym typeface="Calibri"/>
              </a:rPr>
              <a:t>생성 패턴</a:t>
            </a:r>
            <a:endParaRPr b="0" i="0" sz="1400" u="none" cap="none" strike="noStrike">
              <a:solidFill>
                <a:srgbClr val="000000"/>
              </a:solidFill>
              <a:latin typeface="Arial"/>
              <a:ea typeface="Arial"/>
              <a:cs typeface="Arial"/>
              <a:sym typeface="Arial"/>
            </a:endParaRPr>
          </a:p>
        </p:txBody>
      </p:sp>
      <p:sp>
        <p:nvSpPr>
          <p:cNvPr id="507" name="Google Shape;507;g3ee94320d98_2_75"/>
          <p:cNvSpPr txBox="1"/>
          <p:nvPr/>
        </p:nvSpPr>
        <p:spPr>
          <a:xfrm>
            <a:off x="365855" y="1609344"/>
            <a:ext cx="2762207" cy="20116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ko-KR" sz="1100" u="none" cap="none" strike="noStrike">
                <a:solidFill>
                  <a:srgbClr val="C4B5FD"/>
                </a:solidFill>
                <a:latin typeface="Calibri"/>
                <a:ea typeface="Calibri"/>
                <a:cs typeface="Calibri"/>
                <a:sym typeface="Calibri"/>
              </a:rPr>
              <a:t>Creational</a:t>
            </a:r>
            <a:endParaRPr b="0" i="0" sz="1400" u="none" cap="none" strike="noStrike">
              <a:solidFill>
                <a:srgbClr val="000000"/>
              </a:solidFill>
              <a:latin typeface="Arial"/>
              <a:ea typeface="Arial"/>
              <a:cs typeface="Arial"/>
              <a:sym typeface="Arial"/>
            </a:endParaRPr>
          </a:p>
        </p:txBody>
      </p:sp>
      <p:sp>
        <p:nvSpPr>
          <p:cNvPr id="508" name="Google Shape;508;g3ee94320d98_2_75"/>
          <p:cNvSpPr/>
          <p:nvPr/>
        </p:nvSpPr>
        <p:spPr>
          <a:xfrm>
            <a:off x="3091477" y="1463040"/>
            <a:ext cx="768296" cy="292608"/>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09" name="Google Shape;509;g3ee94320d98_2_75"/>
          <p:cNvSpPr txBox="1"/>
          <p:nvPr/>
        </p:nvSpPr>
        <p:spPr>
          <a:xfrm>
            <a:off x="3091477" y="1463040"/>
            <a:ext cx="768296" cy="29260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1" i="0" lang="ko-KR" sz="1000" u="none" cap="none" strike="noStrike">
                <a:solidFill>
                  <a:srgbClr val="7C3AED"/>
                </a:solidFill>
                <a:latin typeface="Calibri"/>
                <a:ea typeface="Calibri"/>
                <a:cs typeface="Calibri"/>
                <a:sym typeface="Calibri"/>
              </a:rPr>
              <a:t>2종  3개소</a:t>
            </a:r>
            <a:endParaRPr b="0" i="0" sz="1400" u="none" cap="none" strike="noStrike">
              <a:solidFill>
                <a:srgbClr val="000000"/>
              </a:solidFill>
              <a:latin typeface="Arial"/>
              <a:ea typeface="Arial"/>
              <a:cs typeface="Arial"/>
              <a:sym typeface="Arial"/>
            </a:endParaRPr>
          </a:p>
        </p:txBody>
      </p:sp>
      <p:sp>
        <p:nvSpPr>
          <p:cNvPr id="510" name="Google Shape;510;g3ee94320d98_2_75"/>
          <p:cNvSpPr/>
          <p:nvPr/>
        </p:nvSpPr>
        <p:spPr>
          <a:xfrm>
            <a:off x="256099" y="1956816"/>
            <a:ext cx="3722577" cy="457200"/>
          </a:xfrm>
          <a:prstGeom prst="rect">
            <a:avLst/>
          </a:prstGeom>
          <a:solidFill>
            <a:srgbClr val="F8FAFC"/>
          </a:solidFill>
          <a:ln cap="flat" cmpd="sng" w="9525">
            <a:solidFill>
              <a:srgbClr val="CBD5E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11" name="Google Shape;511;g3ee94320d98_2_75"/>
          <p:cNvSpPr/>
          <p:nvPr/>
        </p:nvSpPr>
        <p:spPr>
          <a:xfrm>
            <a:off x="384148" y="2148840"/>
            <a:ext cx="73171" cy="73152"/>
          </a:xfrm>
          <a:prstGeom prst="rect">
            <a:avLst/>
          </a:prstGeom>
          <a:solidFill>
            <a:srgbClr val="7C3AE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12" name="Google Shape;512;g3ee94320d98_2_75"/>
          <p:cNvSpPr txBox="1"/>
          <p:nvPr/>
        </p:nvSpPr>
        <p:spPr>
          <a:xfrm>
            <a:off x="530490" y="2002536"/>
            <a:ext cx="3356722" cy="2194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ko-KR" sz="1200" u="none" cap="none" strike="noStrike">
                <a:solidFill>
                  <a:srgbClr val="0F172A"/>
                </a:solidFill>
                <a:latin typeface="Calibri"/>
                <a:ea typeface="Calibri"/>
                <a:cs typeface="Calibri"/>
                <a:sym typeface="Calibri"/>
              </a:rPr>
              <a:t>Dependency Injection</a:t>
            </a:r>
            <a:endParaRPr b="0" i="0" sz="1400" u="none" cap="none" strike="noStrike">
              <a:solidFill>
                <a:srgbClr val="000000"/>
              </a:solidFill>
              <a:latin typeface="Arial"/>
              <a:ea typeface="Arial"/>
              <a:cs typeface="Arial"/>
              <a:sym typeface="Arial"/>
            </a:endParaRPr>
          </a:p>
        </p:txBody>
      </p:sp>
      <p:sp>
        <p:nvSpPr>
          <p:cNvPr id="513" name="Google Shape;513;g3ee94320d98_2_75"/>
          <p:cNvSpPr txBox="1"/>
          <p:nvPr/>
        </p:nvSpPr>
        <p:spPr>
          <a:xfrm>
            <a:off x="530490" y="2212848"/>
            <a:ext cx="3356722" cy="1645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ko-KR" sz="1000" u="none" cap="none" strike="noStrike">
                <a:solidFill>
                  <a:srgbClr val="64748B"/>
                </a:solidFill>
                <a:latin typeface="Calibri"/>
                <a:ea typeface="Calibri"/>
                <a:cs typeface="Calibri"/>
                <a:sym typeface="Calibri"/>
              </a:rPr>
              <a:t>LangFactory DI 생성자</a:t>
            </a:r>
            <a:endParaRPr b="0" i="0" sz="1400" u="none" cap="none" strike="noStrike">
              <a:solidFill>
                <a:srgbClr val="000000"/>
              </a:solidFill>
              <a:latin typeface="Arial"/>
              <a:ea typeface="Arial"/>
              <a:cs typeface="Arial"/>
              <a:sym typeface="Arial"/>
            </a:endParaRPr>
          </a:p>
        </p:txBody>
      </p:sp>
      <p:sp>
        <p:nvSpPr>
          <p:cNvPr id="514" name="Google Shape;514;g3ee94320d98_2_75"/>
          <p:cNvSpPr/>
          <p:nvPr/>
        </p:nvSpPr>
        <p:spPr>
          <a:xfrm>
            <a:off x="256099" y="2414016"/>
            <a:ext cx="3722577" cy="457200"/>
          </a:xfrm>
          <a:prstGeom prst="rect">
            <a:avLst/>
          </a:prstGeom>
          <a:solidFill>
            <a:srgbClr val="FFFFFF"/>
          </a:solidFill>
          <a:ln cap="flat" cmpd="sng" w="9525">
            <a:solidFill>
              <a:srgbClr val="CBD5E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15" name="Google Shape;515;g3ee94320d98_2_75"/>
          <p:cNvSpPr/>
          <p:nvPr/>
        </p:nvSpPr>
        <p:spPr>
          <a:xfrm>
            <a:off x="384148" y="2606040"/>
            <a:ext cx="73171" cy="73152"/>
          </a:xfrm>
          <a:prstGeom prst="rect">
            <a:avLst/>
          </a:prstGeom>
          <a:solidFill>
            <a:srgbClr val="7C3AE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16" name="Google Shape;516;g3ee94320d98_2_75"/>
          <p:cNvSpPr txBox="1"/>
          <p:nvPr/>
        </p:nvSpPr>
        <p:spPr>
          <a:xfrm>
            <a:off x="530490" y="2459736"/>
            <a:ext cx="3356722" cy="2194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ko-KR" sz="1200" u="none" cap="none" strike="noStrike">
                <a:solidFill>
                  <a:srgbClr val="0F172A"/>
                </a:solidFill>
                <a:latin typeface="Calibri"/>
                <a:ea typeface="Calibri"/>
                <a:cs typeface="Calibri"/>
                <a:sym typeface="Calibri"/>
              </a:rPr>
              <a:t>Null Object</a:t>
            </a:r>
            <a:endParaRPr b="0" i="0" sz="1400" u="none" cap="none" strike="noStrike">
              <a:solidFill>
                <a:srgbClr val="000000"/>
              </a:solidFill>
              <a:latin typeface="Arial"/>
              <a:ea typeface="Arial"/>
              <a:cs typeface="Arial"/>
              <a:sym typeface="Arial"/>
            </a:endParaRPr>
          </a:p>
        </p:txBody>
      </p:sp>
      <p:sp>
        <p:nvSpPr>
          <p:cNvPr id="517" name="Google Shape;517;g3ee94320d98_2_75"/>
          <p:cNvSpPr txBox="1"/>
          <p:nvPr/>
        </p:nvSpPr>
        <p:spPr>
          <a:xfrm>
            <a:off x="530490" y="2670048"/>
            <a:ext cx="3356722" cy="1645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ko-KR" sz="1000" u="none" cap="none" strike="noStrike">
                <a:solidFill>
                  <a:srgbClr val="64748B"/>
                </a:solidFill>
                <a:latin typeface="Calibri"/>
                <a:ea typeface="Calibri"/>
                <a:cs typeface="Calibri"/>
                <a:sym typeface="Calibri"/>
              </a:rPr>
              <a:t>IInterpreter 기본 구현 제공</a:t>
            </a:r>
            <a:endParaRPr b="0" i="0" sz="1400" u="none" cap="none" strike="noStrike">
              <a:solidFill>
                <a:srgbClr val="000000"/>
              </a:solidFill>
              <a:latin typeface="Arial"/>
              <a:ea typeface="Arial"/>
              <a:cs typeface="Arial"/>
              <a:sym typeface="Arial"/>
            </a:endParaRPr>
          </a:p>
        </p:txBody>
      </p:sp>
      <p:sp>
        <p:nvSpPr>
          <p:cNvPr id="518" name="Google Shape;518;g3ee94320d98_2_75"/>
          <p:cNvSpPr/>
          <p:nvPr/>
        </p:nvSpPr>
        <p:spPr>
          <a:xfrm>
            <a:off x="4198189" y="1335024"/>
            <a:ext cx="3722577" cy="4434840"/>
          </a:xfrm>
          <a:prstGeom prst="rect">
            <a:avLst/>
          </a:prstGeom>
          <a:solidFill>
            <a:srgbClr val="FFFFFF"/>
          </a:solidFill>
          <a:ln cap="flat" cmpd="sng" w="9525">
            <a:solidFill>
              <a:srgbClr val="CBD5E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19" name="Google Shape;519;g3ee94320d98_2_75"/>
          <p:cNvSpPr/>
          <p:nvPr/>
        </p:nvSpPr>
        <p:spPr>
          <a:xfrm>
            <a:off x="4198189" y="1335024"/>
            <a:ext cx="3722577" cy="566928"/>
          </a:xfrm>
          <a:prstGeom prst="rect">
            <a:avLst/>
          </a:prstGeom>
          <a:solidFill>
            <a:srgbClr val="2563E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20" name="Google Shape;520;g3ee94320d98_2_75"/>
          <p:cNvSpPr txBox="1"/>
          <p:nvPr/>
        </p:nvSpPr>
        <p:spPr>
          <a:xfrm>
            <a:off x="4307946" y="1389888"/>
            <a:ext cx="2762207" cy="2194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1" i="0" lang="ko-KR" sz="1300" u="none" cap="none" strike="noStrike">
                <a:solidFill>
                  <a:srgbClr val="FFFFFF"/>
                </a:solidFill>
                <a:latin typeface="Calibri"/>
                <a:ea typeface="Calibri"/>
                <a:cs typeface="Calibri"/>
                <a:sym typeface="Calibri"/>
              </a:rPr>
              <a:t>구조 패턴</a:t>
            </a:r>
            <a:endParaRPr b="0" i="0" sz="1400" u="none" cap="none" strike="noStrike">
              <a:solidFill>
                <a:srgbClr val="000000"/>
              </a:solidFill>
              <a:latin typeface="Arial"/>
              <a:ea typeface="Arial"/>
              <a:cs typeface="Arial"/>
              <a:sym typeface="Arial"/>
            </a:endParaRPr>
          </a:p>
        </p:txBody>
      </p:sp>
      <p:sp>
        <p:nvSpPr>
          <p:cNvPr id="521" name="Google Shape;521;g3ee94320d98_2_75"/>
          <p:cNvSpPr txBox="1"/>
          <p:nvPr/>
        </p:nvSpPr>
        <p:spPr>
          <a:xfrm>
            <a:off x="4307946" y="1609344"/>
            <a:ext cx="2762207" cy="20116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ko-KR" sz="1100" u="none" cap="none" strike="noStrike">
                <a:solidFill>
                  <a:srgbClr val="BFDBFE"/>
                </a:solidFill>
                <a:latin typeface="Calibri"/>
                <a:ea typeface="Calibri"/>
                <a:cs typeface="Calibri"/>
                <a:sym typeface="Calibri"/>
              </a:rPr>
              <a:t>Structural</a:t>
            </a:r>
            <a:endParaRPr b="0" i="0" sz="1400" u="none" cap="none" strike="noStrike">
              <a:solidFill>
                <a:srgbClr val="000000"/>
              </a:solidFill>
              <a:latin typeface="Arial"/>
              <a:ea typeface="Arial"/>
              <a:cs typeface="Arial"/>
              <a:sym typeface="Arial"/>
            </a:endParaRPr>
          </a:p>
        </p:txBody>
      </p:sp>
      <p:sp>
        <p:nvSpPr>
          <p:cNvPr id="522" name="Google Shape;522;g3ee94320d98_2_75"/>
          <p:cNvSpPr/>
          <p:nvPr/>
        </p:nvSpPr>
        <p:spPr>
          <a:xfrm>
            <a:off x="7033568" y="1463040"/>
            <a:ext cx="768296" cy="292608"/>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23" name="Google Shape;523;g3ee94320d98_2_75"/>
          <p:cNvSpPr txBox="1"/>
          <p:nvPr/>
        </p:nvSpPr>
        <p:spPr>
          <a:xfrm>
            <a:off x="7033568" y="1463040"/>
            <a:ext cx="768296" cy="2308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1" i="0" lang="ko-KR" sz="900" u="none" cap="none" strike="noStrike">
                <a:solidFill>
                  <a:srgbClr val="2563EB"/>
                </a:solidFill>
                <a:latin typeface="Calibri"/>
                <a:ea typeface="Calibri"/>
                <a:cs typeface="Calibri"/>
                <a:sym typeface="Calibri"/>
              </a:rPr>
              <a:t>4종  11개소</a:t>
            </a:r>
            <a:endParaRPr b="0" i="0" sz="1400" u="none" cap="none" strike="noStrike">
              <a:solidFill>
                <a:srgbClr val="000000"/>
              </a:solidFill>
              <a:latin typeface="Arial"/>
              <a:ea typeface="Arial"/>
              <a:cs typeface="Arial"/>
              <a:sym typeface="Arial"/>
            </a:endParaRPr>
          </a:p>
        </p:txBody>
      </p:sp>
      <p:sp>
        <p:nvSpPr>
          <p:cNvPr id="524" name="Google Shape;524;g3ee94320d98_2_75"/>
          <p:cNvSpPr/>
          <p:nvPr/>
        </p:nvSpPr>
        <p:spPr>
          <a:xfrm>
            <a:off x="4198189" y="1956816"/>
            <a:ext cx="3722577" cy="457200"/>
          </a:xfrm>
          <a:prstGeom prst="rect">
            <a:avLst/>
          </a:prstGeom>
          <a:solidFill>
            <a:srgbClr val="F8FAFC"/>
          </a:solidFill>
          <a:ln cap="flat" cmpd="sng" w="9525">
            <a:solidFill>
              <a:srgbClr val="CBD5E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25" name="Google Shape;525;g3ee94320d98_2_75"/>
          <p:cNvSpPr/>
          <p:nvPr/>
        </p:nvSpPr>
        <p:spPr>
          <a:xfrm>
            <a:off x="4326239" y="2148840"/>
            <a:ext cx="73171" cy="73152"/>
          </a:xfrm>
          <a:prstGeom prst="rect">
            <a:avLst/>
          </a:prstGeom>
          <a:solidFill>
            <a:srgbClr val="2563E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26" name="Google Shape;526;g3ee94320d98_2_75"/>
          <p:cNvSpPr txBox="1"/>
          <p:nvPr/>
        </p:nvSpPr>
        <p:spPr>
          <a:xfrm>
            <a:off x="4472581" y="2002536"/>
            <a:ext cx="3356722"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ko-KR" sz="1200" u="none" cap="none" strike="noStrike">
                <a:solidFill>
                  <a:srgbClr val="0F172A"/>
                </a:solidFill>
                <a:latin typeface="Calibri"/>
                <a:ea typeface="Calibri"/>
                <a:cs typeface="Calibri"/>
                <a:sym typeface="Calibri"/>
              </a:rPr>
              <a:t>Facade</a:t>
            </a:r>
            <a:endParaRPr b="0" i="0" sz="1400" u="none" cap="none" strike="noStrike">
              <a:solidFill>
                <a:srgbClr val="000000"/>
              </a:solidFill>
              <a:latin typeface="Arial"/>
              <a:ea typeface="Arial"/>
              <a:cs typeface="Arial"/>
              <a:sym typeface="Arial"/>
            </a:endParaRPr>
          </a:p>
        </p:txBody>
      </p:sp>
      <p:sp>
        <p:nvSpPr>
          <p:cNvPr id="527" name="Google Shape;527;g3ee94320d98_2_75"/>
          <p:cNvSpPr txBox="1"/>
          <p:nvPr/>
        </p:nvSpPr>
        <p:spPr>
          <a:xfrm>
            <a:off x="4472581" y="2212848"/>
            <a:ext cx="3356722" cy="1645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ko-KR" sz="1000" u="none" cap="none" strike="noStrike">
                <a:solidFill>
                  <a:srgbClr val="64748B"/>
                </a:solidFill>
                <a:latin typeface="Calibri"/>
                <a:ea typeface="Calibri"/>
                <a:cs typeface="Calibri"/>
                <a:sym typeface="Calibri"/>
              </a:rPr>
              <a:t>LangFactory · Shell 2계층 은닉</a:t>
            </a:r>
            <a:endParaRPr b="0" i="0" sz="1400" u="none" cap="none" strike="noStrike">
              <a:solidFill>
                <a:srgbClr val="000000"/>
              </a:solidFill>
              <a:latin typeface="Arial"/>
              <a:ea typeface="Arial"/>
              <a:cs typeface="Arial"/>
              <a:sym typeface="Arial"/>
            </a:endParaRPr>
          </a:p>
        </p:txBody>
      </p:sp>
      <p:sp>
        <p:nvSpPr>
          <p:cNvPr id="528" name="Google Shape;528;g3ee94320d98_2_75"/>
          <p:cNvSpPr/>
          <p:nvPr/>
        </p:nvSpPr>
        <p:spPr>
          <a:xfrm>
            <a:off x="4198189" y="2414016"/>
            <a:ext cx="3722577" cy="457200"/>
          </a:xfrm>
          <a:prstGeom prst="rect">
            <a:avLst/>
          </a:prstGeom>
          <a:solidFill>
            <a:srgbClr val="FFFFFF"/>
          </a:solidFill>
          <a:ln cap="flat" cmpd="sng" w="9525">
            <a:solidFill>
              <a:srgbClr val="CBD5E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29" name="Google Shape;529;g3ee94320d98_2_75"/>
          <p:cNvSpPr/>
          <p:nvPr/>
        </p:nvSpPr>
        <p:spPr>
          <a:xfrm>
            <a:off x="4326239" y="2606040"/>
            <a:ext cx="73171" cy="73152"/>
          </a:xfrm>
          <a:prstGeom prst="rect">
            <a:avLst/>
          </a:prstGeom>
          <a:solidFill>
            <a:srgbClr val="2563E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30" name="Google Shape;530;g3ee94320d98_2_75"/>
          <p:cNvSpPr txBox="1"/>
          <p:nvPr/>
        </p:nvSpPr>
        <p:spPr>
          <a:xfrm>
            <a:off x="4472581" y="2459736"/>
            <a:ext cx="3356722" cy="2194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ko-KR" sz="1200" u="none" cap="none" strike="noStrike">
                <a:solidFill>
                  <a:srgbClr val="0F172A"/>
                </a:solidFill>
                <a:latin typeface="Calibri"/>
                <a:ea typeface="Calibri"/>
                <a:cs typeface="Calibri"/>
                <a:sym typeface="Calibri"/>
              </a:rPr>
              <a:t>Composite</a:t>
            </a:r>
            <a:endParaRPr b="0" i="0" sz="1400" u="none" cap="none" strike="noStrike">
              <a:solidFill>
                <a:srgbClr val="000000"/>
              </a:solidFill>
              <a:latin typeface="Arial"/>
              <a:ea typeface="Arial"/>
              <a:cs typeface="Arial"/>
              <a:sym typeface="Arial"/>
            </a:endParaRPr>
          </a:p>
        </p:txBody>
      </p:sp>
      <p:sp>
        <p:nvSpPr>
          <p:cNvPr id="531" name="Google Shape;531;g3ee94320d98_2_75"/>
          <p:cNvSpPr txBox="1"/>
          <p:nvPr/>
        </p:nvSpPr>
        <p:spPr>
          <a:xfrm>
            <a:off x="4472581" y="2670048"/>
            <a:ext cx="3356722" cy="1645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ko-KR" sz="1000" u="none" cap="none" strike="noStrike">
                <a:solidFill>
                  <a:srgbClr val="64748B"/>
                </a:solidFill>
                <a:latin typeface="Calibri"/>
                <a:ea typeface="Calibri"/>
                <a:cs typeface="Calibri"/>
                <a:sym typeface="Calibri"/>
              </a:rPr>
              <a:t>Expr / Stmt AST 트리</a:t>
            </a:r>
            <a:endParaRPr b="0" i="0" sz="1400" u="none" cap="none" strike="noStrike">
              <a:solidFill>
                <a:srgbClr val="000000"/>
              </a:solidFill>
              <a:latin typeface="Arial"/>
              <a:ea typeface="Arial"/>
              <a:cs typeface="Arial"/>
              <a:sym typeface="Arial"/>
            </a:endParaRPr>
          </a:p>
        </p:txBody>
      </p:sp>
      <p:sp>
        <p:nvSpPr>
          <p:cNvPr id="532" name="Google Shape;532;g3ee94320d98_2_75"/>
          <p:cNvSpPr/>
          <p:nvPr/>
        </p:nvSpPr>
        <p:spPr>
          <a:xfrm>
            <a:off x="4198189" y="2871216"/>
            <a:ext cx="3722577" cy="457200"/>
          </a:xfrm>
          <a:prstGeom prst="rect">
            <a:avLst/>
          </a:prstGeom>
          <a:solidFill>
            <a:srgbClr val="F8FAFC"/>
          </a:solidFill>
          <a:ln cap="flat" cmpd="sng" w="9525">
            <a:solidFill>
              <a:srgbClr val="CBD5E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33" name="Google Shape;533;g3ee94320d98_2_75"/>
          <p:cNvSpPr/>
          <p:nvPr/>
        </p:nvSpPr>
        <p:spPr>
          <a:xfrm>
            <a:off x="4326239" y="3063240"/>
            <a:ext cx="73171" cy="73152"/>
          </a:xfrm>
          <a:prstGeom prst="rect">
            <a:avLst/>
          </a:prstGeom>
          <a:solidFill>
            <a:srgbClr val="2563E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34" name="Google Shape;534;g3ee94320d98_2_75"/>
          <p:cNvSpPr txBox="1"/>
          <p:nvPr/>
        </p:nvSpPr>
        <p:spPr>
          <a:xfrm>
            <a:off x="4472581" y="2916936"/>
            <a:ext cx="3356722" cy="2194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ko-KR" sz="1200" u="none" cap="none" strike="noStrike">
                <a:solidFill>
                  <a:srgbClr val="0F172A"/>
                </a:solidFill>
                <a:latin typeface="Calibri"/>
                <a:ea typeface="Calibri"/>
                <a:cs typeface="Calibri"/>
                <a:sym typeface="Calibri"/>
              </a:rPr>
              <a:t>Bridge</a:t>
            </a:r>
            <a:endParaRPr b="0" i="0" sz="1400" u="none" cap="none" strike="noStrike">
              <a:solidFill>
                <a:srgbClr val="000000"/>
              </a:solidFill>
              <a:latin typeface="Arial"/>
              <a:ea typeface="Arial"/>
              <a:cs typeface="Arial"/>
              <a:sym typeface="Arial"/>
            </a:endParaRPr>
          </a:p>
        </p:txBody>
      </p:sp>
      <p:sp>
        <p:nvSpPr>
          <p:cNvPr id="535" name="Google Shape;535;g3ee94320d98_2_75"/>
          <p:cNvSpPr txBox="1"/>
          <p:nvPr/>
        </p:nvSpPr>
        <p:spPr>
          <a:xfrm>
            <a:off x="4472581" y="3127248"/>
            <a:ext cx="3356722" cy="1645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ko-KR" sz="1000" u="none" cap="none" strike="noStrike">
                <a:solidFill>
                  <a:srgbClr val="64748B"/>
                </a:solidFill>
                <a:latin typeface="Calibri"/>
                <a:ea typeface="Calibri"/>
                <a:cs typeface="Calibri"/>
                <a:sym typeface="Calibri"/>
              </a:rPr>
              <a:t>ILexer · IParser 등 6개 인터페이스</a:t>
            </a:r>
            <a:endParaRPr b="0" i="0" sz="1400" u="none" cap="none" strike="noStrike">
              <a:solidFill>
                <a:srgbClr val="000000"/>
              </a:solidFill>
              <a:latin typeface="Arial"/>
              <a:ea typeface="Arial"/>
              <a:cs typeface="Arial"/>
              <a:sym typeface="Arial"/>
            </a:endParaRPr>
          </a:p>
        </p:txBody>
      </p:sp>
      <p:sp>
        <p:nvSpPr>
          <p:cNvPr id="536" name="Google Shape;536;g3ee94320d98_2_75"/>
          <p:cNvSpPr/>
          <p:nvPr/>
        </p:nvSpPr>
        <p:spPr>
          <a:xfrm>
            <a:off x="4198189" y="3328416"/>
            <a:ext cx="3722577" cy="457200"/>
          </a:xfrm>
          <a:prstGeom prst="rect">
            <a:avLst/>
          </a:prstGeom>
          <a:solidFill>
            <a:srgbClr val="FFFFFF"/>
          </a:solidFill>
          <a:ln cap="flat" cmpd="sng" w="9525">
            <a:solidFill>
              <a:srgbClr val="CBD5E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37" name="Google Shape;537;g3ee94320d98_2_75"/>
          <p:cNvSpPr/>
          <p:nvPr/>
        </p:nvSpPr>
        <p:spPr>
          <a:xfrm>
            <a:off x="4326239" y="3520440"/>
            <a:ext cx="73171" cy="73152"/>
          </a:xfrm>
          <a:prstGeom prst="rect">
            <a:avLst/>
          </a:prstGeom>
          <a:solidFill>
            <a:srgbClr val="2563E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38" name="Google Shape;538;g3ee94320d98_2_75"/>
          <p:cNvSpPr txBox="1"/>
          <p:nvPr/>
        </p:nvSpPr>
        <p:spPr>
          <a:xfrm>
            <a:off x="4472581" y="3374136"/>
            <a:ext cx="3356722" cy="2194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ko-KR" sz="1200" u="none" cap="none" strike="noStrike">
                <a:solidFill>
                  <a:srgbClr val="0F172A"/>
                </a:solidFill>
                <a:latin typeface="Calibri"/>
                <a:ea typeface="Calibri"/>
                <a:cs typeface="Calibri"/>
                <a:sym typeface="Calibri"/>
              </a:rPr>
              <a:t>Decorator</a:t>
            </a:r>
            <a:endParaRPr b="0" i="0" sz="1400" u="none" cap="none" strike="noStrike">
              <a:solidFill>
                <a:srgbClr val="000000"/>
              </a:solidFill>
              <a:latin typeface="Arial"/>
              <a:ea typeface="Arial"/>
              <a:cs typeface="Arial"/>
              <a:sym typeface="Arial"/>
            </a:endParaRPr>
          </a:p>
        </p:txBody>
      </p:sp>
      <p:sp>
        <p:nvSpPr>
          <p:cNvPr id="539" name="Google Shape;539;g3ee94320d98_2_75"/>
          <p:cNvSpPr txBox="1"/>
          <p:nvPr/>
        </p:nvSpPr>
        <p:spPr>
          <a:xfrm>
            <a:off x="4472581" y="3584448"/>
            <a:ext cx="3356722" cy="1645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ko-KR" sz="1000" u="none" cap="none" strike="noStrike">
                <a:solidFill>
                  <a:srgbClr val="64748B"/>
                </a:solidFill>
                <a:latin typeface="Calibri"/>
                <a:ea typeface="Calibri"/>
                <a:cs typeface="Calibri"/>
                <a:sym typeface="Calibri"/>
              </a:rPr>
              <a:t>setStmtHook → Debugger 연결</a:t>
            </a:r>
            <a:endParaRPr b="0" i="0" sz="1400" u="none" cap="none" strike="noStrike">
              <a:solidFill>
                <a:srgbClr val="000000"/>
              </a:solidFill>
              <a:latin typeface="Arial"/>
              <a:ea typeface="Arial"/>
              <a:cs typeface="Arial"/>
              <a:sym typeface="Arial"/>
            </a:endParaRPr>
          </a:p>
        </p:txBody>
      </p:sp>
      <p:sp>
        <p:nvSpPr>
          <p:cNvPr id="540" name="Google Shape;540;g3ee94320d98_2_75"/>
          <p:cNvSpPr/>
          <p:nvPr/>
        </p:nvSpPr>
        <p:spPr>
          <a:xfrm>
            <a:off x="8140280" y="1335024"/>
            <a:ext cx="3722577" cy="4434840"/>
          </a:xfrm>
          <a:prstGeom prst="rect">
            <a:avLst/>
          </a:prstGeom>
          <a:solidFill>
            <a:srgbClr val="FFFFFF"/>
          </a:solidFill>
          <a:ln cap="flat" cmpd="sng" w="9525">
            <a:solidFill>
              <a:srgbClr val="CBD5E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41" name="Google Shape;541;g3ee94320d98_2_75"/>
          <p:cNvSpPr/>
          <p:nvPr/>
        </p:nvSpPr>
        <p:spPr>
          <a:xfrm>
            <a:off x="8140280" y="1335024"/>
            <a:ext cx="3722577" cy="566928"/>
          </a:xfrm>
          <a:prstGeom prst="rect">
            <a:avLst/>
          </a:prstGeom>
          <a:solidFill>
            <a:srgbClr val="0D948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42" name="Google Shape;542;g3ee94320d98_2_75"/>
          <p:cNvSpPr txBox="1"/>
          <p:nvPr/>
        </p:nvSpPr>
        <p:spPr>
          <a:xfrm>
            <a:off x="8250036" y="1389888"/>
            <a:ext cx="2762207" cy="2194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1" i="0" lang="ko-KR" sz="1300" u="none" cap="none" strike="noStrike">
                <a:solidFill>
                  <a:srgbClr val="FFFFFF"/>
                </a:solidFill>
                <a:latin typeface="Calibri"/>
                <a:ea typeface="Calibri"/>
                <a:cs typeface="Calibri"/>
                <a:sym typeface="Calibri"/>
              </a:rPr>
              <a:t>동작 패턴</a:t>
            </a:r>
            <a:endParaRPr b="0" i="0" sz="1400" u="none" cap="none" strike="noStrike">
              <a:solidFill>
                <a:srgbClr val="000000"/>
              </a:solidFill>
              <a:latin typeface="Arial"/>
              <a:ea typeface="Arial"/>
              <a:cs typeface="Arial"/>
              <a:sym typeface="Arial"/>
            </a:endParaRPr>
          </a:p>
        </p:txBody>
      </p:sp>
      <p:sp>
        <p:nvSpPr>
          <p:cNvPr id="543" name="Google Shape;543;g3ee94320d98_2_75"/>
          <p:cNvSpPr txBox="1"/>
          <p:nvPr/>
        </p:nvSpPr>
        <p:spPr>
          <a:xfrm>
            <a:off x="8250036" y="1609344"/>
            <a:ext cx="2762207" cy="20116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ko-KR" sz="1100" u="none" cap="none" strike="noStrike">
                <a:solidFill>
                  <a:srgbClr val="99F6E4"/>
                </a:solidFill>
                <a:latin typeface="Calibri"/>
                <a:ea typeface="Calibri"/>
                <a:cs typeface="Calibri"/>
                <a:sym typeface="Calibri"/>
              </a:rPr>
              <a:t>Behavioral</a:t>
            </a:r>
            <a:endParaRPr b="0" i="0" sz="1400" u="none" cap="none" strike="noStrike">
              <a:solidFill>
                <a:srgbClr val="000000"/>
              </a:solidFill>
              <a:latin typeface="Arial"/>
              <a:ea typeface="Arial"/>
              <a:cs typeface="Arial"/>
              <a:sym typeface="Arial"/>
            </a:endParaRPr>
          </a:p>
        </p:txBody>
      </p:sp>
      <p:sp>
        <p:nvSpPr>
          <p:cNvPr id="544" name="Google Shape;544;g3ee94320d98_2_75"/>
          <p:cNvSpPr/>
          <p:nvPr/>
        </p:nvSpPr>
        <p:spPr>
          <a:xfrm>
            <a:off x="10975658" y="1463040"/>
            <a:ext cx="768296" cy="292608"/>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45" name="Google Shape;545;g3ee94320d98_2_75"/>
          <p:cNvSpPr txBox="1"/>
          <p:nvPr/>
        </p:nvSpPr>
        <p:spPr>
          <a:xfrm>
            <a:off x="10975658" y="1463040"/>
            <a:ext cx="768296" cy="2308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1" i="0" lang="ko-KR" sz="900" u="none" cap="none" strike="noStrike">
                <a:solidFill>
                  <a:srgbClr val="0D9488"/>
                </a:solidFill>
                <a:latin typeface="Calibri"/>
                <a:ea typeface="Calibri"/>
                <a:cs typeface="Calibri"/>
                <a:sym typeface="Calibri"/>
              </a:rPr>
              <a:t>7종  21개소</a:t>
            </a:r>
            <a:endParaRPr b="0" i="0" sz="1400" u="none" cap="none" strike="noStrike">
              <a:solidFill>
                <a:srgbClr val="000000"/>
              </a:solidFill>
              <a:latin typeface="Arial"/>
              <a:ea typeface="Arial"/>
              <a:cs typeface="Arial"/>
              <a:sym typeface="Arial"/>
            </a:endParaRPr>
          </a:p>
        </p:txBody>
      </p:sp>
      <p:sp>
        <p:nvSpPr>
          <p:cNvPr id="546" name="Google Shape;546;g3ee94320d98_2_75"/>
          <p:cNvSpPr/>
          <p:nvPr/>
        </p:nvSpPr>
        <p:spPr>
          <a:xfrm>
            <a:off x="8140280" y="1956816"/>
            <a:ext cx="3722577" cy="457200"/>
          </a:xfrm>
          <a:prstGeom prst="rect">
            <a:avLst/>
          </a:prstGeom>
          <a:solidFill>
            <a:srgbClr val="F8FAFC"/>
          </a:solidFill>
          <a:ln cap="flat" cmpd="sng" w="9525">
            <a:solidFill>
              <a:srgbClr val="CBD5E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47" name="Google Shape;547;g3ee94320d98_2_75"/>
          <p:cNvSpPr/>
          <p:nvPr/>
        </p:nvSpPr>
        <p:spPr>
          <a:xfrm>
            <a:off x="8268329" y="2148840"/>
            <a:ext cx="73171" cy="73152"/>
          </a:xfrm>
          <a:prstGeom prst="rect">
            <a:avLst/>
          </a:prstGeom>
          <a:solidFill>
            <a:srgbClr val="0D948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48" name="Google Shape;548;g3ee94320d98_2_75"/>
          <p:cNvSpPr txBox="1"/>
          <p:nvPr/>
        </p:nvSpPr>
        <p:spPr>
          <a:xfrm>
            <a:off x="8414671" y="2002536"/>
            <a:ext cx="3356722" cy="2194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ko-KR" sz="1200" u="none" cap="none" strike="noStrike">
                <a:solidFill>
                  <a:srgbClr val="0F172A"/>
                </a:solidFill>
                <a:latin typeface="Calibri"/>
                <a:ea typeface="Calibri"/>
                <a:cs typeface="Calibri"/>
                <a:sym typeface="Calibri"/>
              </a:rPr>
              <a:t>Visitor</a:t>
            </a:r>
            <a:endParaRPr b="0" i="0" sz="1400" u="none" cap="none" strike="noStrike">
              <a:solidFill>
                <a:srgbClr val="000000"/>
              </a:solidFill>
              <a:latin typeface="Arial"/>
              <a:ea typeface="Arial"/>
              <a:cs typeface="Arial"/>
              <a:sym typeface="Arial"/>
            </a:endParaRPr>
          </a:p>
        </p:txBody>
      </p:sp>
      <p:sp>
        <p:nvSpPr>
          <p:cNvPr id="549" name="Google Shape;549;g3ee94320d98_2_75"/>
          <p:cNvSpPr txBox="1"/>
          <p:nvPr/>
        </p:nvSpPr>
        <p:spPr>
          <a:xfrm>
            <a:off x="8414671" y="2212848"/>
            <a:ext cx="3356722" cy="1645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ko-KR" sz="1000" u="none" cap="none" strike="noStrike">
                <a:solidFill>
                  <a:srgbClr val="64748B"/>
                </a:solidFill>
                <a:latin typeface="Calibri"/>
                <a:ea typeface="Calibri"/>
                <a:cs typeface="Calibri"/>
                <a:sym typeface="Calibri"/>
              </a:rPr>
              <a:t>ExprVisitor/Void/Stmt × 8구현</a:t>
            </a:r>
            <a:endParaRPr b="0" i="0" sz="1400" u="none" cap="none" strike="noStrike">
              <a:solidFill>
                <a:srgbClr val="000000"/>
              </a:solidFill>
              <a:latin typeface="Arial"/>
              <a:ea typeface="Arial"/>
              <a:cs typeface="Arial"/>
              <a:sym typeface="Arial"/>
            </a:endParaRPr>
          </a:p>
        </p:txBody>
      </p:sp>
      <p:sp>
        <p:nvSpPr>
          <p:cNvPr id="550" name="Google Shape;550;g3ee94320d98_2_75"/>
          <p:cNvSpPr/>
          <p:nvPr/>
        </p:nvSpPr>
        <p:spPr>
          <a:xfrm>
            <a:off x="8140280" y="2414016"/>
            <a:ext cx="3722577" cy="457200"/>
          </a:xfrm>
          <a:prstGeom prst="rect">
            <a:avLst/>
          </a:prstGeom>
          <a:solidFill>
            <a:srgbClr val="FFFFFF"/>
          </a:solidFill>
          <a:ln cap="flat" cmpd="sng" w="9525">
            <a:solidFill>
              <a:srgbClr val="CBD5E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51" name="Google Shape;551;g3ee94320d98_2_75"/>
          <p:cNvSpPr/>
          <p:nvPr/>
        </p:nvSpPr>
        <p:spPr>
          <a:xfrm>
            <a:off x="8268329" y="2606040"/>
            <a:ext cx="73171" cy="73152"/>
          </a:xfrm>
          <a:prstGeom prst="rect">
            <a:avLst/>
          </a:prstGeom>
          <a:solidFill>
            <a:srgbClr val="0D948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52" name="Google Shape;552;g3ee94320d98_2_75"/>
          <p:cNvSpPr txBox="1"/>
          <p:nvPr/>
        </p:nvSpPr>
        <p:spPr>
          <a:xfrm>
            <a:off x="8414671" y="2459736"/>
            <a:ext cx="3356722" cy="2194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ko-KR" sz="1200" u="none" cap="none" strike="noStrike">
                <a:solidFill>
                  <a:srgbClr val="0F172A"/>
                </a:solidFill>
                <a:latin typeface="Calibri"/>
                <a:ea typeface="Calibri"/>
                <a:cs typeface="Calibri"/>
                <a:sym typeface="Calibri"/>
              </a:rPr>
              <a:t>Strategy</a:t>
            </a:r>
            <a:endParaRPr b="0" i="0" sz="1400" u="none" cap="none" strike="noStrike">
              <a:solidFill>
                <a:srgbClr val="000000"/>
              </a:solidFill>
              <a:latin typeface="Arial"/>
              <a:ea typeface="Arial"/>
              <a:cs typeface="Arial"/>
              <a:sym typeface="Arial"/>
            </a:endParaRPr>
          </a:p>
        </p:txBody>
      </p:sp>
      <p:sp>
        <p:nvSpPr>
          <p:cNvPr id="553" name="Google Shape;553;g3ee94320d98_2_75"/>
          <p:cNvSpPr txBox="1"/>
          <p:nvPr/>
        </p:nvSpPr>
        <p:spPr>
          <a:xfrm>
            <a:off x="8414671" y="2670048"/>
            <a:ext cx="3356722" cy="1645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ko-KR" sz="1000" u="none" cap="none" strike="noStrike">
                <a:solidFill>
                  <a:srgbClr val="64748B"/>
                </a:solidFill>
                <a:latin typeface="Calibri"/>
                <a:ea typeface="Calibri"/>
                <a:cs typeface="Calibri"/>
                <a:sym typeface="Calibri"/>
              </a:rPr>
              <a:t>m_binaryOps · m_foldOps · m_stmtDispatch</a:t>
            </a:r>
            <a:endParaRPr b="0" i="0" sz="1400" u="none" cap="none" strike="noStrike">
              <a:solidFill>
                <a:srgbClr val="000000"/>
              </a:solidFill>
              <a:latin typeface="Arial"/>
              <a:ea typeface="Arial"/>
              <a:cs typeface="Arial"/>
              <a:sym typeface="Arial"/>
            </a:endParaRPr>
          </a:p>
        </p:txBody>
      </p:sp>
      <p:sp>
        <p:nvSpPr>
          <p:cNvPr id="554" name="Google Shape;554;g3ee94320d98_2_75"/>
          <p:cNvSpPr/>
          <p:nvPr/>
        </p:nvSpPr>
        <p:spPr>
          <a:xfrm>
            <a:off x="8140280" y="2871216"/>
            <a:ext cx="3722577" cy="457200"/>
          </a:xfrm>
          <a:prstGeom prst="rect">
            <a:avLst/>
          </a:prstGeom>
          <a:solidFill>
            <a:srgbClr val="F8FAFC"/>
          </a:solidFill>
          <a:ln cap="flat" cmpd="sng" w="9525">
            <a:solidFill>
              <a:srgbClr val="CBD5E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55" name="Google Shape;555;g3ee94320d98_2_75"/>
          <p:cNvSpPr/>
          <p:nvPr/>
        </p:nvSpPr>
        <p:spPr>
          <a:xfrm>
            <a:off x="8268329" y="3063240"/>
            <a:ext cx="73171" cy="73152"/>
          </a:xfrm>
          <a:prstGeom prst="rect">
            <a:avLst/>
          </a:prstGeom>
          <a:solidFill>
            <a:srgbClr val="0D948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56" name="Google Shape;556;g3ee94320d98_2_75"/>
          <p:cNvSpPr txBox="1"/>
          <p:nvPr/>
        </p:nvSpPr>
        <p:spPr>
          <a:xfrm>
            <a:off x="8414671" y="2916936"/>
            <a:ext cx="3356722" cy="2194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ko-KR" sz="1200" u="none" cap="none" strike="noStrike">
                <a:solidFill>
                  <a:srgbClr val="0F172A"/>
                </a:solidFill>
                <a:latin typeface="Calibri"/>
                <a:ea typeface="Calibri"/>
                <a:cs typeface="Calibri"/>
                <a:sym typeface="Calibri"/>
              </a:rPr>
              <a:t>Command</a:t>
            </a:r>
            <a:endParaRPr b="0" i="0" sz="1400" u="none" cap="none" strike="noStrike">
              <a:solidFill>
                <a:srgbClr val="000000"/>
              </a:solidFill>
              <a:latin typeface="Arial"/>
              <a:ea typeface="Arial"/>
              <a:cs typeface="Arial"/>
              <a:sym typeface="Arial"/>
            </a:endParaRPr>
          </a:p>
        </p:txBody>
      </p:sp>
      <p:sp>
        <p:nvSpPr>
          <p:cNvPr id="557" name="Google Shape;557;g3ee94320d98_2_75"/>
          <p:cNvSpPr txBox="1"/>
          <p:nvPr/>
        </p:nvSpPr>
        <p:spPr>
          <a:xfrm>
            <a:off x="8414671" y="3127248"/>
            <a:ext cx="3356722" cy="1645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ko-KR" sz="1000" u="none" cap="none" strike="noStrike">
                <a:solidFill>
                  <a:srgbClr val="64748B"/>
                </a:solidFill>
                <a:latin typeface="Calibri"/>
                <a:ea typeface="Calibri"/>
                <a:cs typeface="Calibri"/>
                <a:sym typeface="Calibri"/>
              </a:rPr>
              <a:t>ICallable → LangFunction · ArrayBuiltin</a:t>
            </a:r>
            <a:endParaRPr b="0" i="0" sz="1400" u="none" cap="none" strike="noStrike">
              <a:solidFill>
                <a:srgbClr val="000000"/>
              </a:solidFill>
              <a:latin typeface="Arial"/>
              <a:ea typeface="Arial"/>
              <a:cs typeface="Arial"/>
              <a:sym typeface="Arial"/>
            </a:endParaRPr>
          </a:p>
        </p:txBody>
      </p:sp>
      <p:sp>
        <p:nvSpPr>
          <p:cNvPr id="558" name="Google Shape;558;g3ee94320d98_2_75"/>
          <p:cNvSpPr/>
          <p:nvPr/>
        </p:nvSpPr>
        <p:spPr>
          <a:xfrm>
            <a:off x="8140280" y="3328416"/>
            <a:ext cx="3722577" cy="457200"/>
          </a:xfrm>
          <a:prstGeom prst="rect">
            <a:avLst/>
          </a:prstGeom>
          <a:solidFill>
            <a:srgbClr val="FFFFFF"/>
          </a:solidFill>
          <a:ln cap="flat" cmpd="sng" w="9525">
            <a:solidFill>
              <a:srgbClr val="CBD5E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59" name="Google Shape;559;g3ee94320d98_2_75"/>
          <p:cNvSpPr/>
          <p:nvPr/>
        </p:nvSpPr>
        <p:spPr>
          <a:xfrm>
            <a:off x="8268329" y="3520440"/>
            <a:ext cx="73171" cy="73152"/>
          </a:xfrm>
          <a:prstGeom prst="rect">
            <a:avLst/>
          </a:prstGeom>
          <a:solidFill>
            <a:srgbClr val="0D948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60" name="Google Shape;560;g3ee94320d98_2_75"/>
          <p:cNvSpPr txBox="1"/>
          <p:nvPr/>
        </p:nvSpPr>
        <p:spPr>
          <a:xfrm>
            <a:off x="8414671" y="3374136"/>
            <a:ext cx="3356722" cy="2194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ko-KR" sz="1200" u="none" cap="none" strike="noStrike">
                <a:solidFill>
                  <a:srgbClr val="0F172A"/>
                </a:solidFill>
                <a:latin typeface="Calibri"/>
                <a:ea typeface="Calibri"/>
                <a:cs typeface="Calibri"/>
                <a:sym typeface="Calibri"/>
              </a:rPr>
              <a:t>Chain of Responsibility</a:t>
            </a:r>
            <a:endParaRPr b="0" i="0" sz="1400" u="none" cap="none" strike="noStrike">
              <a:solidFill>
                <a:srgbClr val="000000"/>
              </a:solidFill>
              <a:latin typeface="Arial"/>
              <a:ea typeface="Arial"/>
              <a:cs typeface="Arial"/>
              <a:sym typeface="Arial"/>
            </a:endParaRPr>
          </a:p>
        </p:txBody>
      </p:sp>
      <p:sp>
        <p:nvSpPr>
          <p:cNvPr id="561" name="Google Shape;561;g3ee94320d98_2_75"/>
          <p:cNvSpPr txBox="1"/>
          <p:nvPr/>
        </p:nvSpPr>
        <p:spPr>
          <a:xfrm>
            <a:off x="8414671" y="3584448"/>
            <a:ext cx="3356722" cy="1645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ko-KR" sz="1000" u="none" cap="none" strike="noStrike">
                <a:solidFill>
                  <a:srgbClr val="64748B"/>
                </a:solidFill>
                <a:latin typeface="Calibri"/>
                <a:ea typeface="Calibri"/>
                <a:cs typeface="Calibri"/>
                <a:sym typeface="Calibri"/>
              </a:rPr>
              <a:t>Environment 스코프 체인</a:t>
            </a:r>
            <a:endParaRPr b="0" i="0" sz="1400" u="none" cap="none" strike="noStrike">
              <a:solidFill>
                <a:srgbClr val="000000"/>
              </a:solidFill>
              <a:latin typeface="Arial"/>
              <a:ea typeface="Arial"/>
              <a:cs typeface="Arial"/>
              <a:sym typeface="Arial"/>
            </a:endParaRPr>
          </a:p>
        </p:txBody>
      </p:sp>
      <p:sp>
        <p:nvSpPr>
          <p:cNvPr id="562" name="Google Shape;562;g3ee94320d98_2_75"/>
          <p:cNvSpPr/>
          <p:nvPr/>
        </p:nvSpPr>
        <p:spPr>
          <a:xfrm>
            <a:off x="8140280" y="3785616"/>
            <a:ext cx="3722577" cy="457200"/>
          </a:xfrm>
          <a:prstGeom prst="rect">
            <a:avLst/>
          </a:prstGeom>
          <a:solidFill>
            <a:srgbClr val="F8FAFC"/>
          </a:solidFill>
          <a:ln cap="flat" cmpd="sng" w="9525">
            <a:solidFill>
              <a:srgbClr val="CBD5E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63" name="Google Shape;563;g3ee94320d98_2_75"/>
          <p:cNvSpPr/>
          <p:nvPr/>
        </p:nvSpPr>
        <p:spPr>
          <a:xfrm>
            <a:off x="8268329" y="3977640"/>
            <a:ext cx="73171" cy="73152"/>
          </a:xfrm>
          <a:prstGeom prst="rect">
            <a:avLst/>
          </a:prstGeom>
          <a:solidFill>
            <a:srgbClr val="0D948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64" name="Google Shape;564;g3ee94320d98_2_75"/>
          <p:cNvSpPr txBox="1"/>
          <p:nvPr/>
        </p:nvSpPr>
        <p:spPr>
          <a:xfrm>
            <a:off x="8414671" y="3831336"/>
            <a:ext cx="3356722" cy="2194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ko-KR" sz="1200" u="none" cap="none" strike="noStrike">
                <a:solidFill>
                  <a:srgbClr val="0F172A"/>
                </a:solidFill>
                <a:latin typeface="Calibri"/>
                <a:ea typeface="Calibri"/>
                <a:cs typeface="Calibri"/>
                <a:sym typeface="Calibri"/>
              </a:rPr>
              <a:t>Template Method</a:t>
            </a:r>
            <a:endParaRPr b="0" i="0" sz="1400" u="none" cap="none" strike="noStrike">
              <a:solidFill>
                <a:srgbClr val="000000"/>
              </a:solidFill>
              <a:latin typeface="Arial"/>
              <a:ea typeface="Arial"/>
              <a:cs typeface="Arial"/>
              <a:sym typeface="Arial"/>
            </a:endParaRPr>
          </a:p>
        </p:txBody>
      </p:sp>
      <p:sp>
        <p:nvSpPr>
          <p:cNvPr id="565" name="Google Shape;565;g3ee94320d98_2_75"/>
          <p:cNvSpPr txBox="1"/>
          <p:nvPr/>
        </p:nvSpPr>
        <p:spPr>
          <a:xfrm>
            <a:off x="8414671" y="4041648"/>
            <a:ext cx="3356722" cy="1645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ko-KR" sz="1000" u="none" cap="none" strike="noStrike">
                <a:solidFill>
                  <a:srgbClr val="64748B"/>
                </a:solidFill>
                <a:latin typeface="Calibri"/>
                <a:ea typeface="Calibri"/>
                <a:cs typeface="Calibri"/>
                <a:sym typeface="Calibri"/>
              </a:rPr>
              <a:t>LangFactory::run() 파이프라인 골격</a:t>
            </a:r>
            <a:endParaRPr b="0" i="0" sz="1400" u="none" cap="none" strike="noStrike">
              <a:solidFill>
                <a:srgbClr val="000000"/>
              </a:solidFill>
              <a:latin typeface="Arial"/>
              <a:ea typeface="Arial"/>
              <a:cs typeface="Arial"/>
              <a:sym typeface="Arial"/>
            </a:endParaRPr>
          </a:p>
        </p:txBody>
      </p:sp>
      <p:sp>
        <p:nvSpPr>
          <p:cNvPr id="566" name="Google Shape;566;g3ee94320d98_2_75"/>
          <p:cNvSpPr/>
          <p:nvPr/>
        </p:nvSpPr>
        <p:spPr>
          <a:xfrm>
            <a:off x="8140280" y="4242816"/>
            <a:ext cx="3722577" cy="457200"/>
          </a:xfrm>
          <a:prstGeom prst="rect">
            <a:avLst/>
          </a:prstGeom>
          <a:solidFill>
            <a:srgbClr val="FFFFFF"/>
          </a:solidFill>
          <a:ln cap="flat" cmpd="sng" w="9525">
            <a:solidFill>
              <a:srgbClr val="CBD5E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67" name="Google Shape;567;g3ee94320d98_2_75"/>
          <p:cNvSpPr/>
          <p:nvPr/>
        </p:nvSpPr>
        <p:spPr>
          <a:xfrm>
            <a:off x="8268329" y="4434840"/>
            <a:ext cx="73171" cy="73152"/>
          </a:xfrm>
          <a:prstGeom prst="rect">
            <a:avLst/>
          </a:prstGeom>
          <a:solidFill>
            <a:srgbClr val="0D948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68" name="Google Shape;568;g3ee94320d98_2_75"/>
          <p:cNvSpPr txBox="1"/>
          <p:nvPr/>
        </p:nvSpPr>
        <p:spPr>
          <a:xfrm>
            <a:off x="8414671" y="4288536"/>
            <a:ext cx="3356722" cy="2194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ko-KR" sz="1200" u="none" cap="none" strike="noStrike">
                <a:solidFill>
                  <a:srgbClr val="0F172A"/>
                </a:solidFill>
                <a:latin typeface="Calibri"/>
                <a:ea typeface="Calibri"/>
                <a:cs typeface="Calibri"/>
                <a:sym typeface="Calibri"/>
              </a:rPr>
              <a:t>Observer</a:t>
            </a:r>
            <a:endParaRPr b="0" i="0" sz="1400" u="none" cap="none" strike="noStrike">
              <a:solidFill>
                <a:srgbClr val="000000"/>
              </a:solidFill>
              <a:latin typeface="Arial"/>
              <a:ea typeface="Arial"/>
              <a:cs typeface="Arial"/>
              <a:sym typeface="Arial"/>
            </a:endParaRPr>
          </a:p>
        </p:txBody>
      </p:sp>
      <p:sp>
        <p:nvSpPr>
          <p:cNvPr id="569" name="Google Shape;569;g3ee94320d98_2_75"/>
          <p:cNvSpPr txBox="1"/>
          <p:nvPr/>
        </p:nvSpPr>
        <p:spPr>
          <a:xfrm>
            <a:off x="8414671" y="4498848"/>
            <a:ext cx="3356722" cy="1645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ko-KR" sz="1000" u="none" cap="none" strike="noStrike">
                <a:solidFill>
                  <a:srgbClr val="64748B"/>
                </a:solidFill>
                <a:latin typeface="Calibri"/>
                <a:ea typeface="Calibri"/>
                <a:cs typeface="Calibri"/>
                <a:sym typeface="Calibri"/>
              </a:rPr>
              <a:t>StmtHook (Interpreter ↔ Debugger)</a:t>
            </a:r>
            <a:endParaRPr b="0" i="0" sz="1400" u="none" cap="none" strike="noStrike">
              <a:solidFill>
                <a:srgbClr val="000000"/>
              </a:solidFill>
              <a:latin typeface="Arial"/>
              <a:ea typeface="Arial"/>
              <a:cs typeface="Arial"/>
              <a:sym typeface="Arial"/>
            </a:endParaRPr>
          </a:p>
        </p:txBody>
      </p:sp>
      <p:sp>
        <p:nvSpPr>
          <p:cNvPr id="570" name="Google Shape;570;g3ee94320d98_2_75"/>
          <p:cNvSpPr/>
          <p:nvPr/>
        </p:nvSpPr>
        <p:spPr>
          <a:xfrm>
            <a:off x="8140280" y="4700016"/>
            <a:ext cx="3722577" cy="457200"/>
          </a:xfrm>
          <a:prstGeom prst="rect">
            <a:avLst/>
          </a:prstGeom>
          <a:solidFill>
            <a:srgbClr val="F8FAFC"/>
          </a:solidFill>
          <a:ln cap="flat" cmpd="sng" w="9525">
            <a:solidFill>
              <a:srgbClr val="CBD5E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71" name="Google Shape;571;g3ee94320d98_2_75"/>
          <p:cNvSpPr/>
          <p:nvPr/>
        </p:nvSpPr>
        <p:spPr>
          <a:xfrm>
            <a:off x="8268329" y="4892040"/>
            <a:ext cx="73171" cy="73152"/>
          </a:xfrm>
          <a:prstGeom prst="rect">
            <a:avLst/>
          </a:prstGeom>
          <a:solidFill>
            <a:srgbClr val="0D948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72" name="Google Shape;572;g3ee94320d98_2_75"/>
          <p:cNvSpPr txBox="1"/>
          <p:nvPr/>
        </p:nvSpPr>
        <p:spPr>
          <a:xfrm>
            <a:off x="8414671" y="4745736"/>
            <a:ext cx="3356722" cy="2194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ko-KR" sz="1200" u="none" cap="none" strike="noStrike">
                <a:solidFill>
                  <a:srgbClr val="0F172A"/>
                </a:solidFill>
                <a:latin typeface="Calibri"/>
                <a:ea typeface="Calibri"/>
                <a:cs typeface="Calibri"/>
                <a:sym typeface="Calibri"/>
              </a:rPr>
              <a:t>Special Case</a:t>
            </a:r>
            <a:endParaRPr b="0" i="0" sz="1400" u="none" cap="none" strike="noStrike">
              <a:solidFill>
                <a:srgbClr val="000000"/>
              </a:solidFill>
              <a:latin typeface="Arial"/>
              <a:ea typeface="Arial"/>
              <a:cs typeface="Arial"/>
              <a:sym typeface="Arial"/>
            </a:endParaRPr>
          </a:p>
        </p:txBody>
      </p:sp>
      <p:sp>
        <p:nvSpPr>
          <p:cNvPr id="573" name="Google Shape;573;g3ee94320d98_2_75"/>
          <p:cNvSpPr txBox="1"/>
          <p:nvPr/>
        </p:nvSpPr>
        <p:spPr>
          <a:xfrm>
            <a:off x="8414671" y="4956048"/>
            <a:ext cx="3356722" cy="1645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ko-KR" sz="1000" u="none" cap="none" strike="noStrike">
                <a:solidFill>
                  <a:srgbClr val="64748B"/>
                </a:solidFill>
                <a:latin typeface="Calibri"/>
                <a:ea typeface="Calibri"/>
                <a:cs typeface="Calibri"/>
                <a:sym typeface="Calibri"/>
              </a:rPr>
              <a:t>ReturnSignal · DebugSessionExit</a:t>
            </a:r>
            <a:endParaRPr b="0" i="0" sz="1400" u="none" cap="none" strike="noStrike">
              <a:solidFill>
                <a:srgbClr val="000000"/>
              </a:solidFill>
              <a:latin typeface="Arial"/>
              <a:ea typeface="Arial"/>
              <a:cs typeface="Arial"/>
              <a:sym typeface="Arial"/>
            </a:endParaRPr>
          </a:p>
        </p:txBody>
      </p:sp>
      <p:sp>
        <p:nvSpPr>
          <p:cNvPr id="574" name="Google Shape;574;g3ee94320d98_2_75"/>
          <p:cNvSpPr/>
          <p:nvPr/>
        </p:nvSpPr>
        <p:spPr>
          <a:xfrm>
            <a:off x="493905" y="5888736"/>
            <a:ext cx="11204318" cy="50292"/>
          </a:xfrm>
          <a:prstGeom prst="rect">
            <a:avLst/>
          </a:prstGeom>
          <a:solidFill>
            <a:srgbClr val="E2E8F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75" name="Google Shape;575;g3ee94320d98_2_75"/>
          <p:cNvSpPr txBox="1"/>
          <p:nvPr/>
        </p:nvSpPr>
        <p:spPr>
          <a:xfrm>
            <a:off x="274391" y="6007608"/>
            <a:ext cx="2195132" cy="38404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200"/>
              <a:buFont typeface="Arial"/>
              <a:buNone/>
            </a:pPr>
            <a:r>
              <a:rPr b="1" i="0" lang="ko-KR" sz="2200" u="none" cap="none" strike="noStrike">
                <a:solidFill>
                  <a:srgbClr val="0F172A"/>
                </a:solidFill>
                <a:latin typeface="Calibri"/>
                <a:ea typeface="Calibri"/>
                <a:cs typeface="Calibri"/>
                <a:sym typeface="Calibri"/>
              </a:rPr>
              <a:t>13 종</a:t>
            </a:r>
            <a:endParaRPr b="0" i="0" sz="1400" u="none" cap="none" strike="noStrike">
              <a:solidFill>
                <a:srgbClr val="000000"/>
              </a:solidFill>
              <a:latin typeface="Arial"/>
              <a:ea typeface="Arial"/>
              <a:cs typeface="Arial"/>
              <a:sym typeface="Arial"/>
            </a:endParaRPr>
          </a:p>
        </p:txBody>
      </p:sp>
      <p:sp>
        <p:nvSpPr>
          <p:cNvPr id="576" name="Google Shape;576;g3ee94320d98_2_75"/>
          <p:cNvSpPr txBox="1"/>
          <p:nvPr/>
        </p:nvSpPr>
        <p:spPr>
          <a:xfrm>
            <a:off x="274391" y="6400800"/>
            <a:ext cx="2195132" cy="23774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ko-KR" sz="1100" u="none" cap="none" strike="noStrike">
                <a:solidFill>
                  <a:srgbClr val="64748B"/>
                </a:solidFill>
                <a:latin typeface="Calibri"/>
                <a:ea typeface="Calibri"/>
                <a:cs typeface="Calibri"/>
                <a:sym typeface="Calibri"/>
              </a:rPr>
              <a:t>적용 패턴</a:t>
            </a:r>
            <a:endParaRPr b="0" i="0" sz="1400" u="none" cap="none" strike="noStrike">
              <a:solidFill>
                <a:srgbClr val="000000"/>
              </a:solidFill>
              <a:latin typeface="Arial"/>
              <a:ea typeface="Arial"/>
              <a:cs typeface="Arial"/>
              <a:sym typeface="Arial"/>
            </a:endParaRPr>
          </a:p>
        </p:txBody>
      </p:sp>
      <p:sp>
        <p:nvSpPr>
          <p:cNvPr id="577" name="Google Shape;577;g3ee94320d98_2_75"/>
          <p:cNvSpPr txBox="1"/>
          <p:nvPr/>
        </p:nvSpPr>
        <p:spPr>
          <a:xfrm>
            <a:off x="2524401" y="6007608"/>
            <a:ext cx="2195132" cy="4308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200"/>
              <a:buFont typeface="Arial"/>
              <a:buNone/>
            </a:pPr>
            <a:r>
              <a:rPr b="1" i="0" lang="ko-KR" sz="2200" u="none" cap="none" strike="noStrike">
                <a:solidFill>
                  <a:srgbClr val="0F172A"/>
                </a:solidFill>
                <a:latin typeface="Calibri"/>
                <a:ea typeface="Calibri"/>
                <a:cs typeface="Calibri"/>
                <a:sym typeface="Calibri"/>
              </a:rPr>
              <a:t>35 개소</a:t>
            </a:r>
            <a:endParaRPr b="1" i="0" sz="2200" u="none" cap="none" strike="noStrike">
              <a:solidFill>
                <a:srgbClr val="0F172A"/>
              </a:solidFill>
              <a:latin typeface="Calibri"/>
              <a:ea typeface="Calibri"/>
              <a:cs typeface="Calibri"/>
              <a:sym typeface="Calibri"/>
            </a:endParaRPr>
          </a:p>
        </p:txBody>
      </p:sp>
      <p:sp>
        <p:nvSpPr>
          <p:cNvPr id="578" name="Google Shape;578;g3ee94320d98_2_75"/>
          <p:cNvSpPr txBox="1"/>
          <p:nvPr/>
        </p:nvSpPr>
        <p:spPr>
          <a:xfrm>
            <a:off x="2524401" y="6400800"/>
            <a:ext cx="2195132" cy="23774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ko-KR" sz="1100" u="none" cap="none" strike="noStrike">
                <a:solidFill>
                  <a:srgbClr val="64748B"/>
                </a:solidFill>
                <a:latin typeface="Calibri"/>
                <a:ea typeface="Calibri"/>
                <a:cs typeface="Calibri"/>
                <a:sym typeface="Calibri"/>
              </a:rPr>
              <a:t>적용 위치</a:t>
            </a:r>
            <a:endParaRPr b="0" i="0" sz="1400" u="none" cap="none" strike="noStrike">
              <a:solidFill>
                <a:srgbClr val="000000"/>
              </a:solidFill>
              <a:latin typeface="Arial"/>
              <a:ea typeface="Arial"/>
              <a:cs typeface="Arial"/>
              <a:sym typeface="Arial"/>
            </a:endParaRPr>
          </a:p>
        </p:txBody>
      </p:sp>
      <p:sp>
        <p:nvSpPr>
          <p:cNvPr id="579" name="Google Shape;579;g3ee94320d98_2_75"/>
          <p:cNvSpPr txBox="1"/>
          <p:nvPr/>
        </p:nvSpPr>
        <p:spPr>
          <a:xfrm>
            <a:off x="4774411" y="6007608"/>
            <a:ext cx="2195132" cy="38404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200"/>
              <a:buFont typeface="Arial"/>
              <a:buNone/>
            </a:pPr>
            <a:r>
              <a:rPr b="1" i="0" lang="ko-KR" sz="2200" u="none" cap="none" strike="noStrike">
                <a:solidFill>
                  <a:srgbClr val="0F172A"/>
                </a:solidFill>
                <a:latin typeface="Calibri"/>
                <a:ea typeface="Calibri"/>
                <a:cs typeface="Calibri"/>
                <a:sym typeface="Calibri"/>
              </a:rPr>
              <a:t>139 TC</a:t>
            </a:r>
            <a:endParaRPr b="0" i="0" sz="1400" u="none" cap="none" strike="noStrike">
              <a:solidFill>
                <a:srgbClr val="000000"/>
              </a:solidFill>
              <a:latin typeface="Arial"/>
              <a:ea typeface="Arial"/>
              <a:cs typeface="Arial"/>
              <a:sym typeface="Arial"/>
            </a:endParaRPr>
          </a:p>
        </p:txBody>
      </p:sp>
      <p:sp>
        <p:nvSpPr>
          <p:cNvPr id="580" name="Google Shape;580;g3ee94320d98_2_75"/>
          <p:cNvSpPr txBox="1"/>
          <p:nvPr/>
        </p:nvSpPr>
        <p:spPr>
          <a:xfrm>
            <a:off x="4774411" y="6400800"/>
            <a:ext cx="2195132" cy="23774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ko-KR" sz="1100" u="none" cap="none" strike="noStrike">
                <a:solidFill>
                  <a:srgbClr val="64748B"/>
                </a:solidFill>
                <a:latin typeface="Calibri"/>
                <a:ea typeface="Calibri"/>
                <a:cs typeface="Calibri"/>
                <a:sym typeface="Calibri"/>
              </a:rPr>
              <a:t>테스트 케이스</a:t>
            </a:r>
            <a:endParaRPr b="0" i="0" sz="1400" u="none" cap="none" strike="noStrike">
              <a:solidFill>
                <a:srgbClr val="000000"/>
              </a:solidFill>
              <a:latin typeface="Arial"/>
              <a:ea typeface="Arial"/>
              <a:cs typeface="Arial"/>
              <a:sym typeface="Arial"/>
            </a:endParaRPr>
          </a:p>
        </p:txBody>
      </p:sp>
      <p:sp>
        <p:nvSpPr>
          <p:cNvPr id="581" name="Google Shape;581;g3ee94320d98_2_75"/>
          <p:cNvSpPr txBox="1"/>
          <p:nvPr/>
        </p:nvSpPr>
        <p:spPr>
          <a:xfrm>
            <a:off x="7024421" y="6007608"/>
            <a:ext cx="2195132" cy="38404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200"/>
              <a:buFont typeface="Arial"/>
              <a:buNone/>
            </a:pPr>
            <a:r>
              <a:rPr b="1" i="0" lang="ko-KR" sz="2200" u="none" cap="none" strike="noStrike">
                <a:solidFill>
                  <a:srgbClr val="0F172A"/>
                </a:solidFill>
                <a:latin typeface="Calibri"/>
                <a:ea typeface="Calibri"/>
                <a:cs typeface="Calibri"/>
                <a:sym typeface="Calibri"/>
              </a:rPr>
              <a:t>O(1)</a:t>
            </a:r>
            <a:endParaRPr b="0" i="0" sz="1400" u="none" cap="none" strike="noStrike">
              <a:solidFill>
                <a:srgbClr val="000000"/>
              </a:solidFill>
              <a:latin typeface="Arial"/>
              <a:ea typeface="Arial"/>
              <a:cs typeface="Arial"/>
              <a:sym typeface="Arial"/>
            </a:endParaRPr>
          </a:p>
        </p:txBody>
      </p:sp>
      <p:sp>
        <p:nvSpPr>
          <p:cNvPr id="582" name="Google Shape;582;g3ee94320d98_2_75"/>
          <p:cNvSpPr txBox="1"/>
          <p:nvPr/>
        </p:nvSpPr>
        <p:spPr>
          <a:xfrm>
            <a:off x="7024421" y="6400800"/>
            <a:ext cx="2195132" cy="23774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ko-KR" sz="1100" u="none" cap="none" strike="noStrike">
                <a:solidFill>
                  <a:srgbClr val="64748B"/>
                </a:solidFill>
                <a:latin typeface="Calibri"/>
                <a:ea typeface="Calibri"/>
                <a:cs typeface="Calibri"/>
                <a:sym typeface="Calibri"/>
              </a:rPr>
              <a:t>변수 조회</a:t>
            </a:r>
            <a:endParaRPr b="0" i="0" sz="1400" u="none" cap="none" strike="noStrike">
              <a:solidFill>
                <a:srgbClr val="000000"/>
              </a:solidFill>
              <a:latin typeface="Arial"/>
              <a:ea typeface="Arial"/>
              <a:cs typeface="Arial"/>
              <a:sym typeface="Arial"/>
            </a:endParaRPr>
          </a:p>
        </p:txBody>
      </p:sp>
      <p:sp>
        <p:nvSpPr>
          <p:cNvPr id="583" name="Google Shape;583;g3ee94320d98_2_75"/>
          <p:cNvSpPr txBox="1"/>
          <p:nvPr/>
        </p:nvSpPr>
        <p:spPr>
          <a:xfrm>
            <a:off x="9274431" y="6007608"/>
            <a:ext cx="2195132" cy="38404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200"/>
              <a:buFont typeface="Arial"/>
              <a:buNone/>
            </a:pPr>
            <a:r>
              <a:rPr b="1" i="0" lang="ko-KR" sz="2200" u="none" cap="none" strike="noStrike">
                <a:solidFill>
                  <a:srgbClr val="0F172A"/>
                </a:solidFill>
                <a:latin typeface="Calibri"/>
                <a:ea typeface="Calibri"/>
                <a:cs typeface="Calibri"/>
                <a:sym typeface="Calibri"/>
              </a:rPr>
              <a:t>6 개</a:t>
            </a:r>
            <a:endParaRPr b="0" i="0" sz="1400" u="none" cap="none" strike="noStrike">
              <a:solidFill>
                <a:srgbClr val="000000"/>
              </a:solidFill>
              <a:latin typeface="Arial"/>
              <a:ea typeface="Arial"/>
              <a:cs typeface="Arial"/>
              <a:sym typeface="Arial"/>
            </a:endParaRPr>
          </a:p>
        </p:txBody>
      </p:sp>
      <p:sp>
        <p:nvSpPr>
          <p:cNvPr id="584" name="Google Shape;584;g3ee94320d98_2_75"/>
          <p:cNvSpPr txBox="1"/>
          <p:nvPr/>
        </p:nvSpPr>
        <p:spPr>
          <a:xfrm>
            <a:off x="9274431" y="6400800"/>
            <a:ext cx="2195132" cy="23774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ko-KR" sz="1100" u="none" cap="none" strike="noStrike">
                <a:solidFill>
                  <a:srgbClr val="64748B"/>
                </a:solidFill>
                <a:latin typeface="Calibri"/>
                <a:ea typeface="Calibri"/>
                <a:cs typeface="Calibri"/>
                <a:sym typeface="Calibri"/>
              </a:rPr>
              <a:t>인터페이스</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g3ee94320d98_2_163"/>
          <p:cNvSpPr txBox="1"/>
          <p:nvPr/>
        </p:nvSpPr>
        <p:spPr>
          <a:xfrm>
            <a:off x="493905" y="256032"/>
            <a:ext cx="8414671" cy="5943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ko-KR" sz="2800" u="none" cap="none" strike="noStrike">
                <a:solidFill>
                  <a:srgbClr val="0F172A"/>
                </a:solidFill>
                <a:latin typeface="Calibri"/>
                <a:ea typeface="Calibri"/>
                <a:cs typeface="Calibri"/>
                <a:sym typeface="Calibri"/>
              </a:rPr>
              <a:t>BP 01.  생성 패턴: Dependency Injection</a:t>
            </a:r>
            <a:endParaRPr b="0" i="0" sz="1400" u="none" cap="none" strike="noStrike">
              <a:solidFill>
                <a:srgbClr val="000000"/>
              </a:solidFill>
              <a:latin typeface="Arial"/>
              <a:ea typeface="Arial"/>
              <a:cs typeface="Arial"/>
              <a:sym typeface="Arial"/>
            </a:endParaRPr>
          </a:p>
        </p:txBody>
      </p:sp>
      <p:sp>
        <p:nvSpPr>
          <p:cNvPr id="590" name="Google Shape;590;g3ee94320d98_2_163"/>
          <p:cNvSpPr/>
          <p:nvPr/>
        </p:nvSpPr>
        <p:spPr>
          <a:xfrm>
            <a:off x="493905" y="886968"/>
            <a:ext cx="11204318" cy="50292"/>
          </a:xfrm>
          <a:prstGeom prst="rect">
            <a:avLst/>
          </a:prstGeom>
          <a:solidFill>
            <a:srgbClr val="E2E8F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91" name="Google Shape;591;g3ee94320d98_2_163"/>
          <p:cNvSpPr txBox="1"/>
          <p:nvPr/>
        </p:nvSpPr>
        <p:spPr>
          <a:xfrm>
            <a:off x="493905" y="978408"/>
            <a:ext cx="7865888"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0" i="0" lang="ko-KR" sz="1300" u="none" cap="none" strike="noStrike">
                <a:solidFill>
                  <a:srgbClr val="64748B"/>
                </a:solidFill>
                <a:latin typeface="Calibri"/>
                <a:ea typeface="Calibri"/>
                <a:cs typeface="Calibri"/>
                <a:sym typeface="Calibri"/>
              </a:rPr>
              <a:t>LangFactory — 인터페이스 주입을 통한 결합도 제거 및 팀별 독립 테스트 환경 구축</a:t>
            </a:r>
            <a:endParaRPr b="0" i="0" sz="1400" u="none" cap="none" strike="noStrike">
              <a:solidFill>
                <a:srgbClr val="000000"/>
              </a:solidFill>
              <a:latin typeface="Arial"/>
              <a:ea typeface="Arial"/>
              <a:cs typeface="Arial"/>
              <a:sym typeface="Arial"/>
            </a:endParaRPr>
          </a:p>
        </p:txBody>
      </p:sp>
      <p:sp>
        <p:nvSpPr>
          <p:cNvPr id="592" name="Google Shape;592;g3ee94320d98_2_163"/>
          <p:cNvSpPr/>
          <p:nvPr/>
        </p:nvSpPr>
        <p:spPr>
          <a:xfrm>
            <a:off x="8807966" y="566928"/>
            <a:ext cx="3018306" cy="329184"/>
          </a:xfrm>
          <a:prstGeom prst="rect">
            <a:avLst/>
          </a:prstGeom>
          <a:solidFill>
            <a:srgbClr val="1E293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93" name="Google Shape;593;g3ee94320d98_2_163"/>
          <p:cNvSpPr txBox="1"/>
          <p:nvPr/>
        </p:nvSpPr>
        <p:spPr>
          <a:xfrm>
            <a:off x="8807966" y="566928"/>
            <a:ext cx="3018306" cy="2616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ko-KR" sz="1100" u="none" cap="none" strike="noStrike">
                <a:solidFill>
                  <a:srgbClr val="FFFFFF"/>
                </a:solidFill>
                <a:latin typeface="Calibri"/>
                <a:ea typeface="Calibri"/>
                <a:cs typeface="Calibri"/>
                <a:sym typeface="Calibri"/>
              </a:rPr>
              <a:t>☆  핵심 SOLID 원칙: DIP (의존 역전 원칙)</a:t>
            </a:r>
            <a:endParaRPr b="0" i="0" sz="1400" u="none" cap="none" strike="noStrike">
              <a:solidFill>
                <a:srgbClr val="000000"/>
              </a:solidFill>
              <a:latin typeface="Arial"/>
              <a:ea typeface="Arial"/>
              <a:cs typeface="Arial"/>
              <a:sym typeface="Arial"/>
            </a:endParaRPr>
          </a:p>
        </p:txBody>
      </p:sp>
      <p:sp>
        <p:nvSpPr>
          <p:cNvPr id="594" name="Google Shape;594;g3ee94320d98_2_163"/>
          <p:cNvSpPr/>
          <p:nvPr/>
        </p:nvSpPr>
        <p:spPr>
          <a:xfrm>
            <a:off x="365855" y="1325880"/>
            <a:ext cx="5579293" cy="420624"/>
          </a:xfrm>
          <a:prstGeom prst="rect">
            <a:avLst/>
          </a:prstGeom>
          <a:solidFill>
            <a:srgbClr val="DC262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95" name="Google Shape;595;g3ee94320d98_2_163"/>
          <p:cNvSpPr txBox="1"/>
          <p:nvPr/>
        </p:nvSpPr>
        <p:spPr>
          <a:xfrm>
            <a:off x="530490" y="1380744"/>
            <a:ext cx="5378073" cy="3291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1" i="0" lang="ko-KR" sz="1300" u="none" cap="none" strike="noStrike">
                <a:solidFill>
                  <a:srgbClr val="FFFFFF"/>
                </a:solidFill>
                <a:latin typeface="Calibri"/>
                <a:ea typeface="Calibri"/>
                <a:cs typeface="Calibri"/>
                <a:sym typeface="Calibri"/>
              </a:rPr>
              <a:t>✕  As-Is: 구체 클래스 직접 생성 (강결합)</a:t>
            </a:r>
            <a:endParaRPr b="0" i="0" sz="1400" u="none" cap="none" strike="noStrike">
              <a:solidFill>
                <a:srgbClr val="000000"/>
              </a:solidFill>
              <a:latin typeface="Arial"/>
              <a:ea typeface="Arial"/>
              <a:cs typeface="Arial"/>
              <a:sym typeface="Arial"/>
            </a:endParaRPr>
          </a:p>
        </p:txBody>
      </p:sp>
      <p:sp>
        <p:nvSpPr>
          <p:cNvPr id="596" name="Google Shape;596;g3ee94320d98_2_163"/>
          <p:cNvSpPr/>
          <p:nvPr/>
        </p:nvSpPr>
        <p:spPr>
          <a:xfrm>
            <a:off x="365855" y="1746504"/>
            <a:ext cx="5579293" cy="2880360"/>
          </a:xfrm>
          <a:prstGeom prst="rect">
            <a:avLst/>
          </a:prstGeom>
          <a:solidFill>
            <a:srgbClr val="1E293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97" name="Google Shape;597;g3ee94320d98_2_163"/>
          <p:cNvSpPr txBox="1"/>
          <p:nvPr/>
        </p:nvSpPr>
        <p:spPr>
          <a:xfrm>
            <a:off x="530490" y="1874520"/>
            <a:ext cx="5304901" cy="26791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50"/>
              <a:buFont typeface="Arial"/>
              <a:buNone/>
            </a:pPr>
            <a:r>
              <a:rPr b="0" i="0" lang="ko-KR" sz="950" u="none" cap="none" strike="noStrike">
                <a:solidFill>
                  <a:srgbClr val="64748B"/>
                </a:solidFill>
                <a:latin typeface="Calibri"/>
                <a:ea typeface="Calibri"/>
                <a:cs typeface="Calibri"/>
                <a:sym typeface="Calibri"/>
              </a:rPr>
              <a:t>// LangFactory.h — 구체 클래스 직접 보유</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7DD3FC"/>
                </a:solidFill>
                <a:latin typeface="Calibri"/>
                <a:ea typeface="Calibri"/>
                <a:cs typeface="Calibri"/>
                <a:sym typeface="Calibri"/>
              </a:rPr>
              <a:t>class LangFactory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    Lexer       m_lexer;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    Parser      m_parser;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    Checker     m_checker;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    Interpreter m_interpreter;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t/>
            </a:r>
            <a:endParaRPr b="0" i="0" sz="950" u="none" cap="none" strike="noStrike">
              <a:solidFill>
                <a:srgbClr val="CBD5E1"/>
              </a:solidFill>
              <a:latin typeface="Calibri"/>
              <a:ea typeface="Calibri"/>
              <a:cs typeface="Calibri"/>
              <a:sym typeface="Calibri"/>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64748B"/>
                </a:solidFill>
                <a:latin typeface="Calibri"/>
                <a:ea typeface="Calibri"/>
                <a:cs typeface="Calibri"/>
                <a:sym typeface="Calibri"/>
              </a:rPr>
              <a:t>// 테스트 코드 — 격리 불가</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TEST(CheckerMock, DuplicateVar)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    LangFactory factory;  // 실제 Lexer·Parser 전부 구동</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    EXPECT_THROW(factory.run(...), CheckError);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598" name="Google Shape;598;g3ee94320d98_2_163"/>
          <p:cNvSpPr txBox="1"/>
          <p:nvPr/>
        </p:nvSpPr>
        <p:spPr>
          <a:xfrm>
            <a:off x="439026" y="4663440"/>
            <a:ext cx="5469536"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ko-KR" sz="1000" u="none" cap="none" strike="noStrike">
                <a:solidFill>
                  <a:srgbClr val="B45C09"/>
                </a:solidFill>
                <a:latin typeface="Calibri"/>
                <a:ea typeface="Calibri"/>
                <a:cs typeface="Calibri"/>
                <a:sym typeface="Calibri"/>
              </a:rPr>
              <a:t>⚠ 팀원 코드 변경 시 LangFactory 재컴파일 강제, 단위 격리 불가</a:t>
            </a:r>
            <a:endParaRPr b="0" i="0" sz="1400" u="none" cap="none" strike="noStrike">
              <a:solidFill>
                <a:srgbClr val="000000"/>
              </a:solidFill>
              <a:latin typeface="Arial"/>
              <a:ea typeface="Arial"/>
              <a:cs typeface="Arial"/>
              <a:sym typeface="Arial"/>
            </a:endParaRPr>
          </a:p>
        </p:txBody>
      </p:sp>
      <p:sp>
        <p:nvSpPr>
          <p:cNvPr id="599" name="Google Shape;599;g3ee94320d98_2_163"/>
          <p:cNvSpPr/>
          <p:nvPr/>
        </p:nvSpPr>
        <p:spPr>
          <a:xfrm>
            <a:off x="6155515" y="1325880"/>
            <a:ext cx="5579293" cy="420624"/>
          </a:xfrm>
          <a:prstGeom prst="rect">
            <a:avLst/>
          </a:prstGeom>
          <a:solidFill>
            <a:srgbClr val="16A3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00" name="Google Shape;600;g3ee94320d98_2_163"/>
          <p:cNvSpPr txBox="1"/>
          <p:nvPr/>
        </p:nvSpPr>
        <p:spPr>
          <a:xfrm>
            <a:off x="6320150" y="1380744"/>
            <a:ext cx="5378073" cy="3291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1" i="0" lang="ko-KR" sz="1300" u="none" cap="none" strike="noStrike">
                <a:solidFill>
                  <a:srgbClr val="FFFFFF"/>
                </a:solidFill>
                <a:latin typeface="Calibri"/>
                <a:ea typeface="Calibri"/>
                <a:cs typeface="Calibri"/>
                <a:sym typeface="Calibri"/>
              </a:rPr>
              <a:t>✓  To-Be: Interface + Dependency Injection</a:t>
            </a:r>
            <a:endParaRPr b="0" i="0" sz="1400" u="none" cap="none" strike="noStrike">
              <a:solidFill>
                <a:srgbClr val="000000"/>
              </a:solidFill>
              <a:latin typeface="Arial"/>
              <a:ea typeface="Arial"/>
              <a:cs typeface="Arial"/>
              <a:sym typeface="Arial"/>
            </a:endParaRPr>
          </a:p>
        </p:txBody>
      </p:sp>
      <p:sp>
        <p:nvSpPr>
          <p:cNvPr id="601" name="Google Shape;601;g3ee94320d98_2_163"/>
          <p:cNvSpPr/>
          <p:nvPr/>
        </p:nvSpPr>
        <p:spPr>
          <a:xfrm>
            <a:off x="6155515" y="1746504"/>
            <a:ext cx="5579293" cy="2880360"/>
          </a:xfrm>
          <a:prstGeom prst="rect">
            <a:avLst/>
          </a:prstGeom>
          <a:solidFill>
            <a:srgbClr val="1E293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02" name="Google Shape;602;g3ee94320d98_2_163"/>
          <p:cNvSpPr txBox="1"/>
          <p:nvPr/>
        </p:nvSpPr>
        <p:spPr>
          <a:xfrm>
            <a:off x="6320150" y="1874520"/>
            <a:ext cx="5304901" cy="26791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50"/>
              <a:buFont typeface="Arial"/>
              <a:buNone/>
            </a:pPr>
            <a:r>
              <a:rPr b="0" i="0" lang="ko-KR" sz="950" u="none" cap="none" strike="noStrike">
                <a:solidFill>
                  <a:srgbClr val="64748B"/>
                </a:solidFill>
                <a:latin typeface="Calibri"/>
                <a:ea typeface="Calibri"/>
                <a:cs typeface="Calibri"/>
                <a:sym typeface="Calibri"/>
              </a:rPr>
              <a:t>// LangFactory.h — 인터페이스에만 의존</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7DD3FC"/>
                </a:solidFill>
                <a:latin typeface="Calibri"/>
                <a:ea typeface="Calibri"/>
                <a:cs typeface="Calibri"/>
                <a:sym typeface="Calibri"/>
              </a:rPr>
              <a:t>class LangFactory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public:</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    LangFactory();                    // 기본 생성</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    LangFactory(                      // DI 생성자</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        unique_ptr&lt;ILexer&gt;,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        unique_ptr&lt;IParser&gt;,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        unique_ptr&lt;IChecker&gt;,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        unique_ptr&lt;IInterpreter&gt;);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7DD3FC"/>
                </a:solidFill>
                <a:latin typeface="Calibri"/>
                <a:ea typeface="Calibri"/>
                <a:cs typeface="Calibri"/>
                <a:sym typeface="Calibri"/>
              </a:rPr>
              <a:t>    void setOptimizer(unique_ptr&lt;IOptimizer&gt;);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t/>
            </a:r>
            <a:endParaRPr b="0" i="0" sz="950" u="none" cap="none" strike="noStrike">
              <a:solidFill>
                <a:srgbClr val="CBD5E1"/>
              </a:solidFill>
              <a:latin typeface="Calibri"/>
              <a:ea typeface="Calibri"/>
              <a:cs typeface="Calibri"/>
              <a:sym typeface="Calibri"/>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64748B"/>
                </a:solidFill>
                <a:latin typeface="Calibri"/>
                <a:ea typeface="Calibri"/>
                <a:cs typeface="Calibri"/>
                <a:sym typeface="Calibri"/>
              </a:rPr>
              <a:t>// 테스트 코드 — Mock 주입으로 완전 격리</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LangFactory f(make_unique&lt;MockLexer&gt;(),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              make_unique&lt;MockParser&gt;(), ...);</a:t>
            </a:r>
            <a:endParaRPr b="0" i="0" sz="1400" u="none" cap="none" strike="noStrike">
              <a:solidFill>
                <a:srgbClr val="000000"/>
              </a:solidFill>
              <a:latin typeface="Arial"/>
              <a:ea typeface="Arial"/>
              <a:cs typeface="Arial"/>
              <a:sym typeface="Arial"/>
            </a:endParaRPr>
          </a:p>
        </p:txBody>
      </p:sp>
      <p:sp>
        <p:nvSpPr>
          <p:cNvPr id="603" name="Google Shape;603;g3ee94320d98_2_163"/>
          <p:cNvSpPr txBox="1"/>
          <p:nvPr/>
        </p:nvSpPr>
        <p:spPr>
          <a:xfrm>
            <a:off x="6228686" y="4663440"/>
            <a:ext cx="5469536"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ko-KR" sz="1000" u="none" cap="none" strike="noStrike">
                <a:solidFill>
                  <a:srgbClr val="166A34"/>
                </a:solidFill>
                <a:latin typeface="Calibri"/>
                <a:ea typeface="Calibri"/>
                <a:cs typeface="Calibri"/>
                <a:sym typeface="Calibri"/>
              </a:rPr>
              <a:t>✅ 구체 클래스에 의존하지 않아 팀별 독립 개발·테스트 가능</a:t>
            </a:r>
            <a:endParaRPr b="0" i="0" sz="1400" u="none" cap="none" strike="noStrike">
              <a:solidFill>
                <a:srgbClr val="000000"/>
              </a:solidFill>
              <a:latin typeface="Arial"/>
              <a:ea typeface="Arial"/>
              <a:cs typeface="Arial"/>
              <a:sym typeface="Arial"/>
            </a:endParaRPr>
          </a:p>
        </p:txBody>
      </p:sp>
      <p:sp>
        <p:nvSpPr>
          <p:cNvPr id="604" name="Google Shape;604;g3ee94320d98_2_163"/>
          <p:cNvSpPr/>
          <p:nvPr/>
        </p:nvSpPr>
        <p:spPr>
          <a:xfrm>
            <a:off x="493905" y="5029200"/>
            <a:ext cx="11204318" cy="50292"/>
          </a:xfrm>
          <a:prstGeom prst="rect">
            <a:avLst/>
          </a:prstGeom>
          <a:solidFill>
            <a:srgbClr val="E2E8F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05" name="Google Shape;605;g3ee94320d98_2_163"/>
          <p:cNvSpPr/>
          <p:nvPr/>
        </p:nvSpPr>
        <p:spPr>
          <a:xfrm>
            <a:off x="365855" y="5120640"/>
            <a:ext cx="3548796" cy="1536192"/>
          </a:xfrm>
          <a:prstGeom prst="rect">
            <a:avLst/>
          </a:prstGeom>
          <a:solidFill>
            <a:srgbClr val="FFFFFF"/>
          </a:solidFill>
          <a:ln cap="flat" cmpd="sng" w="9525">
            <a:solidFill>
              <a:srgbClr val="CBD5E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06" name="Google Shape;606;g3ee94320d98_2_163"/>
          <p:cNvSpPr/>
          <p:nvPr/>
        </p:nvSpPr>
        <p:spPr>
          <a:xfrm>
            <a:off x="365855" y="5120640"/>
            <a:ext cx="3548796" cy="50292"/>
          </a:xfrm>
          <a:prstGeom prst="rect">
            <a:avLst/>
          </a:prstGeom>
          <a:solidFill>
            <a:srgbClr val="4F46E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07" name="Google Shape;607;g3ee94320d98_2_163"/>
          <p:cNvSpPr txBox="1"/>
          <p:nvPr/>
        </p:nvSpPr>
        <p:spPr>
          <a:xfrm>
            <a:off x="503051" y="5285232"/>
            <a:ext cx="3274405" cy="32004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ko-KR" sz="1400" u="none" cap="none" strike="noStrike">
                <a:solidFill>
                  <a:srgbClr val="0F172A"/>
                </a:solidFill>
                <a:latin typeface="Calibri"/>
                <a:ea typeface="Calibri"/>
                <a:cs typeface="Calibri"/>
                <a:sym typeface="Calibri"/>
              </a:rPr>
              <a:t>DIP 준수</a:t>
            </a:r>
            <a:endParaRPr b="0" i="0" sz="1400" u="none" cap="none" strike="noStrike">
              <a:solidFill>
                <a:srgbClr val="000000"/>
              </a:solidFill>
              <a:latin typeface="Arial"/>
              <a:ea typeface="Arial"/>
              <a:cs typeface="Arial"/>
              <a:sym typeface="Arial"/>
            </a:endParaRPr>
          </a:p>
        </p:txBody>
      </p:sp>
      <p:sp>
        <p:nvSpPr>
          <p:cNvPr id="608" name="Google Shape;608;g3ee94320d98_2_163"/>
          <p:cNvSpPr txBox="1"/>
          <p:nvPr/>
        </p:nvSpPr>
        <p:spPr>
          <a:xfrm>
            <a:off x="503051" y="5669280"/>
            <a:ext cx="3274405" cy="86868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ko-KR" sz="1100" u="none" cap="none" strike="noStrike">
                <a:solidFill>
                  <a:srgbClr val="334155"/>
                </a:solidFill>
                <a:latin typeface="Calibri"/>
                <a:ea typeface="Calibri"/>
                <a:cs typeface="Calibri"/>
                <a:sym typeface="Calibri"/>
              </a:rPr>
              <a:t>LangFactory는 ILexer·IParser 인터페이스만 앎</a:t>
            </a:r>
            <a:br>
              <a:rPr b="0" i="0" lang="ko-KR" sz="1100" u="none" cap="none" strike="noStrike">
                <a:solidFill>
                  <a:srgbClr val="334155"/>
                </a:solidFill>
                <a:latin typeface="Calibri"/>
                <a:ea typeface="Calibri"/>
                <a:cs typeface="Calibri"/>
                <a:sym typeface="Calibri"/>
              </a:rPr>
            </a:br>
            <a:r>
              <a:rPr b="0" i="0" lang="ko-KR" sz="1100" u="none" cap="none" strike="noStrike">
                <a:solidFill>
                  <a:srgbClr val="334155"/>
                </a:solidFill>
                <a:latin typeface="Calibri"/>
                <a:ea typeface="Calibri"/>
                <a:cs typeface="Calibri"/>
                <a:sym typeface="Calibri"/>
              </a:rPr>
              <a:t>구체 구현이 바뀌어도 LangFactory 코드 무수정</a:t>
            </a:r>
            <a:endParaRPr b="0" i="0" sz="1400" u="none" cap="none" strike="noStrike">
              <a:solidFill>
                <a:srgbClr val="000000"/>
              </a:solidFill>
              <a:latin typeface="Arial"/>
              <a:ea typeface="Arial"/>
              <a:cs typeface="Arial"/>
              <a:sym typeface="Arial"/>
            </a:endParaRPr>
          </a:p>
        </p:txBody>
      </p:sp>
      <p:sp>
        <p:nvSpPr>
          <p:cNvPr id="609" name="Google Shape;609;g3ee94320d98_2_163"/>
          <p:cNvSpPr/>
          <p:nvPr/>
        </p:nvSpPr>
        <p:spPr>
          <a:xfrm>
            <a:off x="4097579" y="5120640"/>
            <a:ext cx="3548796" cy="1536192"/>
          </a:xfrm>
          <a:prstGeom prst="rect">
            <a:avLst/>
          </a:prstGeom>
          <a:solidFill>
            <a:srgbClr val="FFFFFF"/>
          </a:solidFill>
          <a:ln cap="flat" cmpd="sng" w="9525">
            <a:solidFill>
              <a:srgbClr val="CBD5E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0" name="Google Shape;610;g3ee94320d98_2_163"/>
          <p:cNvSpPr/>
          <p:nvPr/>
        </p:nvSpPr>
        <p:spPr>
          <a:xfrm>
            <a:off x="4097579" y="5120640"/>
            <a:ext cx="3548796" cy="50292"/>
          </a:xfrm>
          <a:prstGeom prst="rect">
            <a:avLst/>
          </a:prstGeom>
          <a:solidFill>
            <a:srgbClr val="4F46E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1" name="Google Shape;611;g3ee94320d98_2_163"/>
          <p:cNvSpPr txBox="1"/>
          <p:nvPr/>
        </p:nvSpPr>
        <p:spPr>
          <a:xfrm>
            <a:off x="4234775" y="5285232"/>
            <a:ext cx="3274405" cy="32004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ko-KR" sz="1400" u="none" cap="none" strike="noStrike">
                <a:solidFill>
                  <a:srgbClr val="0F172A"/>
                </a:solidFill>
                <a:latin typeface="Calibri"/>
                <a:ea typeface="Calibri"/>
                <a:cs typeface="Calibri"/>
                <a:sym typeface="Calibri"/>
              </a:rPr>
              <a:t>LSP 준수</a:t>
            </a:r>
            <a:endParaRPr b="0" i="0" sz="1400" u="none" cap="none" strike="noStrike">
              <a:solidFill>
                <a:srgbClr val="000000"/>
              </a:solidFill>
              <a:latin typeface="Arial"/>
              <a:ea typeface="Arial"/>
              <a:cs typeface="Arial"/>
              <a:sym typeface="Arial"/>
            </a:endParaRPr>
          </a:p>
        </p:txBody>
      </p:sp>
      <p:sp>
        <p:nvSpPr>
          <p:cNvPr id="612" name="Google Shape;612;g3ee94320d98_2_163"/>
          <p:cNvSpPr txBox="1"/>
          <p:nvPr/>
        </p:nvSpPr>
        <p:spPr>
          <a:xfrm>
            <a:off x="4234775" y="5669280"/>
            <a:ext cx="3274405" cy="86868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ko-KR" sz="1100" u="none" cap="none" strike="noStrike">
                <a:solidFill>
                  <a:srgbClr val="334155"/>
                </a:solidFill>
                <a:latin typeface="Calibri"/>
                <a:ea typeface="Calibri"/>
                <a:cs typeface="Calibri"/>
                <a:sym typeface="Calibri"/>
              </a:rPr>
              <a:t>MockLexer ↔ Lexer 완전 교환 가능</a:t>
            </a:r>
            <a:br>
              <a:rPr b="0" i="0" lang="ko-KR" sz="1100" u="none" cap="none" strike="noStrike">
                <a:solidFill>
                  <a:srgbClr val="334155"/>
                </a:solidFill>
                <a:latin typeface="Calibri"/>
                <a:ea typeface="Calibri"/>
                <a:cs typeface="Calibri"/>
                <a:sym typeface="Calibri"/>
              </a:rPr>
            </a:br>
            <a:r>
              <a:rPr b="0" i="0" lang="ko-KR" sz="1100" u="none" cap="none" strike="noStrike">
                <a:solidFill>
                  <a:srgbClr val="334155"/>
                </a:solidFill>
                <a:latin typeface="Calibri"/>
                <a:ea typeface="Calibri"/>
                <a:cs typeface="Calibri"/>
                <a:sym typeface="Calibri"/>
              </a:rPr>
              <a:t>139개 TC 단계별 격리 달성</a:t>
            </a:r>
            <a:endParaRPr b="0" i="0" sz="1400" u="none" cap="none" strike="noStrike">
              <a:solidFill>
                <a:srgbClr val="000000"/>
              </a:solidFill>
              <a:latin typeface="Arial"/>
              <a:ea typeface="Arial"/>
              <a:cs typeface="Arial"/>
              <a:sym typeface="Arial"/>
            </a:endParaRPr>
          </a:p>
        </p:txBody>
      </p:sp>
      <p:sp>
        <p:nvSpPr>
          <p:cNvPr id="613" name="Google Shape;613;g3ee94320d98_2_163"/>
          <p:cNvSpPr/>
          <p:nvPr/>
        </p:nvSpPr>
        <p:spPr>
          <a:xfrm>
            <a:off x="7829303" y="5120640"/>
            <a:ext cx="3548796" cy="1536192"/>
          </a:xfrm>
          <a:prstGeom prst="rect">
            <a:avLst/>
          </a:prstGeom>
          <a:solidFill>
            <a:srgbClr val="FFFFFF"/>
          </a:solidFill>
          <a:ln cap="flat" cmpd="sng" w="9525">
            <a:solidFill>
              <a:srgbClr val="CBD5E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4" name="Google Shape;614;g3ee94320d98_2_163"/>
          <p:cNvSpPr/>
          <p:nvPr/>
        </p:nvSpPr>
        <p:spPr>
          <a:xfrm>
            <a:off x="7829303" y="5120640"/>
            <a:ext cx="3548796" cy="50292"/>
          </a:xfrm>
          <a:prstGeom prst="rect">
            <a:avLst/>
          </a:prstGeom>
          <a:solidFill>
            <a:srgbClr val="4F46E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5" name="Google Shape;615;g3ee94320d98_2_163"/>
          <p:cNvSpPr txBox="1"/>
          <p:nvPr/>
        </p:nvSpPr>
        <p:spPr>
          <a:xfrm>
            <a:off x="7966499" y="5285232"/>
            <a:ext cx="3274405" cy="32004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ko-KR" sz="1400" u="none" cap="none" strike="noStrike">
                <a:solidFill>
                  <a:srgbClr val="0F172A"/>
                </a:solidFill>
                <a:latin typeface="Calibri"/>
                <a:ea typeface="Calibri"/>
                <a:cs typeface="Calibri"/>
                <a:sym typeface="Calibri"/>
              </a:rPr>
              <a:t>OCP 준수</a:t>
            </a:r>
            <a:endParaRPr b="0" i="0" sz="1400" u="none" cap="none" strike="noStrike">
              <a:solidFill>
                <a:srgbClr val="000000"/>
              </a:solidFill>
              <a:latin typeface="Arial"/>
              <a:ea typeface="Arial"/>
              <a:cs typeface="Arial"/>
              <a:sym typeface="Arial"/>
            </a:endParaRPr>
          </a:p>
        </p:txBody>
      </p:sp>
      <p:sp>
        <p:nvSpPr>
          <p:cNvPr id="616" name="Google Shape;616;g3ee94320d98_2_163"/>
          <p:cNvSpPr txBox="1"/>
          <p:nvPr/>
        </p:nvSpPr>
        <p:spPr>
          <a:xfrm>
            <a:off x="7966499" y="5669280"/>
            <a:ext cx="3274405" cy="86868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ko-KR" sz="1100" u="none" cap="none" strike="noStrike">
                <a:solidFill>
                  <a:srgbClr val="334155"/>
                </a:solidFill>
                <a:latin typeface="Calibri"/>
                <a:ea typeface="Calibri"/>
                <a:cs typeface="Calibri"/>
                <a:sym typeface="Calibri"/>
              </a:rPr>
              <a:t>setOptimizer()로 ConstantFolder 선택 주입</a:t>
            </a:r>
            <a:br>
              <a:rPr b="0" i="0" lang="ko-KR" sz="1100" u="none" cap="none" strike="noStrike">
                <a:solidFill>
                  <a:srgbClr val="334155"/>
                </a:solidFill>
                <a:latin typeface="Calibri"/>
                <a:ea typeface="Calibri"/>
                <a:cs typeface="Calibri"/>
                <a:sym typeface="Calibri"/>
              </a:rPr>
            </a:br>
            <a:r>
              <a:rPr b="0" i="0" lang="ko-KR" sz="1100" u="none" cap="none" strike="noStrike">
                <a:solidFill>
                  <a:srgbClr val="334155"/>
                </a:solidFill>
                <a:latin typeface="Calibri"/>
                <a:ea typeface="Calibri"/>
                <a:cs typeface="Calibri"/>
                <a:sym typeface="Calibri"/>
              </a:rPr>
              <a:t>기존 파이프라인 코드 무수정으로 확장</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 name="Shape 620"/>
        <p:cNvGrpSpPr/>
        <p:nvPr/>
      </p:nvGrpSpPr>
      <p:grpSpPr>
        <a:xfrm>
          <a:off x="0" y="0"/>
          <a:ext cx="0" cy="0"/>
          <a:chOff x="0" y="0"/>
          <a:chExt cx="0" cy="0"/>
        </a:xfrm>
      </p:grpSpPr>
      <p:sp>
        <p:nvSpPr>
          <p:cNvPr id="621" name="Google Shape;621;g3ee94320d98_2_194"/>
          <p:cNvSpPr txBox="1"/>
          <p:nvPr/>
        </p:nvSpPr>
        <p:spPr>
          <a:xfrm>
            <a:off x="493905" y="256032"/>
            <a:ext cx="8414671" cy="5943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ko-KR" sz="2800" u="none" cap="none" strike="noStrike">
                <a:solidFill>
                  <a:srgbClr val="0F172A"/>
                </a:solidFill>
                <a:latin typeface="Calibri"/>
                <a:ea typeface="Calibri"/>
                <a:cs typeface="Calibri"/>
                <a:sym typeface="Calibri"/>
              </a:rPr>
              <a:t>BP 02.  구조 패턴: Bridge — 인터페이스 계층 분리</a:t>
            </a:r>
            <a:endParaRPr b="0" i="0" sz="1400" u="none" cap="none" strike="noStrike">
              <a:solidFill>
                <a:srgbClr val="000000"/>
              </a:solidFill>
              <a:latin typeface="Arial"/>
              <a:ea typeface="Arial"/>
              <a:cs typeface="Arial"/>
              <a:sym typeface="Arial"/>
            </a:endParaRPr>
          </a:p>
        </p:txBody>
      </p:sp>
      <p:sp>
        <p:nvSpPr>
          <p:cNvPr id="622" name="Google Shape;622;g3ee94320d98_2_194"/>
          <p:cNvSpPr/>
          <p:nvPr/>
        </p:nvSpPr>
        <p:spPr>
          <a:xfrm>
            <a:off x="493905" y="886968"/>
            <a:ext cx="11204318" cy="50292"/>
          </a:xfrm>
          <a:prstGeom prst="rect">
            <a:avLst/>
          </a:prstGeom>
          <a:solidFill>
            <a:srgbClr val="E2E8F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3" name="Google Shape;623;g3ee94320d98_2_194"/>
          <p:cNvSpPr txBox="1"/>
          <p:nvPr/>
        </p:nvSpPr>
        <p:spPr>
          <a:xfrm>
            <a:off x="493905" y="978408"/>
            <a:ext cx="7865888"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0" i="0" lang="ko-KR" sz="1300" u="none" cap="none" strike="noStrike">
                <a:solidFill>
                  <a:srgbClr val="64748B"/>
                </a:solidFill>
                <a:latin typeface="Calibri"/>
                <a:ea typeface="Calibri"/>
                <a:cs typeface="Calibri"/>
                <a:sym typeface="Calibri"/>
              </a:rPr>
              <a:t>6개 순수 가상 인터페이스로 추상화·구현 완전 분리 → 팀별 독립 개발 환경 확보</a:t>
            </a:r>
            <a:endParaRPr b="0" i="0" sz="1400" u="none" cap="none" strike="noStrike">
              <a:solidFill>
                <a:srgbClr val="000000"/>
              </a:solidFill>
              <a:latin typeface="Arial"/>
              <a:ea typeface="Arial"/>
              <a:cs typeface="Arial"/>
              <a:sym typeface="Arial"/>
            </a:endParaRPr>
          </a:p>
        </p:txBody>
      </p:sp>
      <p:sp>
        <p:nvSpPr>
          <p:cNvPr id="624" name="Google Shape;624;g3ee94320d98_2_194"/>
          <p:cNvSpPr/>
          <p:nvPr/>
        </p:nvSpPr>
        <p:spPr>
          <a:xfrm>
            <a:off x="8807966" y="566928"/>
            <a:ext cx="3018306" cy="329184"/>
          </a:xfrm>
          <a:prstGeom prst="rect">
            <a:avLst/>
          </a:prstGeom>
          <a:solidFill>
            <a:srgbClr val="1E293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5" name="Google Shape;625;g3ee94320d98_2_194"/>
          <p:cNvSpPr txBox="1"/>
          <p:nvPr/>
        </p:nvSpPr>
        <p:spPr>
          <a:xfrm>
            <a:off x="8807966" y="566928"/>
            <a:ext cx="3018306" cy="2616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ko-KR" sz="1100" u="none" cap="none" strike="noStrike">
                <a:solidFill>
                  <a:srgbClr val="FFFFFF"/>
                </a:solidFill>
                <a:latin typeface="Calibri"/>
                <a:ea typeface="Calibri"/>
                <a:cs typeface="Calibri"/>
                <a:sym typeface="Calibri"/>
              </a:rPr>
              <a:t>☆  핵심 SOLID 원칙: DIP (의존 역전 원칙)</a:t>
            </a:r>
            <a:endParaRPr b="0" i="0" sz="1400" u="none" cap="none" strike="noStrike">
              <a:solidFill>
                <a:srgbClr val="000000"/>
              </a:solidFill>
              <a:latin typeface="Arial"/>
              <a:ea typeface="Arial"/>
              <a:cs typeface="Arial"/>
              <a:sym typeface="Arial"/>
            </a:endParaRPr>
          </a:p>
        </p:txBody>
      </p:sp>
      <p:sp>
        <p:nvSpPr>
          <p:cNvPr id="626" name="Google Shape;626;g3ee94320d98_2_194"/>
          <p:cNvSpPr/>
          <p:nvPr/>
        </p:nvSpPr>
        <p:spPr>
          <a:xfrm>
            <a:off x="365855" y="1325880"/>
            <a:ext cx="5579293" cy="420624"/>
          </a:xfrm>
          <a:prstGeom prst="rect">
            <a:avLst/>
          </a:prstGeom>
          <a:solidFill>
            <a:srgbClr val="DC262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7" name="Google Shape;627;g3ee94320d98_2_194"/>
          <p:cNvSpPr txBox="1"/>
          <p:nvPr/>
        </p:nvSpPr>
        <p:spPr>
          <a:xfrm>
            <a:off x="530490" y="1380744"/>
            <a:ext cx="5378073" cy="3291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1" i="0" lang="ko-KR" sz="1300" u="none" cap="none" strike="noStrike">
                <a:solidFill>
                  <a:srgbClr val="FFFFFF"/>
                </a:solidFill>
                <a:latin typeface="Calibri"/>
                <a:ea typeface="Calibri"/>
                <a:cs typeface="Calibri"/>
                <a:sym typeface="Calibri"/>
              </a:rPr>
              <a:t>✕  As-Is: 구체 클래스 간 직접 결합</a:t>
            </a:r>
            <a:endParaRPr b="0" i="0" sz="1400" u="none" cap="none" strike="noStrike">
              <a:solidFill>
                <a:srgbClr val="000000"/>
              </a:solidFill>
              <a:latin typeface="Arial"/>
              <a:ea typeface="Arial"/>
              <a:cs typeface="Arial"/>
              <a:sym typeface="Arial"/>
            </a:endParaRPr>
          </a:p>
        </p:txBody>
      </p:sp>
      <p:sp>
        <p:nvSpPr>
          <p:cNvPr id="628" name="Google Shape;628;g3ee94320d98_2_194"/>
          <p:cNvSpPr/>
          <p:nvPr/>
        </p:nvSpPr>
        <p:spPr>
          <a:xfrm>
            <a:off x="365855" y="1746504"/>
            <a:ext cx="5579293" cy="2880360"/>
          </a:xfrm>
          <a:prstGeom prst="rect">
            <a:avLst/>
          </a:prstGeom>
          <a:solidFill>
            <a:srgbClr val="1E293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9" name="Google Shape;629;g3ee94320d98_2_194"/>
          <p:cNvSpPr txBox="1"/>
          <p:nvPr/>
        </p:nvSpPr>
        <p:spPr>
          <a:xfrm>
            <a:off x="530490" y="1874520"/>
            <a:ext cx="5304901" cy="26791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50"/>
              <a:buFont typeface="Arial"/>
              <a:buNone/>
            </a:pPr>
            <a:r>
              <a:rPr b="0" i="0" lang="ko-KR" sz="950" u="none" cap="none" strike="noStrike">
                <a:solidFill>
                  <a:srgbClr val="64748B"/>
                </a:solidFill>
                <a:latin typeface="Calibri"/>
                <a:ea typeface="Calibri"/>
                <a:cs typeface="Calibri"/>
                <a:sym typeface="Calibri"/>
              </a:rPr>
              <a:t>// 직접 의존 — 구체 클래스끼리 결합</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7DD3FC"/>
                </a:solidFill>
                <a:latin typeface="Calibri"/>
                <a:ea typeface="Calibri"/>
                <a:cs typeface="Calibri"/>
                <a:sym typeface="Calibri"/>
              </a:rPr>
              <a:t>class LangFactory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    Lexer*       m_lexer;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    Parser*      m_parser;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    Checker*     m_checker;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    Interpreter* m_interpreter;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t/>
            </a:r>
            <a:endParaRPr b="0" i="0" sz="950" u="none" cap="none" strike="noStrike">
              <a:solidFill>
                <a:srgbClr val="CBD5E1"/>
              </a:solidFill>
              <a:latin typeface="Calibri"/>
              <a:ea typeface="Calibri"/>
              <a:cs typeface="Calibri"/>
              <a:sym typeface="Calibri"/>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64748B"/>
                </a:solidFill>
                <a:latin typeface="Calibri"/>
                <a:ea typeface="Calibri"/>
                <a:cs typeface="Calibri"/>
                <a:sym typeface="Calibri"/>
              </a:rPr>
              <a:t>// 문제: 팀 A의 Checker.h 수정</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64748B"/>
                </a:solidFill>
                <a:latin typeface="Calibri"/>
                <a:ea typeface="Calibri"/>
                <a:cs typeface="Calibri"/>
                <a:sym typeface="Calibri"/>
              </a:rPr>
              <a:t>// → LangFactory 재컴파일 강제</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64748B"/>
                </a:solidFill>
                <a:latin typeface="Calibri"/>
                <a:ea typeface="Calibri"/>
                <a:cs typeface="Calibri"/>
                <a:sym typeface="Calibri"/>
              </a:rPr>
              <a:t>// → Interpreter 단독 테스트 불가</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64748B"/>
                </a:solidFill>
                <a:latin typeface="Calibri"/>
                <a:ea typeface="Calibri"/>
                <a:cs typeface="Calibri"/>
                <a:sym typeface="Calibri"/>
              </a:rPr>
              <a:t>// → 미완성 Checker → 팀 D 개발 차단</a:t>
            </a:r>
            <a:endParaRPr b="0" i="0" sz="1400" u="none" cap="none" strike="noStrike">
              <a:solidFill>
                <a:srgbClr val="000000"/>
              </a:solidFill>
              <a:latin typeface="Arial"/>
              <a:ea typeface="Arial"/>
              <a:cs typeface="Arial"/>
              <a:sym typeface="Arial"/>
            </a:endParaRPr>
          </a:p>
        </p:txBody>
      </p:sp>
      <p:sp>
        <p:nvSpPr>
          <p:cNvPr id="630" name="Google Shape;630;g3ee94320d98_2_194"/>
          <p:cNvSpPr txBox="1"/>
          <p:nvPr/>
        </p:nvSpPr>
        <p:spPr>
          <a:xfrm>
            <a:off x="439026" y="4663440"/>
            <a:ext cx="5469536"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ko-KR" sz="1000" u="none" cap="none" strike="noStrike">
                <a:solidFill>
                  <a:srgbClr val="B45C09"/>
                </a:solidFill>
                <a:latin typeface="Calibri"/>
                <a:ea typeface="Calibri"/>
                <a:cs typeface="Calibri"/>
                <a:sym typeface="Calibri"/>
              </a:rPr>
              <a:t>⚠ 팀원 구현 변경이 의존 체인 전체로 전파, Mock 교체 불가</a:t>
            </a:r>
            <a:endParaRPr b="0" i="0" sz="1400" u="none" cap="none" strike="noStrike">
              <a:solidFill>
                <a:srgbClr val="000000"/>
              </a:solidFill>
              <a:latin typeface="Arial"/>
              <a:ea typeface="Arial"/>
              <a:cs typeface="Arial"/>
              <a:sym typeface="Arial"/>
            </a:endParaRPr>
          </a:p>
        </p:txBody>
      </p:sp>
      <p:sp>
        <p:nvSpPr>
          <p:cNvPr id="631" name="Google Shape;631;g3ee94320d98_2_194"/>
          <p:cNvSpPr/>
          <p:nvPr/>
        </p:nvSpPr>
        <p:spPr>
          <a:xfrm>
            <a:off x="6155515" y="1325880"/>
            <a:ext cx="5579293" cy="420624"/>
          </a:xfrm>
          <a:prstGeom prst="rect">
            <a:avLst/>
          </a:prstGeom>
          <a:solidFill>
            <a:srgbClr val="16A3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32" name="Google Shape;632;g3ee94320d98_2_194"/>
          <p:cNvSpPr txBox="1"/>
          <p:nvPr/>
        </p:nvSpPr>
        <p:spPr>
          <a:xfrm>
            <a:off x="6320150" y="1380744"/>
            <a:ext cx="5378073" cy="3291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1" i="0" lang="ko-KR" sz="1300" u="none" cap="none" strike="noStrike">
                <a:solidFill>
                  <a:srgbClr val="FFFFFF"/>
                </a:solidFill>
                <a:latin typeface="Calibri"/>
                <a:ea typeface="Calibri"/>
                <a:cs typeface="Calibri"/>
                <a:sym typeface="Calibri"/>
              </a:rPr>
              <a:t>✓  To-Be: Bridge — 인터페이스 계층 삽입</a:t>
            </a:r>
            <a:endParaRPr b="0" i="0" sz="1400" u="none" cap="none" strike="noStrike">
              <a:solidFill>
                <a:srgbClr val="000000"/>
              </a:solidFill>
              <a:latin typeface="Arial"/>
              <a:ea typeface="Arial"/>
              <a:cs typeface="Arial"/>
              <a:sym typeface="Arial"/>
            </a:endParaRPr>
          </a:p>
        </p:txBody>
      </p:sp>
      <p:sp>
        <p:nvSpPr>
          <p:cNvPr id="633" name="Google Shape;633;g3ee94320d98_2_194"/>
          <p:cNvSpPr/>
          <p:nvPr/>
        </p:nvSpPr>
        <p:spPr>
          <a:xfrm>
            <a:off x="6155515" y="1746504"/>
            <a:ext cx="5579293" cy="2880360"/>
          </a:xfrm>
          <a:prstGeom prst="rect">
            <a:avLst/>
          </a:prstGeom>
          <a:solidFill>
            <a:srgbClr val="1E293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34" name="Google Shape;634;g3ee94320d98_2_194"/>
          <p:cNvSpPr txBox="1"/>
          <p:nvPr/>
        </p:nvSpPr>
        <p:spPr>
          <a:xfrm>
            <a:off x="6320150" y="1874520"/>
            <a:ext cx="5304901" cy="26791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50"/>
              <a:buFont typeface="Arial"/>
              <a:buNone/>
            </a:pPr>
            <a:r>
              <a:rPr b="0" i="0" lang="ko-KR" sz="950" u="none" cap="none" strike="noStrike">
                <a:solidFill>
                  <a:srgbClr val="64748B"/>
                </a:solidFill>
                <a:latin typeface="Calibri"/>
                <a:ea typeface="Calibri"/>
                <a:cs typeface="Calibri"/>
                <a:sym typeface="Calibri"/>
              </a:rPr>
              <a:t>// src/interface/ — 6개 Bridge 인터페이스</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7DD3FC"/>
                </a:solidFill>
                <a:latin typeface="Calibri"/>
                <a:ea typeface="Calibri"/>
                <a:cs typeface="Calibri"/>
                <a:sym typeface="Calibri"/>
              </a:rPr>
              <a:t>class ILexer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7DD3FC"/>
                </a:solidFill>
                <a:latin typeface="Calibri"/>
                <a:ea typeface="Calibri"/>
                <a:cs typeface="Calibri"/>
                <a:sym typeface="Calibri"/>
              </a:rPr>
              <a:t>    virtual vector&lt;Token&gt; tokenize() = 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7DD3FC"/>
                </a:solidFill>
                <a:latin typeface="Calibri"/>
                <a:ea typeface="Calibri"/>
                <a:cs typeface="Calibri"/>
                <a:sym typeface="Calibri"/>
              </a:rPr>
              <a:t>class IParser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7DD3FC"/>
                </a:solidFill>
                <a:latin typeface="Calibri"/>
                <a:ea typeface="Calibri"/>
                <a:cs typeface="Calibri"/>
                <a:sym typeface="Calibri"/>
              </a:rPr>
              <a:t>    virtual vector&lt;StmtPtr&gt; parse()  = 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7DD3FC"/>
                </a:solidFill>
                <a:latin typeface="Calibri"/>
                <a:ea typeface="Calibri"/>
                <a:cs typeface="Calibri"/>
                <a:sym typeface="Calibri"/>
              </a:rPr>
              <a:t>class IChecker    { virtual void check()    =0;};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7DD3FC"/>
                </a:solidFill>
                <a:latin typeface="Calibri"/>
                <a:ea typeface="Calibri"/>
                <a:cs typeface="Calibri"/>
                <a:sym typeface="Calibri"/>
              </a:rPr>
              <a:t>class IInterpreter{ virtual void interpret()=0;};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7DD3FC"/>
                </a:solidFill>
                <a:latin typeface="Calibri"/>
                <a:ea typeface="Calibri"/>
                <a:cs typeface="Calibri"/>
                <a:sym typeface="Calibri"/>
              </a:rPr>
              <a:t>class IOptimizer  { virtual StmtList opt()  =0;};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7DD3FC"/>
                </a:solidFill>
                <a:latin typeface="Calibri"/>
                <a:ea typeface="Calibri"/>
                <a:cs typeface="Calibri"/>
                <a:sym typeface="Calibri"/>
              </a:rPr>
              <a:t>class ICallable   { virtual Value call()    =0;};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t/>
            </a:r>
            <a:endParaRPr b="0" i="0" sz="950" u="none" cap="none" strike="noStrike">
              <a:solidFill>
                <a:srgbClr val="7DD3FC"/>
              </a:solidFill>
              <a:latin typeface="Calibri"/>
              <a:ea typeface="Calibri"/>
              <a:cs typeface="Calibri"/>
              <a:sym typeface="Calibri"/>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64748B"/>
                </a:solidFill>
                <a:latin typeface="Calibri"/>
                <a:ea typeface="Calibri"/>
                <a:cs typeface="Calibri"/>
                <a:sym typeface="Calibri"/>
              </a:rPr>
              <a:t>// 구체 구현 ↔ 테스트 대역 완전 교환</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64748B"/>
                </a:solidFill>
                <a:latin typeface="Calibri"/>
                <a:ea typeface="Calibri"/>
                <a:cs typeface="Calibri"/>
                <a:sym typeface="Calibri"/>
              </a:rPr>
              <a:t>// Lexer &lt;-&gt; MockLexer  |  Parser &lt;-&gt; MockParser</a:t>
            </a:r>
            <a:endParaRPr b="0" i="0" sz="1400" u="none" cap="none" strike="noStrike">
              <a:solidFill>
                <a:srgbClr val="000000"/>
              </a:solidFill>
              <a:latin typeface="Arial"/>
              <a:ea typeface="Arial"/>
              <a:cs typeface="Arial"/>
              <a:sym typeface="Arial"/>
            </a:endParaRPr>
          </a:p>
        </p:txBody>
      </p:sp>
      <p:sp>
        <p:nvSpPr>
          <p:cNvPr id="635" name="Google Shape;635;g3ee94320d98_2_194"/>
          <p:cNvSpPr txBox="1"/>
          <p:nvPr/>
        </p:nvSpPr>
        <p:spPr>
          <a:xfrm>
            <a:off x="6228686" y="4663440"/>
            <a:ext cx="5469536"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ko-KR" sz="1000" u="none" cap="none" strike="noStrike">
                <a:solidFill>
                  <a:srgbClr val="166A34"/>
                </a:solidFill>
                <a:latin typeface="Calibri"/>
                <a:ea typeface="Calibri"/>
                <a:cs typeface="Calibri"/>
                <a:sym typeface="Calibri"/>
              </a:rPr>
              <a:t>✅ 인터페이스 계약만 합의하면 구현 전 테스트 선작성 가능</a:t>
            </a:r>
            <a:endParaRPr b="0" i="0" sz="1400" u="none" cap="none" strike="noStrike">
              <a:solidFill>
                <a:srgbClr val="000000"/>
              </a:solidFill>
              <a:latin typeface="Arial"/>
              <a:ea typeface="Arial"/>
              <a:cs typeface="Arial"/>
              <a:sym typeface="Arial"/>
            </a:endParaRPr>
          </a:p>
        </p:txBody>
      </p:sp>
      <p:sp>
        <p:nvSpPr>
          <p:cNvPr id="636" name="Google Shape;636;g3ee94320d98_2_194"/>
          <p:cNvSpPr/>
          <p:nvPr/>
        </p:nvSpPr>
        <p:spPr>
          <a:xfrm>
            <a:off x="493905" y="5029200"/>
            <a:ext cx="11204318" cy="50292"/>
          </a:xfrm>
          <a:prstGeom prst="rect">
            <a:avLst/>
          </a:prstGeom>
          <a:solidFill>
            <a:srgbClr val="E2E8F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37" name="Google Shape;637;g3ee94320d98_2_194"/>
          <p:cNvSpPr/>
          <p:nvPr/>
        </p:nvSpPr>
        <p:spPr>
          <a:xfrm>
            <a:off x="365855" y="5120640"/>
            <a:ext cx="3548796" cy="1536192"/>
          </a:xfrm>
          <a:prstGeom prst="rect">
            <a:avLst/>
          </a:prstGeom>
          <a:solidFill>
            <a:srgbClr val="FFFFFF"/>
          </a:solidFill>
          <a:ln cap="flat" cmpd="sng" w="9525">
            <a:solidFill>
              <a:srgbClr val="CBD5E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38" name="Google Shape;638;g3ee94320d98_2_194"/>
          <p:cNvSpPr/>
          <p:nvPr/>
        </p:nvSpPr>
        <p:spPr>
          <a:xfrm>
            <a:off x="365855" y="5120640"/>
            <a:ext cx="3548796" cy="50292"/>
          </a:xfrm>
          <a:prstGeom prst="rect">
            <a:avLst/>
          </a:prstGeom>
          <a:solidFill>
            <a:srgbClr val="4F46E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39" name="Google Shape;639;g3ee94320d98_2_194"/>
          <p:cNvSpPr txBox="1"/>
          <p:nvPr/>
        </p:nvSpPr>
        <p:spPr>
          <a:xfrm>
            <a:off x="503051" y="5285232"/>
            <a:ext cx="3274405" cy="32004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ko-KR" sz="1400" u="none" cap="none" strike="noStrike">
                <a:solidFill>
                  <a:srgbClr val="0F172A"/>
                </a:solidFill>
                <a:latin typeface="Calibri"/>
                <a:ea typeface="Calibri"/>
                <a:cs typeface="Calibri"/>
                <a:sym typeface="Calibri"/>
              </a:rPr>
              <a:t>DIP 준수</a:t>
            </a:r>
            <a:endParaRPr b="0" i="0" sz="1400" u="none" cap="none" strike="noStrike">
              <a:solidFill>
                <a:srgbClr val="000000"/>
              </a:solidFill>
              <a:latin typeface="Arial"/>
              <a:ea typeface="Arial"/>
              <a:cs typeface="Arial"/>
              <a:sym typeface="Arial"/>
            </a:endParaRPr>
          </a:p>
        </p:txBody>
      </p:sp>
      <p:sp>
        <p:nvSpPr>
          <p:cNvPr id="640" name="Google Shape;640;g3ee94320d98_2_194"/>
          <p:cNvSpPr txBox="1"/>
          <p:nvPr/>
        </p:nvSpPr>
        <p:spPr>
          <a:xfrm>
            <a:off x="503051" y="5669280"/>
            <a:ext cx="3274405" cy="86868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ko-KR" sz="1100" u="none" cap="none" strike="noStrike">
                <a:solidFill>
                  <a:srgbClr val="334155"/>
                </a:solidFill>
                <a:latin typeface="Calibri"/>
                <a:ea typeface="Calibri"/>
                <a:cs typeface="Calibri"/>
                <a:sym typeface="Calibri"/>
              </a:rPr>
              <a:t>LangFactory는 6개 인터페이스만 알고</a:t>
            </a:r>
            <a:br>
              <a:rPr b="0" i="0" lang="ko-KR" sz="1100" u="none" cap="none" strike="noStrike">
                <a:solidFill>
                  <a:srgbClr val="334155"/>
                </a:solidFill>
                <a:latin typeface="Calibri"/>
                <a:ea typeface="Calibri"/>
                <a:cs typeface="Calibri"/>
                <a:sym typeface="Calibri"/>
              </a:rPr>
            </a:br>
            <a:r>
              <a:rPr b="0" i="0" lang="ko-KR" sz="1100" u="none" cap="none" strike="noStrike">
                <a:solidFill>
                  <a:srgbClr val="334155"/>
                </a:solidFill>
                <a:latin typeface="Calibri"/>
                <a:ea typeface="Calibri"/>
                <a:cs typeface="Calibri"/>
                <a:sym typeface="Calibri"/>
              </a:rPr>
              <a:t>구체 클래스를 전혀 모름</a:t>
            </a:r>
            <a:endParaRPr b="0" i="0" sz="1400" u="none" cap="none" strike="noStrike">
              <a:solidFill>
                <a:srgbClr val="000000"/>
              </a:solidFill>
              <a:latin typeface="Arial"/>
              <a:ea typeface="Arial"/>
              <a:cs typeface="Arial"/>
              <a:sym typeface="Arial"/>
            </a:endParaRPr>
          </a:p>
        </p:txBody>
      </p:sp>
      <p:sp>
        <p:nvSpPr>
          <p:cNvPr id="641" name="Google Shape;641;g3ee94320d98_2_194"/>
          <p:cNvSpPr/>
          <p:nvPr/>
        </p:nvSpPr>
        <p:spPr>
          <a:xfrm>
            <a:off x="4097579" y="5120640"/>
            <a:ext cx="3548796" cy="1536192"/>
          </a:xfrm>
          <a:prstGeom prst="rect">
            <a:avLst/>
          </a:prstGeom>
          <a:solidFill>
            <a:srgbClr val="FFFFFF"/>
          </a:solidFill>
          <a:ln cap="flat" cmpd="sng" w="9525">
            <a:solidFill>
              <a:srgbClr val="CBD5E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42" name="Google Shape;642;g3ee94320d98_2_194"/>
          <p:cNvSpPr/>
          <p:nvPr/>
        </p:nvSpPr>
        <p:spPr>
          <a:xfrm>
            <a:off x="4097579" y="5120640"/>
            <a:ext cx="3548796" cy="50292"/>
          </a:xfrm>
          <a:prstGeom prst="rect">
            <a:avLst/>
          </a:prstGeom>
          <a:solidFill>
            <a:srgbClr val="4F46E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43" name="Google Shape;643;g3ee94320d98_2_194"/>
          <p:cNvSpPr txBox="1"/>
          <p:nvPr/>
        </p:nvSpPr>
        <p:spPr>
          <a:xfrm>
            <a:off x="4234775" y="5285232"/>
            <a:ext cx="3274405" cy="32004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ko-KR" sz="1400" u="none" cap="none" strike="noStrike">
                <a:solidFill>
                  <a:srgbClr val="0F172A"/>
                </a:solidFill>
                <a:latin typeface="Calibri"/>
                <a:ea typeface="Calibri"/>
                <a:cs typeface="Calibri"/>
                <a:sym typeface="Calibri"/>
              </a:rPr>
              <a:t>LSP 준수</a:t>
            </a:r>
            <a:endParaRPr b="0" i="0" sz="1400" u="none" cap="none" strike="noStrike">
              <a:solidFill>
                <a:srgbClr val="000000"/>
              </a:solidFill>
              <a:latin typeface="Arial"/>
              <a:ea typeface="Arial"/>
              <a:cs typeface="Arial"/>
              <a:sym typeface="Arial"/>
            </a:endParaRPr>
          </a:p>
        </p:txBody>
      </p:sp>
      <p:sp>
        <p:nvSpPr>
          <p:cNvPr id="644" name="Google Shape;644;g3ee94320d98_2_194"/>
          <p:cNvSpPr txBox="1"/>
          <p:nvPr/>
        </p:nvSpPr>
        <p:spPr>
          <a:xfrm>
            <a:off x="4234775" y="5669280"/>
            <a:ext cx="3274405" cy="86868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ko-KR" sz="1100" u="none" cap="none" strike="noStrike">
                <a:solidFill>
                  <a:srgbClr val="334155"/>
                </a:solidFill>
                <a:latin typeface="Calibri"/>
                <a:ea typeface="Calibri"/>
                <a:cs typeface="Calibri"/>
                <a:sym typeface="Calibri"/>
              </a:rPr>
              <a:t>미완성 컴포넌트를 Mock으로 대체</a:t>
            </a:r>
            <a:br>
              <a:rPr b="0" i="0" lang="ko-KR" sz="1100" u="none" cap="none" strike="noStrike">
                <a:solidFill>
                  <a:srgbClr val="334155"/>
                </a:solidFill>
                <a:latin typeface="Calibri"/>
                <a:ea typeface="Calibri"/>
                <a:cs typeface="Calibri"/>
                <a:sym typeface="Calibri"/>
              </a:rPr>
            </a:br>
            <a:r>
              <a:rPr b="0" i="0" lang="ko-KR" sz="1100" u="none" cap="none" strike="noStrike">
                <a:solidFill>
                  <a:srgbClr val="334155"/>
                </a:solidFill>
                <a:latin typeface="Calibri"/>
                <a:ea typeface="Calibri"/>
                <a:cs typeface="Calibri"/>
                <a:sym typeface="Calibri"/>
              </a:rPr>
              <a:t>팀별 독립 병렬 개발 실현</a:t>
            </a:r>
            <a:endParaRPr b="0" i="0" sz="1400" u="none" cap="none" strike="noStrike">
              <a:solidFill>
                <a:srgbClr val="000000"/>
              </a:solidFill>
              <a:latin typeface="Arial"/>
              <a:ea typeface="Arial"/>
              <a:cs typeface="Arial"/>
              <a:sym typeface="Arial"/>
            </a:endParaRPr>
          </a:p>
        </p:txBody>
      </p:sp>
      <p:sp>
        <p:nvSpPr>
          <p:cNvPr id="645" name="Google Shape;645;g3ee94320d98_2_194"/>
          <p:cNvSpPr/>
          <p:nvPr/>
        </p:nvSpPr>
        <p:spPr>
          <a:xfrm>
            <a:off x="7829303" y="5120640"/>
            <a:ext cx="3548796" cy="1536192"/>
          </a:xfrm>
          <a:prstGeom prst="rect">
            <a:avLst/>
          </a:prstGeom>
          <a:solidFill>
            <a:srgbClr val="FFFFFF"/>
          </a:solidFill>
          <a:ln cap="flat" cmpd="sng" w="9525">
            <a:solidFill>
              <a:srgbClr val="CBD5E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46" name="Google Shape;646;g3ee94320d98_2_194"/>
          <p:cNvSpPr/>
          <p:nvPr/>
        </p:nvSpPr>
        <p:spPr>
          <a:xfrm>
            <a:off x="7829303" y="5120640"/>
            <a:ext cx="3548796" cy="50292"/>
          </a:xfrm>
          <a:prstGeom prst="rect">
            <a:avLst/>
          </a:prstGeom>
          <a:solidFill>
            <a:srgbClr val="4F46E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47" name="Google Shape;647;g3ee94320d98_2_194"/>
          <p:cNvSpPr txBox="1"/>
          <p:nvPr/>
        </p:nvSpPr>
        <p:spPr>
          <a:xfrm>
            <a:off x="7966499" y="5285232"/>
            <a:ext cx="3274405" cy="32004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ko-KR" sz="1400" u="none" cap="none" strike="noStrike">
                <a:solidFill>
                  <a:srgbClr val="0F172A"/>
                </a:solidFill>
                <a:latin typeface="Calibri"/>
                <a:ea typeface="Calibri"/>
                <a:cs typeface="Calibri"/>
                <a:sym typeface="Calibri"/>
              </a:rPr>
              <a:t>OCP 준수</a:t>
            </a:r>
            <a:endParaRPr b="0" i="0" sz="1400" u="none" cap="none" strike="noStrike">
              <a:solidFill>
                <a:srgbClr val="000000"/>
              </a:solidFill>
              <a:latin typeface="Arial"/>
              <a:ea typeface="Arial"/>
              <a:cs typeface="Arial"/>
              <a:sym typeface="Arial"/>
            </a:endParaRPr>
          </a:p>
        </p:txBody>
      </p:sp>
      <p:sp>
        <p:nvSpPr>
          <p:cNvPr id="648" name="Google Shape;648;g3ee94320d98_2_194"/>
          <p:cNvSpPr txBox="1"/>
          <p:nvPr/>
        </p:nvSpPr>
        <p:spPr>
          <a:xfrm>
            <a:off x="7966499" y="5669280"/>
            <a:ext cx="3274405" cy="86868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ko-KR" sz="1100" u="none" cap="none" strike="noStrike">
                <a:solidFill>
                  <a:srgbClr val="334155"/>
                </a:solidFill>
                <a:latin typeface="Calibri"/>
                <a:ea typeface="Calibri"/>
                <a:cs typeface="Calibri"/>
                <a:sym typeface="Calibri"/>
              </a:rPr>
              <a:t>새 구현체 추가 = 기존 코드 무수정</a:t>
            </a:r>
            <a:br>
              <a:rPr b="0" i="0" lang="ko-KR" sz="1100" u="none" cap="none" strike="noStrike">
                <a:solidFill>
                  <a:srgbClr val="334155"/>
                </a:solidFill>
                <a:latin typeface="Calibri"/>
                <a:ea typeface="Calibri"/>
                <a:cs typeface="Calibri"/>
                <a:sym typeface="Calibri"/>
              </a:rPr>
            </a:br>
            <a:r>
              <a:rPr b="0" i="0" lang="ko-KR" sz="1100" u="none" cap="none" strike="noStrike">
                <a:solidFill>
                  <a:srgbClr val="334155"/>
                </a:solidFill>
                <a:latin typeface="Calibri"/>
                <a:ea typeface="Calibri"/>
                <a:cs typeface="Calibri"/>
                <a:sym typeface="Calibri"/>
              </a:rPr>
              <a:t>6개 인터페이스 일관 적용</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sp>
        <p:nvSpPr>
          <p:cNvPr id="653" name="Google Shape;653;g3ee94320d98_2_225"/>
          <p:cNvSpPr txBox="1"/>
          <p:nvPr/>
        </p:nvSpPr>
        <p:spPr>
          <a:xfrm>
            <a:off x="493905" y="256032"/>
            <a:ext cx="8414671"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ko-KR" sz="2800" u="none" cap="none" strike="noStrike">
                <a:solidFill>
                  <a:srgbClr val="0F172A"/>
                </a:solidFill>
                <a:latin typeface="Calibri"/>
                <a:ea typeface="Calibri"/>
                <a:cs typeface="Calibri"/>
                <a:sym typeface="Calibri"/>
              </a:rPr>
              <a:t>BP 03.  동작 패턴: Command — ICallable 객체 캡슐화</a:t>
            </a:r>
            <a:endParaRPr b="1" i="0" sz="2800" u="none" cap="none" strike="noStrike">
              <a:solidFill>
                <a:srgbClr val="0F172A"/>
              </a:solidFill>
              <a:latin typeface="Calibri"/>
              <a:ea typeface="Calibri"/>
              <a:cs typeface="Calibri"/>
              <a:sym typeface="Calibri"/>
            </a:endParaRPr>
          </a:p>
        </p:txBody>
      </p:sp>
      <p:sp>
        <p:nvSpPr>
          <p:cNvPr id="654" name="Google Shape;654;g3ee94320d98_2_225"/>
          <p:cNvSpPr/>
          <p:nvPr/>
        </p:nvSpPr>
        <p:spPr>
          <a:xfrm>
            <a:off x="493905" y="886968"/>
            <a:ext cx="11204318" cy="50292"/>
          </a:xfrm>
          <a:prstGeom prst="rect">
            <a:avLst/>
          </a:prstGeom>
          <a:solidFill>
            <a:srgbClr val="E2E8F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55" name="Google Shape;655;g3ee94320d98_2_225"/>
          <p:cNvSpPr txBox="1"/>
          <p:nvPr/>
        </p:nvSpPr>
        <p:spPr>
          <a:xfrm>
            <a:off x="493905" y="978408"/>
            <a:ext cx="7865888"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0" i="0" lang="ko-KR" sz="1300" u="none" cap="none" strike="noStrike">
                <a:solidFill>
                  <a:srgbClr val="64748B"/>
                </a:solidFill>
                <a:latin typeface="Calibri"/>
                <a:ea typeface="Calibri"/>
                <a:cs typeface="Calibri"/>
                <a:sym typeface="Calibri"/>
              </a:rPr>
              <a:t>모든 호출 가능 객체를 ICallable로 통일 → Interpreter가 타입을 모르고 동일 인터페이스로 호출</a:t>
            </a:r>
            <a:endParaRPr b="0" i="0" sz="1400" u="none" cap="none" strike="noStrike">
              <a:solidFill>
                <a:srgbClr val="000000"/>
              </a:solidFill>
              <a:latin typeface="Arial"/>
              <a:ea typeface="Arial"/>
              <a:cs typeface="Arial"/>
              <a:sym typeface="Arial"/>
            </a:endParaRPr>
          </a:p>
        </p:txBody>
      </p:sp>
      <p:sp>
        <p:nvSpPr>
          <p:cNvPr id="656" name="Google Shape;656;g3ee94320d98_2_225"/>
          <p:cNvSpPr/>
          <p:nvPr/>
        </p:nvSpPr>
        <p:spPr>
          <a:xfrm>
            <a:off x="8807966" y="566928"/>
            <a:ext cx="3018306" cy="329184"/>
          </a:xfrm>
          <a:prstGeom prst="rect">
            <a:avLst/>
          </a:prstGeom>
          <a:solidFill>
            <a:srgbClr val="1E293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57" name="Google Shape;657;g3ee94320d98_2_225"/>
          <p:cNvSpPr txBox="1"/>
          <p:nvPr/>
        </p:nvSpPr>
        <p:spPr>
          <a:xfrm>
            <a:off x="8807966" y="566928"/>
            <a:ext cx="3018306" cy="2616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ko-KR" sz="1100" u="none" cap="none" strike="noStrike">
                <a:solidFill>
                  <a:srgbClr val="FFFFFF"/>
                </a:solidFill>
                <a:latin typeface="Calibri"/>
                <a:ea typeface="Calibri"/>
                <a:cs typeface="Calibri"/>
                <a:sym typeface="Calibri"/>
              </a:rPr>
              <a:t>☆  핵심 SOLID 원칙: OCP (개방-폐쇄 원칙)</a:t>
            </a:r>
            <a:endParaRPr b="0" i="0" sz="1400" u="none" cap="none" strike="noStrike">
              <a:solidFill>
                <a:srgbClr val="000000"/>
              </a:solidFill>
              <a:latin typeface="Arial"/>
              <a:ea typeface="Arial"/>
              <a:cs typeface="Arial"/>
              <a:sym typeface="Arial"/>
            </a:endParaRPr>
          </a:p>
        </p:txBody>
      </p:sp>
      <p:sp>
        <p:nvSpPr>
          <p:cNvPr id="658" name="Google Shape;658;g3ee94320d98_2_225"/>
          <p:cNvSpPr/>
          <p:nvPr/>
        </p:nvSpPr>
        <p:spPr>
          <a:xfrm>
            <a:off x="365855" y="1325880"/>
            <a:ext cx="5579293" cy="420624"/>
          </a:xfrm>
          <a:prstGeom prst="rect">
            <a:avLst/>
          </a:prstGeom>
          <a:solidFill>
            <a:srgbClr val="DC262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59" name="Google Shape;659;g3ee94320d98_2_225"/>
          <p:cNvSpPr txBox="1"/>
          <p:nvPr/>
        </p:nvSpPr>
        <p:spPr>
          <a:xfrm>
            <a:off x="530490" y="1380744"/>
            <a:ext cx="5378073" cy="3291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1" i="0" lang="ko-KR" sz="1300" u="none" cap="none" strike="noStrike">
                <a:solidFill>
                  <a:srgbClr val="FFFFFF"/>
                </a:solidFill>
                <a:latin typeface="Calibri"/>
                <a:ea typeface="Calibri"/>
                <a:cs typeface="Calibri"/>
                <a:sym typeface="Calibri"/>
              </a:rPr>
              <a:t>✕  As-Is: 타입별 직접 분기 호출</a:t>
            </a:r>
            <a:endParaRPr b="0" i="0" sz="1400" u="none" cap="none" strike="noStrike">
              <a:solidFill>
                <a:srgbClr val="000000"/>
              </a:solidFill>
              <a:latin typeface="Arial"/>
              <a:ea typeface="Arial"/>
              <a:cs typeface="Arial"/>
              <a:sym typeface="Arial"/>
            </a:endParaRPr>
          </a:p>
        </p:txBody>
      </p:sp>
      <p:sp>
        <p:nvSpPr>
          <p:cNvPr id="660" name="Google Shape;660;g3ee94320d98_2_225"/>
          <p:cNvSpPr/>
          <p:nvPr/>
        </p:nvSpPr>
        <p:spPr>
          <a:xfrm>
            <a:off x="365855" y="1746504"/>
            <a:ext cx="5579293" cy="2880360"/>
          </a:xfrm>
          <a:prstGeom prst="rect">
            <a:avLst/>
          </a:prstGeom>
          <a:solidFill>
            <a:srgbClr val="1E293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61" name="Google Shape;661;g3ee94320d98_2_225"/>
          <p:cNvSpPr txBox="1"/>
          <p:nvPr/>
        </p:nvSpPr>
        <p:spPr>
          <a:xfrm>
            <a:off x="530490" y="1874520"/>
            <a:ext cx="5304901" cy="26791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50"/>
              <a:buFont typeface="Arial"/>
              <a:buNone/>
            </a:pPr>
            <a:r>
              <a:rPr b="0" i="0" lang="ko-KR" sz="950" u="none" cap="none" strike="noStrike">
                <a:solidFill>
                  <a:srgbClr val="64748B"/>
                </a:solidFill>
                <a:latin typeface="Calibri"/>
                <a:ea typeface="Calibri"/>
                <a:cs typeface="Calibri"/>
                <a:sym typeface="Calibri"/>
              </a:rPr>
              <a:t>// Interpreter — 호출 타입마다 분기 수정</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Value visitCallExpr(CallExpr&amp; 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    Value callee = evaluate(*e.callee);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t/>
            </a:r>
            <a:endParaRPr b="0" i="0" sz="950" u="none" cap="none" strike="noStrike">
              <a:solidFill>
                <a:srgbClr val="CBD5E1"/>
              </a:solidFill>
              <a:latin typeface="Calibri"/>
              <a:ea typeface="Calibri"/>
              <a:cs typeface="Calibri"/>
              <a:sym typeface="Calibri"/>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7DD3FC"/>
                </a:solidFill>
                <a:latin typeface="Calibri"/>
                <a:ea typeface="Calibri"/>
                <a:cs typeface="Calibri"/>
                <a:sym typeface="Calibri"/>
              </a:rPr>
              <a:t>    if (holds_alternative&lt;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            shared_ptr&lt;LangFunction&gt;&gt;(callee))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7DD3FC"/>
                </a:solidFill>
                <a:latin typeface="Calibri"/>
                <a:ea typeface="Calibri"/>
                <a:cs typeface="Calibri"/>
                <a:sym typeface="Calibri"/>
              </a:rPr>
              <a:t>        auto fn = get&lt;...&gt;(callee);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7DD3FC"/>
                </a:solidFill>
                <a:latin typeface="Calibri"/>
                <a:ea typeface="Calibri"/>
                <a:cs typeface="Calibri"/>
                <a:sym typeface="Calibri"/>
              </a:rPr>
              <a:t>        return fn-&gt;callDirect(interp, args);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7DD3FC"/>
                </a:solidFill>
                <a:latin typeface="Calibri"/>
                <a:ea typeface="Calibri"/>
                <a:cs typeface="Calibri"/>
                <a:sym typeface="Calibri"/>
              </a:rPr>
              <a:t>    if (holds_alternative&lt;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            shared_ptr&lt;ArrayBuiltin&gt;&gt;(callee))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7DD3FC"/>
                </a:solidFill>
                <a:latin typeface="Calibri"/>
                <a:ea typeface="Calibri"/>
                <a:cs typeface="Calibri"/>
                <a:sym typeface="Calibri"/>
              </a:rPr>
              <a:t>        return get&lt;...&gt;(callee)-&gt;call(interp, args);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64748B"/>
                </a:solidFill>
                <a:latin typeface="Calibri"/>
                <a:ea typeface="Calibri"/>
                <a:cs typeface="Calibri"/>
                <a:sym typeface="Calibri"/>
              </a:rPr>
              <a:t>    // 새 타입 추가 = 이 파일 직접 수정 필수</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    throw RuntimeError("호출 불가");</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662" name="Google Shape;662;g3ee94320d98_2_225"/>
          <p:cNvSpPr txBox="1"/>
          <p:nvPr/>
        </p:nvSpPr>
        <p:spPr>
          <a:xfrm>
            <a:off x="439026" y="4663440"/>
            <a:ext cx="5469536"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ko-KR" sz="1000" u="none" cap="none" strike="noStrike">
                <a:solidFill>
                  <a:srgbClr val="B45C09"/>
                </a:solidFill>
                <a:latin typeface="Calibri"/>
                <a:ea typeface="Calibri"/>
                <a:cs typeface="Calibri"/>
                <a:sym typeface="Calibri"/>
              </a:rPr>
              <a:t>⚠ 새 내장 함수 추가마다 Interpreter 파일 열고 수정 필요</a:t>
            </a:r>
            <a:endParaRPr b="0" i="0" sz="1400" u="none" cap="none" strike="noStrike">
              <a:solidFill>
                <a:srgbClr val="000000"/>
              </a:solidFill>
              <a:latin typeface="Arial"/>
              <a:ea typeface="Arial"/>
              <a:cs typeface="Arial"/>
              <a:sym typeface="Arial"/>
            </a:endParaRPr>
          </a:p>
        </p:txBody>
      </p:sp>
      <p:sp>
        <p:nvSpPr>
          <p:cNvPr id="663" name="Google Shape;663;g3ee94320d98_2_225"/>
          <p:cNvSpPr/>
          <p:nvPr/>
        </p:nvSpPr>
        <p:spPr>
          <a:xfrm>
            <a:off x="6155515" y="1325880"/>
            <a:ext cx="5579293" cy="420624"/>
          </a:xfrm>
          <a:prstGeom prst="rect">
            <a:avLst/>
          </a:prstGeom>
          <a:solidFill>
            <a:srgbClr val="16A3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64" name="Google Shape;664;g3ee94320d98_2_225"/>
          <p:cNvSpPr txBox="1"/>
          <p:nvPr/>
        </p:nvSpPr>
        <p:spPr>
          <a:xfrm>
            <a:off x="6320150" y="1380744"/>
            <a:ext cx="5378073" cy="3291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1" i="0" lang="ko-KR" sz="1300" u="none" cap="none" strike="noStrike">
                <a:solidFill>
                  <a:srgbClr val="FFFFFF"/>
                </a:solidFill>
                <a:latin typeface="Calibri"/>
                <a:ea typeface="Calibri"/>
                <a:cs typeface="Calibri"/>
                <a:sym typeface="Calibri"/>
              </a:rPr>
              <a:t>✓  To-Be: ICallable Command 인터페이스</a:t>
            </a:r>
            <a:endParaRPr b="0" i="0" sz="1400" u="none" cap="none" strike="noStrike">
              <a:solidFill>
                <a:srgbClr val="000000"/>
              </a:solidFill>
              <a:latin typeface="Arial"/>
              <a:ea typeface="Arial"/>
              <a:cs typeface="Arial"/>
              <a:sym typeface="Arial"/>
            </a:endParaRPr>
          </a:p>
        </p:txBody>
      </p:sp>
      <p:sp>
        <p:nvSpPr>
          <p:cNvPr id="665" name="Google Shape;665;g3ee94320d98_2_225"/>
          <p:cNvSpPr/>
          <p:nvPr/>
        </p:nvSpPr>
        <p:spPr>
          <a:xfrm>
            <a:off x="6155515" y="1746504"/>
            <a:ext cx="5579293" cy="2880360"/>
          </a:xfrm>
          <a:prstGeom prst="rect">
            <a:avLst/>
          </a:prstGeom>
          <a:solidFill>
            <a:srgbClr val="1E293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66" name="Google Shape;666;g3ee94320d98_2_225"/>
          <p:cNvSpPr txBox="1"/>
          <p:nvPr/>
        </p:nvSpPr>
        <p:spPr>
          <a:xfrm>
            <a:off x="6320150" y="1874520"/>
            <a:ext cx="5304901" cy="26791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50"/>
              <a:buFont typeface="Arial"/>
              <a:buNone/>
            </a:pPr>
            <a:r>
              <a:rPr b="0" i="0" lang="ko-KR" sz="950" u="none" cap="none" strike="noStrike">
                <a:solidFill>
                  <a:srgbClr val="64748B"/>
                </a:solidFill>
                <a:latin typeface="Calibri"/>
                <a:ea typeface="Calibri"/>
                <a:cs typeface="Calibri"/>
                <a:sym typeface="Calibri"/>
              </a:rPr>
              <a:t>// ICallable — Command 인터페이스</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7DD3FC"/>
                </a:solidFill>
                <a:latin typeface="Calibri"/>
                <a:ea typeface="Calibri"/>
                <a:cs typeface="Calibri"/>
                <a:sym typeface="Calibri"/>
              </a:rPr>
              <a:t>class ICallable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public:</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7DD3FC"/>
                </a:solidFill>
                <a:latin typeface="Calibri"/>
                <a:ea typeface="Calibri"/>
                <a:cs typeface="Calibri"/>
                <a:sym typeface="Calibri"/>
              </a:rPr>
              <a:t>    virtual int    arity() const          = 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7DD3FC"/>
                </a:solidFill>
                <a:latin typeface="Calibri"/>
                <a:ea typeface="Calibri"/>
                <a:cs typeface="Calibri"/>
                <a:sym typeface="Calibri"/>
              </a:rPr>
              <a:t>    virtual Value  call(Interpreter&amp;,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                   const vector&lt;Value&gt;&amp;)  = 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7DD3FC"/>
                </a:solidFill>
                <a:latin typeface="Calibri"/>
                <a:ea typeface="Calibri"/>
                <a:cs typeface="Calibri"/>
                <a:sym typeface="Calibri"/>
              </a:rPr>
              <a:t>    virtual string name()  const          = 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64748B"/>
                </a:solidFill>
                <a:latin typeface="Calibri"/>
                <a:ea typeface="Calibri"/>
                <a:cs typeface="Calibri"/>
                <a:sym typeface="Calibri"/>
              </a:rPr>
              <a:t>// 사용자 정의 함수 — 클로저 캡처</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7DD3FC"/>
                </a:solidFill>
                <a:latin typeface="Calibri"/>
                <a:ea typeface="Calibri"/>
                <a:cs typeface="Calibri"/>
                <a:sym typeface="Calibri"/>
              </a:rPr>
              <a:t>class LangFunction : public ICallable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    FunctionStmt&amp;   m_decl;    // 함수 AST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    shared_ptr&lt;Env&gt; m_closure; // 클로저 환경</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7DD3FC"/>
                </a:solidFill>
                <a:latin typeface="Calibri"/>
                <a:ea typeface="Calibri"/>
                <a:cs typeface="Calibri"/>
                <a:sym typeface="Calibri"/>
              </a:rPr>
              <a:t>class ArrayBuiltin : public ICallable {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t/>
            </a:r>
            <a:endParaRPr b="0" i="0" sz="950" u="none" cap="none" strike="noStrike">
              <a:solidFill>
                <a:srgbClr val="7DD3FC"/>
              </a:solidFill>
              <a:latin typeface="Calibri"/>
              <a:ea typeface="Calibri"/>
              <a:cs typeface="Calibri"/>
              <a:sym typeface="Calibri"/>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64748B"/>
                </a:solidFill>
                <a:latin typeface="Calibri"/>
                <a:ea typeface="Calibri"/>
                <a:cs typeface="Calibri"/>
                <a:sym typeface="Calibri"/>
              </a:rPr>
              <a:t>// Interpreter — 타입 무관, 단일 호출</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callable-&gt;call(*this, args);   // OCP 완전 준수</a:t>
            </a:r>
            <a:endParaRPr b="0" i="0" sz="1400" u="none" cap="none" strike="noStrike">
              <a:solidFill>
                <a:srgbClr val="000000"/>
              </a:solidFill>
              <a:latin typeface="Arial"/>
              <a:ea typeface="Arial"/>
              <a:cs typeface="Arial"/>
              <a:sym typeface="Arial"/>
            </a:endParaRPr>
          </a:p>
        </p:txBody>
      </p:sp>
      <p:sp>
        <p:nvSpPr>
          <p:cNvPr id="667" name="Google Shape;667;g3ee94320d98_2_225"/>
          <p:cNvSpPr txBox="1"/>
          <p:nvPr/>
        </p:nvSpPr>
        <p:spPr>
          <a:xfrm>
            <a:off x="6228686" y="4663440"/>
            <a:ext cx="5469536"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ko-KR" sz="1000" u="none" cap="none" strike="noStrike">
                <a:solidFill>
                  <a:srgbClr val="166A34"/>
                </a:solidFill>
                <a:latin typeface="Calibri"/>
                <a:ea typeface="Calibri"/>
                <a:cs typeface="Calibri"/>
                <a:sym typeface="Calibri"/>
              </a:rPr>
              <a:t>✅ ICallable 구현체 1개 추가만으로 새 함수 등록, Interpreter 무수정</a:t>
            </a:r>
            <a:endParaRPr b="0" i="0" sz="1400" u="none" cap="none" strike="noStrike">
              <a:solidFill>
                <a:srgbClr val="000000"/>
              </a:solidFill>
              <a:latin typeface="Arial"/>
              <a:ea typeface="Arial"/>
              <a:cs typeface="Arial"/>
              <a:sym typeface="Arial"/>
            </a:endParaRPr>
          </a:p>
        </p:txBody>
      </p:sp>
      <p:sp>
        <p:nvSpPr>
          <p:cNvPr id="668" name="Google Shape;668;g3ee94320d98_2_225"/>
          <p:cNvSpPr/>
          <p:nvPr/>
        </p:nvSpPr>
        <p:spPr>
          <a:xfrm>
            <a:off x="493905" y="5029200"/>
            <a:ext cx="11204318" cy="50292"/>
          </a:xfrm>
          <a:prstGeom prst="rect">
            <a:avLst/>
          </a:prstGeom>
          <a:solidFill>
            <a:srgbClr val="E2E8F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69" name="Google Shape;669;g3ee94320d98_2_225"/>
          <p:cNvSpPr/>
          <p:nvPr/>
        </p:nvSpPr>
        <p:spPr>
          <a:xfrm>
            <a:off x="365855" y="5120640"/>
            <a:ext cx="3548796" cy="1536192"/>
          </a:xfrm>
          <a:prstGeom prst="rect">
            <a:avLst/>
          </a:prstGeom>
          <a:solidFill>
            <a:srgbClr val="FFFFFF"/>
          </a:solidFill>
          <a:ln cap="flat" cmpd="sng" w="9525">
            <a:solidFill>
              <a:srgbClr val="CBD5E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70" name="Google Shape;670;g3ee94320d98_2_225"/>
          <p:cNvSpPr/>
          <p:nvPr/>
        </p:nvSpPr>
        <p:spPr>
          <a:xfrm>
            <a:off x="365855" y="5120640"/>
            <a:ext cx="3548796" cy="50292"/>
          </a:xfrm>
          <a:prstGeom prst="rect">
            <a:avLst/>
          </a:prstGeom>
          <a:solidFill>
            <a:srgbClr val="4F46E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71" name="Google Shape;671;g3ee94320d98_2_225"/>
          <p:cNvSpPr txBox="1"/>
          <p:nvPr/>
        </p:nvSpPr>
        <p:spPr>
          <a:xfrm>
            <a:off x="503051" y="5285232"/>
            <a:ext cx="3274405" cy="32004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ko-KR" sz="1400" u="none" cap="none" strike="noStrike">
                <a:solidFill>
                  <a:srgbClr val="0F172A"/>
                </a:solidFill>
                <a:latin typeface="Calibri"/>
                <a:ea typeface="Calibri"/>
                <a:cs typeface="Calibri"/>
                <a:sym typeface="Calibri"/>
              </a:rPr>
              <a:t>OCP 완벽 달성</a:t>
            </a:r>
            <a:endParaRPr b="0" i="0" sz="1400" u="none" cap="none" strike="noStrike">
              <a:solidFill>
                <a:srgbClr val="000000"/>
              </a:solidFill>
              <a:latin typeface="Arial"/>
              <a:ea typeface="Arial"/>
              <a:cs typeface="Arial"/>
              <a:sym typeface="Arial"/>
            </a:endParaRPr>
          </a:p>
        </p:txBody>
      </p:sp>
      <p:sp>
        <p:nvSpPr>
          <p:cNvPr id="672" name="Google Shape;672;g3ee94320d98_2_225"/>
          <p:cNvSpPr txBox="1"/>
          <p:nvPr/>
        </p:nvSpPr>
        <p:spPr>
          <a:xfrm>
            <a:off x="503051" y="5669280"/>
            <a:ext cx="3274405" cy="86868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ko-KR" sz="1100" u="none" cap="none" strike="noStrike">
                <a:solidFill>
                  <a:srgbClr val="334155"/>
                </a:solidFill>
                <a:latin typeface="Calibri"/>
                <a:ea typeface="Calibri"/>
                <a:cs typeface="Calibri"/>
                <a:sym typeface="Calibri"/>
              </a:rPr>
              <a:t>ICallable 구현체 1개 추가만으로 완성</a:t>
            </a:r>
            <a:br>
              <a:rPr b="0" i="0" lang="ko-KR" sz="1100" u="none" cap="none" strike="noStrike">
                <a:solidFill>
                  <a:srgbClr val="334155"/>
                </a:solidFill>
                <a:latin typeface="Calibri"/>
                <a:ea typeface="Calibri"/>
                <a:cs typeface="Calibri"/>
                <a:sym typeface="Calibri"/>
              </a:rPr>
            </a:br>
            <a:r>
              <a:rPr b="0" i="0" lang="ko-KR" sz="1100" u="none" cap="none" strike="noStrike">
                <a:solidFill>
                  <a:srgbClr val="334155"/>
                </a:solidFill>
                <a:latin typeface="Calibri"/>
                <a:ea typeface="Calibri"/>
                <a:cs typeface="Calibri"/>
                <a:sym typeface="Calibri"/>
              </a:rPr>
              <a:t>Interpreter::visitCallExpr() 코드 무수정</a:t>
            </a:r>
            <a:endParaRPr b="0" i="0" sz="1400" u="none" cap="none" strike="noStrike">
              <a:solidFill>
                <a:srgbClr val="000000"/>
              </a:solidFill>
              <a:latin typeface="Arial"/>
              <a:ea typeface="Arial"/>
              <a:cs typeface="Arial"/>
              <a:sym typeface="Arial"/>
            </a:endParaRPr>
          </a:p>
        </p:txBody>
      </p:sp>
      <p:sp>
        <p:nvSpPr>
          <p:cNvPr id="673" name="Google Shape;673;g3ee94320d98_2_225"/>
          <p:cNvSpPr/>
          <p:nvPr/>
        </p:nvSpPr>
        <p:spPr>
          <a:xfrm>
            <a:off x="4097579" y="5120640"/>
            <a:ext cx="3548796" cy="1536192"/>
          </a:xfrm>
          <a:prstGeom prst="rect">
            <a:avLst/>
          </a:prstGeom>
          <a:solidFill>
            <a:srgbClr val="FFFFFF"/>
          </a:solidFill>
          <a:ln cap="flat" cmpd="sng" w="9525">
            <a:solidFill>
              <a:srgbClr val="CBD5E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74" name="Google Shape;674;g3ee94320d98_2_225"/>
          <p:cNvSpPr/>
          <p:nvPr/>
        </p:nvSpPr>
        <p:spPr>
          <a:xfrm>
            <a:off x="4097579" y="5120640"/>
            <a:ext cx="3548796" cy="50292"/>
          </a:xfrm>
          <a:prstGeom prst="rect">
            <a:avLst/>
          </a:prstGeom>
          <a:solidFill>
            <a:srgbClr val="4F46E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75" name="Google Shape;675;g3ee94320d98_2_225"/>
          <p:cNvSpPr txBox="1"/>
          <p:nvPr/>
        </p:nvSpPr>
        <p:spPr>
          <a:xfrm>
            <a:off x="4234775" y="5285232"/>
            <a:ext cx="3274405" cy="32004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ko-KR" sz="1400" u="none" cap="none" strike="noStrike">
                <a:solidFill>
                  <a:srgbClr val="0F172A"/>
                </a:solidFill>
                <a:latin typeface="Calibri"/>
                <a:ea typeface="Calibri"/>
                <a:cs typeface="Calibri"/>
                <a:sym typeface="Calibri"/>
              </a:rPr>
              <a:t>SRP 준수</a:t>
            </a:r>
            <a:endParaRPr b="0" i="0" sz="1400" u="none" cap="none" strike="noStrike">
              <a:solidFill>
                <a:srgbClr val="000000"/>
              </a:solidFill>
              <a:latin typeface="Arial"/>
              <a:ea typeface="Arial"/>
              <a:cs typeface="Arial"/>
              <a:sym typeface="Arial"/>
            </a:endParaRPr>
          </a:p>
        </p:txBody>
      </p:sp>
      <p:sp>
        <p:nvSpPr>
          <p:cNvPr id="676" name="Google Shape;676;g3ee94320d98_2_225"/>
          <p:cNvSpPr txBox="1"/>
          <p:nvPr/>
        </p:nvSpPr>
        <p:spPr>
          <a:xfrm>
            <a:off x="4234775" y="5669280"/>
            <a:ext cx="3274405" cy="86868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ko-KR" sz="1100" u="none" cap="none" strike="noStrike">
                <a:solidFill>
                  <a:srgbClr val="334155"/>
                </a:solidFill>
                <a:latin typeface="Calibri"/>
                <a:ea typeface="Calibri"/>
                <a:cs typeface="Calibri"/>
                <a:sym typeface="Calibri"/>
              </a:rPr>
              <a:t>Interpreter는 '실행'만 담당</a:t>
            </a:r>
            <a:br>
              <a:rPr b="0" i="0" lang="ko-KR" sz="1100" u="none" cap="none" strike="noStrike">
                <a:solidFill>
                  <a:srgbClr val="334155"/>
                </a:solidFill>
                <a:latin typeface="Calibri"/>
                <a:ea typeface="Calibri"/>
                <a:cs typeface="Calibri"/>
                <a:sym typeface="Calibri"/>
              </a:rPr>
            </a:br>
            <a:r>
              <a:rPr b="0" i="0" lang="ko-KR" sz="1100" u="none" cap="none" strike="noStrike">
                <a:solidFill>
                  <a:srgbClr val="334155"/>
                </a:solidFill>
                <a:latin typeface="Calibri"/>
                <a:ea typeface="Calibri"/>
                <a:cs typeface="Calibri"/>
                <a:sym typeface="Calibri"/>
              </a:rPr>
              <a:t>LangFunction·ArrayBuiltin이 각자 호출 로직 보유</a:t>
            </a:r>
            <a:endParaRPr b="0" i="0" sz="1400" u="none" cap="none" strike="noStrike">
              <a:solidFill>
                <a:srgbClr val="000000"/>
              </a:solidFill>
              <a:latin typeface="Arial"/>
              <a:ea typeface="Arial"/>
              <a:cs typeface="Arial"/>
              <a:sym typeface="Arial"/>
            </a:endParaRPr>
          </a:p>
        </p:txBody>
      </p:sp>
      <p:sp>
        <p:nvSpPr>
          <p:cNvPr id="677" name="Google Shape;677;g3ee94320d98_2_225"/>
          <p:cNvSpPr/>
          <p:nvPr/>
        </p:nvSpPr>
        <p:spPr>
          <a:xfrm>
            <a:off x="7829303" y="5120640"/>
            <a:ext cx="3548796" cy="1536192"/>
          </a:xfrm>
          <a:prstGeom prst="rect">
            <a:avLst/>
          </a:prstGeom>
          <a:solidFill>
            <a:srgbClr val="FFFFFF"/>
          </a:solidFill>
          <a:ln cap="flat" cmpd="sng" w="9525">
            <a:solidFill>
              <a:srgbClr val="CBD5E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78" name="Google Shape;678;g3ee94320d98_2_225"/>
          <p:cNvSpPr/>
          <p:nvPr/>
        </p:nvSpPr>
        <p:spPr>
          <a:xfrm>
            <a:off x="7829303" y="5120640"/>
            <a:ext cx="3548796" cy="50292"/>
          </a:xfrm>
          <a:prstGeom prst="rect">
            <a:avLst/>
          </a:prstGeom>
          <a:solidFill>
            <a:srgbClr val="4F46E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79" name="Google Shape;679;g3ee94320d98_2_225"/>
          <p:cNvSpPr txBox="1"/>
          <p:nvPr/>
        </p:nvSpPr>
        <p:spPr>
          <a:xfrm>
            <a:off x="7966499" y="5285232"/>
            <a:ext cx="3274405" cy="32004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ko-KR" sz="1400" u="none" cap="none" strike="noStrike">
                <a:solidFill>
                  <a:srgbClr val="0F172A"/>
                </a:solidFill>
                <a:latin typeface="Calibri"/>
                <a:ea typeface="Calibri"/>
                <a:cs typeface="Calibri"/>
                <a:sym typeface="Calibri"/>
              </a:rPr>
              <a:t>LSP 준수</a:t>
            </a:r>
            <a:endParaRPr b="0" i="0" sz="1400" u="none" cap="none" strike="noStrike">
              <a:solidFill>
                <a:srgbClr val="000000"/>
              </a:solidFill>
              <a:latin typeface="Arial"/>
              <a:ea typeface="Arial"/>
              <a:cs typeface="Arial"/>
              <a:sym typeface="Arial"/>
            </a:endParaRPr>
          </a:p>
        </p:txBody>
      </p:sp>
      <p:sp>
        <p:nvSpPr>
          <p:cNvPr id="680" name="Google Shape;680;g3ee94320d98_2_225"/>
          <p:cNvSpPr txBox="1"/>
          <p:nvPr/>
        </p:nvSpPr>
        <p:spPr>
          <a:xfrm>
            <a:off x="7966499" y="5669280"/>
            <a:ext cx="3274405" cy="86868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ko-KR" sz="1100" u="none" cap="none" strike="noStrike">
                <a:solidFill>
                  <a:srgbClr val="334155"/>
                </a:solidFill>
                <a:latin typeface="Calibri"/>
                <a:ea typeface="Calibri"/>
                <a:cs typeface="Calibri"/>
                <a:sym typeface="Calibri"/>
              </a:rPr>
              <a:t>LangFunction·ArrayBuiltin이 ICallable 계약 동등 이행</a:t>
            </a:r>
            <a:br>
              <a:rPr b="0" i="0" lang="ko-KR" sz="1100" u="none" cap="none" strike="noStrike">
                <a:solidFill>
                  <a:srgbClr val="334155"/>
                </a:solidFill>
                <a:latin typeface="Calibri"/>
                <a:ea typeface="Calibri"/>
                <a:cs typeface="Calibri"/>
                <a:sym typeface="Calibri"/>
              </a:rPr>
            </a:br>
            <a:r>
              <a:rPr b="0" i="0" lang="ko-KR" sz="1100" u="none" cap="none" strike="noStrike">
                <a:solidFill>
                  <a:srgbClr val="334155"/>
                </a:solidFill>
                <a:latin typeface="Calibri"/>
                <a:ea typeface="Calibri"/>
                <a:cs typeface="Calibri"/>
                <a:sym typeface="Calibri"/>
              </a:rPr>
              <a:t>Value 내에서 동등하게 보관·전달·호출 가능</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sp>
        <p:nvSpPr>
          <p:cNvPr id="685" name="Google Shape;685;g3ee94320d98_2_256"/>
          <p:cNvSpPr txBox="1"/>
          <p:nvPr/>
        </p:nvSpPr>
        <p:spPr>
          <a:xfrm>
            <a:off x="493905" y="256032"/>
            <a:ext cx="8414671" cy="5943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ko-KR" sz="2800" u="none" cap="none" strike="noStrike">
                <a:solidFill>
                  <a:srgbClr val="0F172A"/>
                </a:solidFill>
                <a:latin typeface="Calibri"/>
                <a:ea typeface="Calibri"/>
                <a:cs typeface="Calibri"/>
                <a:sym typeface="Calibri"/>
              </a:rPr>
              <a:t>BP 04.  생성 패턴: Fluent Builder</a:t>
            </a:r>
            <a:endParaRPr b="0" i="0" sz="1400" u="none" cap="none" strike="noStrike">
              <a:solidFill>
                <a:srgbClr val="000000"/>
              </a:solidFill>
              <a:latin typeface="Arial"/>
              <a:ea typeface="Arial"/>
              <a:cs typeface="Arial"/>
              <a:sym typeface="Arial"/>
            </a:endParaRPr>
          </a:p>
        </p:txBody>
      </p:sp>
      <p:sp>
        <p:nvSpPr>
          <p:cNvPr id="686" name="Google Shape;686;g3ee94320d98_2_256"/>
          <p:cNvSpPr/>
          <p:nvPr/>
        </p:nvSpPr>
        <p:spPr>
          <a:xfrm>
            <a:off x="493905" y="886968"/>
            <a:ext cx="11204318" cy="50292"/>
          </a:xfrm>
          <a:prstGeom prst="rect">
            <a:avLst/>
          </a:prstGeom>
          <a:solidFill>
            <a:srgbClr val="E2E8F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87" name="Google Shape;687;g3ee94320d98_2_256"/>
          <p:cNvSpPr txBox="1"/>
          <p:nvPr/>
        </p:nvSpPr>
        <p:spPr>
          <a:xfrm>
            <a:off x="493905" y="978408"/>
            <a:ext cx="7865888"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0" i="0" lang="ko-KR" sz="1300" u="none" cap="none" strike="noStrike">
                <a:solidFill>
                  <a:srgbClr val="64748B"/>
                </a:solidFill>
                <a:latin typeface="Calibri"/>
                <a:ea typeface="Calibri"/>
                <a:cs typeface="Calibri"/>
                <a:sym typeface="Calibri"/>
              </a:rPr>
              <a:t>TokenStreamBuilder — 메서드 체이닝을 통한 문법 흐름의 직관적 표현</a:t>
            </a:r>
            <a:endParaRPr b="0" i="0" sz="1400" u="none" cap="none" strike="noStrike">
              <a:solidFill>
                <a:srgbClr val="000000"/>
              </a:solidFill>
              <a:latin typeface="Arial"/>
              <a:ea typeface="Arial"/>
              <a:cs typeface="Arial"/>
              <a:sym typeface="Arial"/>
            </a:endParaRPr>
          </a:p>
        </p:txBody>
      </p:sp>
      <p:sp>
        <p:nvSpPr>
          <p:cNvPr id="688" name="Google Shape;688;g3ee94320d98_2_256"/>
          <p:cNvSpPr/>
          <p:nvPr/>
        </p:nvSpPr>
        <p:spPr>
          <a:xfrm>
            <a:off x="8807966" y="566928"/>
            <a:ext cx="3018306" cy="329184"/>
          </a:xfrm>
          <a:prstGeom prst="rect">
            <a:avLst/>
          </a:prstGeom>
          <a:solidFill>
            <a:srgbClr val="1E293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89" name="Google Shape;689;g3ee94320d98_2_256"/>
          <p:cNvSpPr txBox="1"/>
          <p:nvPr/>
        </p:nvSpPr>
        <p:spPr>
          <a:xfrm>
            <a:off x="8807966" y="566928"/>
            <a:ext cx="3018306" cy="2616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ko-KR" sz="1100" u="none" cap="none" strike="noStrike">
                <a:solidFill>
                  <a:srgbClr val="FFFFFF"/>
                </a:solidFill>
                <a:latin typeface="Calibri"/>
                <a:ea typeface="Calibri"/>
                <a:cs typeface="Calibri"/>
                <a:sym typeface="Calibri"/>
              </a:rPr>
              <a:t>☆  핵심 SOLID 원칙: SRP (단일 책임 원칙)</a:t>
            </a:r>
            <a:endParaRPr b="0" i="0" sz="1400" u="none" cap="none" strike="noStrike">
              <a:solidFill>
                <a:srgbClr val="000000"/>
              </a:solidFill>
              <a:latin typeface="Arial"/>
              <a:ea typeface="Arial"/>
              <a:cs typeface="Arial"/>
              <a:sym typeface="Arial"/>
            </a:endParaRPr>
          </a:p>
        </p:txBody>
      </p:sp>
      <p:sp>
        <p:nvSpPr>
          <p:cNvPr id="690" name="Google Shape;690;g3ee94320d98_2_256"/>
          <p:cNvSpPr/>
          <p:nvPr/>
        </p:nvSpPr>
        <p:spPr>
          <a:xfrm>
            <a:off x="365855" y="1325880"/>
            <a:ext cx="5579293" cy="420624"/>
          </a:xfrm>
          <a:prstGeom prst="rect">
            <a:avLst/>
          </a:prstGeom>
          <a:solidFill>
            <a:srgbClr val="DC262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91" name="Google Shape;691;g3ee94320d98_2_256"/>
          <p:cNvSpPr txBox="1"/>
          <p:nvPr/>
        </p:nvSpPr>
        <p:spPr>
          <a:xfrm>
            <a:off x="530490" y="1380744"/>
            <a:ext cx="5378073" cy="3291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1" i="0" lang="ko-KR" sz="1300" u="none" cap="none" strike="noStrike">
                <a:solidFill>
                  <a:srgbClr val="FFFFFF"/>
                </a:solidFill>
                <a:latin typeface="Calibri"/>
                <a:ea typeface="Calibri"/>
                <a:cs typeface="Calibri"/>
                <a:sym typeface="Calibri"/>
              </a:rPr>
              <a:t>✕  As-Is: 함수 + 초기화 리스트 방식 (ParserUnit)</a:t>
            </a:r>
            <a:endParaRPr b="0" i="0" sz="1400" u="none" cap="none" strike="noStrike">
              <a:solidFill>
                <a:srgbClr val="000000"/>
              </a:solidFill>
              <a:latin typeface="Arial"/>
              <a:ea typeface="Arial"/>
              <a:cs typeface="Arial"/>
              <a:sym typeface="Arial"/>
            </a:endParaRPr>
          </a:p>
        </p:txBody>
      </p:sp>
      <p:sp>
        <p:nvSpPr>
          <p:cNvPr id="692" name="Google Shape;692;g3ee94320d98_2_256"/>
          <p:cNvSpPr/>
          <p:nvPr/>
        </p:nvSpPr>
        <p:spPr>
          <a:xfrm>
            <a:off x="365855" y="1746504"/>
            <a:ext cx="5579293" cy="2880360"/>
          </a:xfrm>
          <a:prstGeom prst="rect">
            <a:avLst/>
          </a:prstGeom>
          <a:solidFill>
            <a:srgbClr val="1E293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93" name="Google Shape;693;g3ee94320d98_2_256"/>
          <p:cNvSpPr txBox="1"/>
          <p:nvPr/>
        </p:nvSpPr>
        <p:spPr>
          <a:xfrm>
            <a:off x="530490" y="1874520"/>
            <a:ext cx="5304901" cy="26791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50"/>
              <a:buFont typeface="Arial"/>
              <a:buNone/>
            </a:pPr>
            <a:r>
              <a:rPr b="0" i="0" lang="ko-KR" sz="950" u="none" cap="none" strike="noStrike">
                <a:solidFill>
                  <a:srgbClr val="64748B"/>
                </a:solidFill>
                <a:latin typeface="Calibri"/>
                <a:ea typeface="Calibri"/>
                <a:cs typeface="Calibri"/>
                <a:sym typeface="Calibri"/>
              </a:rPr>
              <a:t>// "for (var i=0; i&lt;3; i=i+1)" 파싱 예시</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7DD3FC"/>
                </a:solidFill>
                <a:latin typeface="Calibri"/>
                <a:ea typeface="Calibri"/>
                <a:cs typeface="Calibri"/>
                <a:sym typeface="Calibri"/>
              </a:rPr>
              <a:t>auto stmts = parse(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  {t(TokenType::KW_FOR,       "for"),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   t(TokenType::LEFT_PAREN,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   t(TokenType::KW_VAR,       "var"),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   t(TokenType::IDENTIFIER,   "i"),</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   t(TokenType::EQUAL,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   t(TokenType::NUMBER,       "0", 0.0),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   t(TokenType::SEMICOLON,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64748B"/>
                </a:solidFill>
                <a:latin typeface="Calibri"/>
                <a:ea typeface="Calibri"/>
                <a:cs typeface="Calibri"/>
                <a:sym typeface="Calibri"/>
              </a:rPr>
              <a:t>   // ... 조건식·증감식 토큰 나열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   t(TokenType::KW_PRINT,     "print"),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   t(TokenType::IDENTIFIER,   "i"),</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   t(TokenType::SEMICOLON,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   t(TokenType::END_OF_FILE,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694" name="Google Shape;694;g3ee94320d98_2_256"/>
          <p:cNvSpPr txBox="1"/>
          <p:nvPr/>
        </p:nvSpPr>
        <p:spPr>
          <a:xfrm>
            <a:off x="439026" y="4663440"/>
            <a:ext cx="5469536"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ko-KR" sz="1000" u="none" cap="none" strike="noStrike">
                <a:solidFill>
                  <a:srgbClr val="B45C09"/>
                </a:solidFill>
                <a:latin typeface="Calibri"/>
                <a:ea typeface="Calibri"/>
                <a:cs typeface="Calibri"/>
                <a:sym typeface="Calibri"/>
              </a:rPr>
              <a:t>⚠ 타입-리터럴 형식 및 중복 패턴에서 구분하기 무분별하게 반복됨</a:t>
            </a:r>
            <a:endParaRPr b="0" i="0" sz="1400" u="none" cap="none" strike="noStrike">
              <a:solidFill>
                <a:srgbClr val="000000"/>
              </a:solidFill>
              <a:latin typeface="Arial"/>
              <a:ea typeface="Arial"/>
              <a:cs typeface="Arial"/>
              <a:sym typeface="Arial"/>
            </a:endParaRPr>
          </a:p>
        </p:txBody>
      </p:sp>
      <p:sp>
        <p:nvSpPr>
          <p:cNvPr id="695" name="Google Shape;695;g3ee94320d98_2_256"/>
          <p:cNvSpPr/>
          <p:nvPr/>
        </p:nvSpPr>
        <p:spPr>
          <a:xfrm>
            <a:off x="6155515" y="1325880"/>
            <a:ext cx="5579293" cy="420624"/>
          </a:xfrm>
          <a:prstGeom prst="rect">
            <a:avLst/>
          </a:prstGeom>
          <a:solidFill>
            <a:srgbClr val="16A3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96" name="Google Shape;696;g3ee94320d98_2_256"/>
          <p:cNvSpPr txBox="1"/>
          <p:nvPr/>
        </p:nvSpPr>
        <p:spPr>
          <a:xfrm>
            <a:off x="6320150" y="1380744"/>
            <a:ext cx="5378073" cy="3291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1" i="0" lang="ko-KR" sz="1300" u="none" cap="none" strike="noStrike">
                <a:solidFill>
                  <a:srgbClr val="FFFFFF"/>
                </a:solidFill>
                <a:latin typeface="Calibri"/>
                <a:ea typeface="Calibri"/>
                <a:cs typeface="Calibri"/>
                <a:sym typeface="Calibri"/>
              </a:rPr>
              <a:t>✓  To-Be: TokenStreamBuilder Fluent 방식 (ParserBuilder)</a:t>
            </a:r>
            <a:endParaRPr b="0" i="0" sz="1400" u="none" cap="none" strike="noStrike">
              <a:solidFill>
                <a:srgbClr val="000000"/>
              </a:solidFill>
              <a:latin typeface="Arial"/>
              <a:ea typeface="Arial"/>
              <a:cs typeface="Arial"/>
              <a:sym typeface="Arial"/>
            </a:endParaRPr>
          </a:p>
        </p:txBody>
      </p:sp>
      <p:sp>
        <p:nvSpPr>
          <p:cNvPr id="697" name="Google Shape;697;g3ee94320d98_2_256"/>
          <p:cNvSpPr/>
          <p:nvPr/>
        </p:nvSpPr>
        <p:spPr>
          <a:xfrm>
            <a:off x="6155515" y="1746504"/>
            <a:ext cx="5579293" cy="2880360"/>
          </a:xfrm>
          <a:prstGeom prst="rect">
            <a:avLst/>
          </a:prstGeom>
          <a:solidFill>
            <a:srgbClr val="1E293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98" name="Google Shape;698;g3ee94320d98_2_256"/>
          <p:cNvSpPr txBox="1"/>
          <p:nvPr/>
        </p:nvSpPr>
        <p:spPr>
          <a:xfrm>
            <a:off x="6320150" y="1874520"/>
            <a:ext cx="5304901" cy="26791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50"/>
              <a:buFont typeface="Arial"/>
              <a:buNone/>
            </a:pPr>
            <a:r>
              <a:rPr b="0" i="0" lang="ko-KR" sz="950" u="none" cap="none" strike="noStrike">
                <a:solidFill>
                  <a:srgbClr val="64748B"/>
                </a:solidFill>
                <a:latin typeface="Calibri"/>
                <a:ea typeface="Calibri"/>
                <a:cs typeface="Calibri"/>
                <a:sym typeface="Calibri"/>
              </a:rPr>
              <a:t>// 메서드 체이닝으로 문법 구조를 직관적 표현</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7DD3FC"/>
                </a:solidFill>
                <a:latin typeface="Calibri"/>
                <a:ea typeface="Calibri"/>
                <a:cs typeface="Calibri"/>
                <a:sym typeface="Calibri"/>
              </a:rPr>
              <a:t>auto tokens = TokenStreamBuilder()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    .kw_for()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    .varDecl("i", 0.0)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    .condition(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        identifier("i").less().number(3.0))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    .increment(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        identifier("i").plus().number(1.0))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    .body({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        print(identifier("i"))</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    .semicolon()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    .eof()</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    .build();</a:t>
            </a:r>
            <a:endParaRPr b="0" i="0" sz="1400" u="none" cap="none" strike="noStrike">
              <a:solidFill>
                <a:srgbClr val="000000"/>
              </a:solidFill>
              <a:latin typeface="Arial"/>
              <a:ea typeface="Arial"/>
              <a:cs typeface="Arial"/>
              <a:sym typeface="Arial"/>
            </a:endParaRPr>
          </a:p>
        </p:txBody>
      </p:sp>
      <p:sp>
        <p:nvSpPr>
          <p:cNvPr id="699" name="Google Shape;699;g3ee94320d98_2_256"/>
          <p:cNvSpPr txBox="1"/>
          <p:nvPr/>
        </p:nvSpPr>
        <p:spPr>
          <a:xfrm>
            <a:off x="6228686" y="4663440"/>
            <a:ext cx="5469536"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ko-KR" sz="1000" u="none" cap="none" strike="noStrike">
                <a:solidFill>
                  <a:srgbClr val="166A34"/>
                </a:solidFill>
                <a:latin typeface="Calibri"/>
                <a:ea typeface="Calibri"/>
                <a:cs typeface="Calibri"/>
                <a:sym typeface="Calibri"/>
              </a:rPr>
              <a:t>✅ 테스트 의도가 코드 구조와 1:1 매핑되어 빠르게 파악 가능</a:t>
            </a:r>
            <a:endParaRPr b="0" i="0" sz="1400" u="none" cap="none" strike="noStrike">
              <a:solidFill>
                <a:srgbClr val="000000"/>
              </a:solidFill>
              <a:latin typeface="Arial"/>
              <a:ea typeface="Arial"/>
              <a:cs typeface="Arial"/>
              <a:sym typeface="Arial"/>
            </a:endParaRPr>
          </a:p>
        </p:txBody>
      </p:sp>
      <p:sp>
        <p:nvSpPr>
          <p:cNvPr id="700" name="Google Shape;700;g3ee94320d98_2_256"/>
          <p:cNvSpPr/>
          <p:nvPr/>
        </p:nvSpPr>
        <p:spPr>
          <a:xfrm>
            <a:off x="493905" y="5029200"/>
            <a:ext cx="11204318" cy="50292"/>
          </a:xfrm>
          <a:prstGeom prst="rect">
            <a:avLst/>
          </a:prstGeom>
          <a:solidFill>
            <a:srgbClr val="E2E8F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01" name="Google Shape;701;g3ee94320d98_2_256"/>
          <p:cNvSpPr/>
          <p:nvPr/>
        </p:nvSpPr>
        <p:spPr>
          <a:xfrm>
            <a:off x="365855" y="5120640"/>
            <a:ext cx="3548796" cy="1536192"/>
          </a:xfrm>
          <a:prstGeom prst="rect">
            <a:avLst/>
          </a:prstGeom>
          <a:solidFill>
            <a:srgbClr val="FFFFFF"/>
          </a:solidFill>
          <a:ln cap="flat" cmpd="sng" w="9525">
            <a:solidFill>
              <a:srgbClr val="CBD5E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02" name="Google Shape;702;g3ee94320d98_2_256"/>
          <p:cNvSpPr/>
          <p:nvPr/>
        </p:nvSpPr>
        <p:spPr>
          <a:xfrm>
            <a:off x="365855" y="5120640"/>
            <a:ext cx="3548796" cy="50292"/>
          </a:xfrm>
          <a:prstGeom prst="rect">
            <a:avLst/>
          </a:prstGeom>
          <a:solidFill>
            <a:srgbClr val="4F46E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03" name="Google Shape;703;g3ee94320d98_2_256"/>
          <p:cNvSpPr txBox="1"/>
          <p:nvPr/>
        </p:nvSpPr>
        <p:spPr>
          <a:xfrm>
            <a:off x="503051" y="5285232"/>
            <a:ext cx="3274405" cy="32004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ko-KR" sz="1400" u="none" cap="none" strike="noStrike">
                <a:solidFill>
                  <a:srgbClr val="0F172A"/>
                </a:solidFill>
                <a:latin typeface="Calibri"/>
                <a:ea typeface="Calibri"/>
                <a:cs typeface="Calibri"/>
                <a:sym typeface="Calibri"/>
              </a:rPr>
              <a:t>가독성 확인</a:t>
            </a:r>
            <a:endParaRPr b="0" i="0" sz="1400" u="none" cap="none" strike="noStrike">
              <a:solidFill>
                <a:srgbClr val="000000"/>
              </a:solidFill>
              <a:latin typeface="Arial"/>
              <a:ea typeface="Arial"/>
              <a:cs typeface="Arial"/>
              <a:sym typeface="Arial"/>
            </a:endParaRPr>
          </a:p>
        </p:txBody>
      </p:sp>
      <p:sp>
        <p:nvSpPr>
          <p:cNvPr id="704" name="Google Shape;704;g3ee94320d98_2_256"/>
          <p:cNvSpPr txBox="1"/>
          <p:nvPr/>
        </p:nvSpPr>
        <p:spPr>
          <a:xfrm>
            <a:off x="503051" y="5669280"/>
            <a:ext cx="3274405" cy="86868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ko-KR" sz="1100" u="none" cap="none" strike="noStrike">
                <a:solidFill>
                  <a:srgbClr val="334155"/>
                </a:solidFill>
                <a:latin typeface="Calibri"/>
                <a:ea typeface="Calibri"/>
                <a:cs typeface="Calibri"/>
                <a:sym typeface="Calibri"/>
              </a:rPr>
              <a:t>구문 흐름이 코드 형태 그대로 투영</a:t>
            </a:r>
            <a:br>
              <a:rPr b="0" i="0" lang="ko-KR" sz="1100" u="none" cap="none" strike="noStrike">
                <a:solidFill>
                  <a:srgbClr val="334155"/>
                </a:solidFill>
                <a:latin typeface="Calibri"/>
                <a:ea typeface="Calibri"/>
                <a:cs typeface="Calibri"/>
                <a:sym typeface="Calibri"/>
              </a:rPr>
            </a:br>
            <a:r>
              <a:rPr b="0" i="0" lang="ko-KR" sz="1100" u="none" cap="none" strike="noStrike">
                <a:solidFill>
                  <a:srgbClr val="334155"/>
                </a:solidFill>
                <a:latin typeface="Calibri"/>
                <a:ea typeface="Calibri"/>
                <a:cs typeface="Calibri"/>
                <a:sym typeface="Calibri"/>
              </a:rPr>
              <a:t>테스트 목적을 한 눈에 파악 가능</a:t>
            </a:r>
            <a:endParaRPr b="0" i="0" sz="1400" u="none" cap="none" strike="noStrike">
              <a:solidFill>
                <a:srgbClr val="000000"/>
              </a:solidFill>
              <a:latin typeface="Arial"/>
              <a:ea typeface="Arial"/>
              <a:cs typeface="Arial"/>
              <a:sym typeface="Arial"/>
            </a:endParaRPr>
          </a:p>
        </p:txBody>
      </p:sp>
      <p:sp>
        <p:nvSpPr>
          <p:cNvPr id="705" name="Google Shape;705;g3ee94320d98_2_256"/>
          <p:cNvSpPr/>
          <p:nvPr/>
        </p:nvSpPr>
        <p:spPr>
          <a:xfrm>
            <a:off x="4097579" y="5120640"/>
            <a:ext cx="3548796" cy="1536192"/>
          </a:xfrm>
          <a:prstGeom prst="rect">
            <a:avLst/>
          </a:prstGeom>
          <a:solidFill>
            <a:srgbClr val="FFFFFF"/>
          </a:solidFill>
          <a:ln cap="flat" cmpd="sng" w="9525">
            <a:solidFill>
              <a:srgbClr val="CBD5E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06" name="Google Shape;706;g3ee94320d98_2_256"/>
          <p:cNvSpPr/>
          <p:nvPr/>
        </p:nvSpPr>
        <p:spPr>
          <a:xfrm>
            <a:off x="4097579" y="5120640"/>
            <a:ext cx="3548796" cy="50292"/>
          </a:xfrm>
          <a:prstGeom prst="rect">
            <a:avLst/>
          </a:prstGeom>
          <a:solidFill>
            <a:srgbClr val="4F46E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07" name="Google Shape;707;g3ee94320d98_2_256"/>
          <p:cNvSpPr txBox="1"/>
          <p:nvPr/>
        </p:nvSpPr>
        <p:spPr>
          <a:xfrm>
            <a:off x="4234775" y="5285232"/>
            <a:ext cx="3274405" cy="32004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ko-KR" sz="1400" u="none" cap="none" strike="noStrike">
                <a:solidFill>
                  <a:srgbClr val="0F172A"/>
                </a:solidFill>
                <a:latin typeface="Calibri"/>
                <a:ea typeface="Calibri"/>
                <a:cs typeface="Calibri"/>
                <a:sym typeface="Calibri"/>
              </a:rPr>
              <a:t>SRP 달성</a:t>
            </a:r>
            <a:endParaRPr b="0" i="0" sz="1400" u="none" cap="none" strike="noStrike">
              <a:solidFill>
                <a:srgbClr val="000000"/>
              </a:solidFill>
              <a:latin typeface="Arial"/>
              <a:ea typeface="Arial"/>
              <a:cs typeface="Arial"/>
              <a:sym typeface="Arial"/>
            </a:endParaRPr>
          </a:p>
        </p:txBody>
      </p:sp>
      <p:sp>
        <p:nvSpPr>
          <p:cNvPr id="708" name="Google Shape;708;g3ee94320d98_2_256"/>
          <p:cNvSpPr txBox="1"/>
          <p:nvPr/>
        </p:nvSpPr>
        <p:spPr>
          <a:xfrm>
            <a:off x="4234775" y="5669280"/>
            <a:ext cx="3274405" cy="86868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ko-KR" sz="1100" u="none" cap="none" strike="noStrike">
                <a:solidFill>
                  <a:srgbClr val="334155"/>
                </a:solidFill>
                <a:latin typeface="Calibri"/>
                <a:ea typeface="Calibri"/>
                <a:cs typeface="Calibri"/>
                <a:sym typeface="Calibri"/>
              </a:rPr>
              <a:t>테스트 설정 코드와 비즈니스 로직의</a:t>
            </a:r>
            <a:br>
              <a:rPr b="0" i="0" lang="ko-KR" sz="1100" u="none" cap="none" strike="noStrike">
                <a:solidFill>
                  <a:srgbClr val="334155"/>
                </a:solidFill>
                <a:latin typeface="Calibri"/>
                <a:ea typeface="Calibri"/>
                <a:cs typeface="Calibri"/>
                <a:sym typeface="Calibri"/>
              </a:rPr>
            </a:br>
            <a:r>
              <a:rPr b="0" i="0" lang="ko-KR" sz="1100" u="none" cap="none" strike="noStrike">
                <a:solidFill>
                  <a:srgbClr val="334155"/>
                </a:solidFill>
                <a:latin typeface="Calibri"/>
                <a:ea typeface="Calibri"/>
                <a:cs typeface="Calibri"/>
                <a:sym typeface="Calibri"/>
              </a:rPr>
              <a:t>명확한 책임 분리</a:t>
            </a:r>
            <a:endParaRPr b="0" i="0" sz="1400" u="none" cap="none" strike="noStrike">
              <a:solidFill>
                <a:srgbClr val="000000"/>
              </a:solidFill>
              <a:latin typeface="Arial"/>
              <a:ea typeface="Arial"/>
              <a:cs typeface="Arial"/>
              <a:sym typeface="Arial"/>
            </a:endParaRPr>
          </a:p>
        </p:txBody>
      </p:sp>
      <p:sp>
        <p:nvSpPr>
          <p:cNvPr id="709" name="Google Shape;709;g3ee94320d98_2_256"/>
          <p:cNvSpPr/>
          <p:nvPr/>
        </p:nvSpPr>
        <p:spPr>
          <a:xfrm>
            <a:off x="7829303" y="5120640"/>
            <a:ext cx="3548796" cy="1536192"/>
          </a:xfrm>
          <a:prstGeom prst="rect">
            <a:avLst/>
          </a:prstGeom>
          <a:solidFill>
            <a:srgbClr val="FFFFFF"/>
          </a:solidFill>
          <a:ln cap="flat" cmpd="sng" w="9525">
            <a:solidFill>
              <a:srgbClr val="CBD5E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10" name="Google Shape;710;g3ee94320d98_2_256"/>
          <p:cNvSpPr/>
          <p:nvPr/>
        </p:nvSpPr>
        <p:spPr>
          <a:xfrm>
            <a:off x="7829303" y="5120640"/>
            <a:ext cx="3548796" cy="50292"/>
          </a:xfrm>
          <a:prstGeom prst="rect">
            <a:avLst/>
          </a:prstGeom>
          <a:solidFill>
            <a:srgbClr val="4F46E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11" name="Google Shape;711;g3ee94320d98_2_256"/>
          <p:cNvSpPr txBox="1"/>
          <p:nvPr/>
        </p:nvSpPr>
        <p:spPr>
          <a:xfrm>
            <a:off x="7966499" y="5285232"/>
            <a:ext cx="3274405" cy="32004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ko-KR" sz="1400" u="none" cap="none" strike="noStrike">
                <a:solidFill>
                  <a:srgbClr val="0F172A"/>
                </a:solidFill>
                <a:latin typeface="Calibri"/>
                <a:ea typeface="Calibri"/>
                <a:cs typeface="Calibri"/>
                <a:sym typeface="Calibri"/>
              </a:rPr>
              <a:t>코드 품질</a:t>
            </a:r>
            <a:endParaRPr b="0" i="0" sz="1400" u="none" cap="none" strike="noStrike">
              <a:solidFill>
                <a:srgbClr val="000000"/>
              </a:solidFill>
              <a:latin typeface="Arial"/>
              <a:ea typeface="Arial"/>
              <a:cs typeface="Arial"/>
              <a:sym typeface="Arial"/>
            </a:endParaRPr>
          </a:p>
        </p:txBody>
      </p:sp>
      <p:sp>
        <p:nvSpPr>
          <p:cNvPr id="712" name="Google Shape;712;g3ee94320d98_2_256"/>
          <p:cNvSpPr txBox="1"/>
          <p:nvPr/>
        </p:nvSpPr>
        <p:spPr>
          <a:xfrm>
            <a:off x="7966499" y="5669280"/>
            <a:ext cx="3274405" cy="86868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ko-KR" sz="1100" u="none" cap="none" strike="noStrike">
                <a:solidFill>
                  <a:srgbClr val="334155"/>
                </a:solidFill>
                <a:latin typeface="Calibri"/>
                <a:ea typeface="Calibri"/>
                <a:cs typeface="Calibri"/>
                <a:sym typeface="Calibri"/>
              </a:rPr>
              <a:t>add() 메서드 체이닝 구조로</a:t>
            </a:r>
            <a:br>
              <a:rPr b="0" i="0" lang="ko-KR" sz="1100" u="none" cap="none" strike="noStrike">
                <a:solidFill>
                  <a:srgbClr val="334155"/>
                </a:solidFill>
                <a:latin typeface="Calibri"/>
                <a:ea typeface="Calibri"/>
                <a:cs typeface="Calibri"/>
                <a:sym typeface="Calibri"/>
              </a:rPr>
            </a:br>
            <a:r>
              <a:rPr b="0" i="0" lang="ko-KR" sz="1100" u="none" cap="none" strike="noStrike">
                <a:solidFill>
                  <a:srgbClr val="334155"/>
                </a:solidFill>
                <a:latin typeface="Calibri"/>
                <a:ea typeface="Calibri"/>
                <a:cs typeface="Calibri"/>
                <a:sym typeface="Calibri"/>
              </a:rPr>
              <a:t>중복 제거 및 오류 발생 원천 차단</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6" name="Shape 716"/>
        <p:cNvGrpSpPr/>
        <p:nvPr/>
      </p:nvGrpSpPr>
      <p:grpSpPr>
        <a:xfrm>
          <a:off x="0" y="0"/>
          <a:ext cx="0" cy="0"/>
          <a:chOff x="0" y="0"/>
          <a:chExt cx="0" cy="0"/>
        </a:xfrm>
      </p:grpSpPr>
      <p:sp>
        <p:nvSpPr>
          <p:cNvPr id="717" name="Google Shape;717;g3ee94320d98_2_287"/>
          <p:cNvSpPr txBox="1"/>
          <p:nvPr/>
        </p:nvSpPr>
        <p:spPr>
          <a:xfrm>
            <a:off x="493905" y="256032"/>
            <a:ext cx="8414671" cy="5943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ko-KR" sz="2800" u="none" cap="none" strike="noStrike">
                <a:solidFill>
                  <a:srgbClr val="0F172A"/>
                </a:solidFill>
                <a:latin typeface="Calibri"/>
                <a:ea typeface="Calibri"/>
                <a:cs typeface="Calibri"/>
                <a:sym typeface="Calibri"/>
              </a:rPr>
              <a:t>BP 05.  구조 패턴: Adapter &amp; Proxy</a:t>
            </a:r>
            <a:endParaRPr b="0" i="0" sz="1400" u="none" cap="none" strike="noStrike">
              <a:solidFill>
                <a:srgbClr val="000000"/>
              </a:solidFill>
              <a:latin typeface="Arial"/>
              <a:ea typeface="Arial"/>
              <a:cs typeface="Arial"/>
              <a:sym typeface="Arial"/>
            </a:endParaRPr>
          </a:p>
        </p:txBody>
      </p:sp>
      <p:sp>
        <p:nvSpPr>
          <p:cNvPr id="718" name="Google Shape;718;g3ee94320d98_2_287"/>
          <p:cNvSpPr/>
          <p:nvPr/>
        </p:nvSpPr>
        <p:spPr>
          <a:xfrm>
            <a:off x="493905" y="886968"/>
            <a:ext cx="11204318" cy="50292"/>
          </a:xfrm>
          <a:prstGeom prst="rect">
            <a:avLst/>
          </a:prstGeom>
          <a:solidFill>
            <a:srgbClr val="E2E8F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19" name="Google Shape;719;g3ee94320d98_2_287"/>
          <p:cNvSpPr txBox="1"/>
          <p:nvPr/>
        </p:nvSpPr>
        <p:spPr>
          <a:xfrm>
            <a:off x="493905" y="978408"/>
            <a:ext cx="7865888"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0" i="0" lang="ko-KR" sz="1300" u="none" cap="none" strike="noStrike">
                <a:solidFill>
                  <a:srgbClr val="64748B"/>
                </a:solidFill>
                <a:latin typeface="Calibri"/>
                <a:ea typeface="Calibri"/>
                <a:cs typeface="Calibri"/>
                <a:sym typeface="Calibri"/>
              </a:rPr>
              <a:t>책임 분리 및 전단 방어벽 조성을 통한 핵심 파서 엔진 보호</a:t>
            </a:r>
            <a:endParaRPr b="0" i="0" sz="1400" u="none" cap="none" strike="noStrike">
              <a:solidFill>
                <a:srgbClr val="000000"/>
              </a:solidFill>
              <a:latin typeface="Arial"/>
              <a:ea typeface="Arial"/>
              <a:cs typeface="Arial"/>
              <a:sym typeface="Arial"/>
            </a:endParaRPr>
          </a:p>
        </p:txBody>
      </p:sp>
      <p:sp>
        <p:nvSpPr>
          <p:cNvPr id="720" name="Google Shape;720;g3ee94320d98_2_287"/>
          <p:cNvSpPr/>
          <p:nvPr/>
        </p:nvSpPr>
        <p:spPr>
          <a:xfrm>
            <a:off x="8807966" y="566928"/>
            <a:ext cx="3018306" cy="329184"/>
          </a:xfrm>
          <a:prstGeom prst="rect">
            <a:avLst/>
          </a:prstGeom>
          <a:solidFill>
            <a:srgbClr val="1E293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21" name="Google Shape;721;g3ee94320d98_2_287"/>
          <p:cNvSpPr txBox="1"/>
          <p:nvPr/>
        </p:nvSpPr>
        <p:spPr>
          <a:xfrm>
            <a:off x="8807966" y="566928"/>
            <a:ext cx="3018306" cy="2616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ko-KR" sz="1100" u="none" cap="none" strike="noStrike">
                <a:solidFill>
                  <a:srgbClr val="FFFFFF"/>
                </a:solidFill>
                <a:latin typeface="Calibri"/>
                <a:ea typeface="Calibri"/>
                <a:cs typeface="Calibri"/>
                <a:sym typeface="Calibri"/>
              </a:rPr>
              <a:t>☆ 핵심 SOLID 원칙: SRP (단일 책임 원칙)</a:t>
            </a:r>
            <a:endParaRPr b="0" i="0" sz="1400" u="none" cap="none" strike="noStrike">
              <a:solidFill>
                <a:srgbClr val="000000"/>
              </a:solidFill>
              <a:latin typeface="Arial"/>
              <a:ea typeface="Arial"/>
              <a:cs typeface="Arial"/>
              <a:sym typeface="Arial"/>
            </a:endParaRPr>
          </a:p>
        </p:txBody>
      </p:sp>
      <p:sp>
        <p:nvSpPr>
          <p:cNvPr id="722" name="Google Shape;722;g3ee94320d98_2_287"/>
          <p:cNvSpPr/>
          <p:nvPr/>
        </p:nvSpPr>
        <p:spPr>
          <a:xfrm>
            <a:off x="365855" y="1325880"/>
            <a:ext cx="5579293" cy="420624"/>
          </a:xfrm>
          <a:prstGeom prst="rect">
            <a:avLst/>
          </a:prstGeom>
          <a:solidFill>
            <a:srgbClr val="DC262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23" name="Google Shape;723;g3ee94320d98_2_287"/>
          <p:cNvSpPr txBox="1"/>
          <p:nvPr/>
        </p:nvSpPr>
        <p:spPr>
          <a:xfrm>
            <a:off x="530490" y="1380744"/>
            <a:ext cx="5378073" cy="3291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1" i="0" lang="ko-KR" sz="1300" u="none" cap="none" strike="noStrike">
                <a:solidFill>
                  <a:srgbClr val="FFFFFF"/>
                </a:solidFill>
                <a:latin typeface="Calibri"/>
                <a:ea typeface="Calibri"/>
                <a:cs typeface="Calibri"/>
                <a:sym typeface="Calibri"/>
              </a:rPr>
              <a:t>✕  As-Is: 토큰 배열 직접 순회 및 예외 검증 혼재</a:t>
            </a:r>
            <a:endParaRPr b="0" i="0" sz="1400" u="none" cap="none" strike="noStrike">
              <a:solidFill>
                <a:srgbClr val="000000"/>
              </a:solidFill>
              <a:latin typeface="Arial"/>
              <a:ea typeface="Arial"/>
              <a:cs typeface="Arial"/>
              <a:sym typeface="Arial"/>
            </a:endParaRPr>
          </a:p>
        </p:txBody>
      </p:sp>
      <p:sp>
        <p:nvSpPr>
          <p:cNvPr id="724" name="Google Shape;724;g3ee94320d98_2_287"/>
          <p:cNvSpPr/>
          <p:nvPr/>
        </p:nvSpPr>
        <p:spPr>
          <a:xfrm>
            <a:off x="365855" y="1746504"/>
            <a:ext cx="5579293" cy="2880360"/>
          </a:xfrm>
          <a:prstGeom prst="rect">
            <a:avLst/>
          </a:prstGeom>
          <a:solidFill>
            <a:srgbClr val="1E293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25" name="Google Shape;725;g3ee94320d98_2_287"/>
          <p:cNvSpPr txBox="1"/>
          <p:nvPr/>
        </p:nvSpPr>
        <p:spPr>
          <a:xfrm>
            <a:off x="530490" y="1874520"/>
            <a:ext cx="5304901" cy="26791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50"/>
              <a:buFont typeface="Arial"/>
              <a:buNone/>
            </a:pPr>
            <a:r>
              <a:rPr b="0" i="0" lang="ko-KR" sz="950" u="none" cap="none" strike="noStrike">
                <a:solidFill>
                  <a:srgbClr val="7DD3FC"/>
                </a:solidFill>
                <a:latin typeface="Calibri"/>
                <a:ea typeface="Calibri"/>
                <a:cs typeface="Calibri"/>
                <a:sym typeface="Calibri"/>
              </a:rPr>
              <a:t>std::vector&lt;StmtPtr&gt; Parser::parse()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64748B"/>
                </a:solidFill>
                <a:latin typeface="Calibri"/>
                <a:ea typeface="Calibri"/>
                <a:cs typeface="Calibri"/>
                <a:sym typeface="Calibri"/>
              </a:rPr>
              <a:t>    // 외곽 예외 처리가 코어 로직과 강결합</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7DD3FC"/>
                </a:solidFill>
                <a:latin typeface="Calibri"/>
                <a:ea typeface="Calibri"/>
                <a:cs typeface="Calibri"/>
                <a:sym typeface="Calibri"/>
              </a:rPr>
              <a:t>    if (m_tokens.empty()) return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t/>
            </a:r>
            <a:endParaRPr b="0" i="0" sz="950" u="none" cap="none" strike="noStrike">
              <a:solidFill>
                <a:srgbClr val="7DD3FC"/>
              </a:solidFill>
              <a:latin typeface="Calibri"/>
              <a:ea typeface="Calibri"/>
              <a:cs typeface="Calibri"/>
              <a:sym typeface="Calibri"/>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7DD3FC"/>
                </a:solidFill>
                <a:latin typeface="Calibri"/>
                <a:ea typeface="Calibri"/>
                <a:cs typeface="Calibri"/>
                <a:sym typeface="Calibri"/>
              </a:rPr>
              <a:t>    while (m_current &lt; m_tokens.size())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64748B"/>
                </a:solidFill>
                <a:latin typeface="Calibri"/>
                <a:ea typeface="Calibri"/>
                <a:cs typeface="Calibri"/>
                <a:sym typeface="Calibri"/>
              </a:rPr>
              <a:t>        // Parser 내부에서 직접 인덱스 제어</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        Token t = m_tokens[m_current++];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t/>
            </a:r>
            <a:endParaRPr b="0" i="0" sz="950" u="none" cap="none" strike="noStrike">
              <a:solidFill>
                <a:srgbClr val="CBD5E1"/>
              </a:solidFill>
              <a:latin typeface="Calibri"/>
              <a:ea typeface="Calibri"/>
              <a:cs typeface="Calibri"/>
              <a:sym typeface="Calibri"/>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64748B"/>
                </a:solidFill>
                <a:latin typeface="Calibri"/>
                <a:ea typeface="Calibri"/>
                <a:cs typeface="Calibri"/>
                <a:sym typeface="Calibri"/>
              </a:rPr>
              <a:t>        // 파싱 비즈니스 로직 처리...</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726" name="Google Shape;726;g3ee94320d98_2_287"/>
          <p:cNvSpPr txBox="1"/>
          <p:nvPr/>
        </p:nvSpPr>
        <p:spPr>
          <a:xfrm>
            <a:off x="439026" y="4663440"/>
            <a:ext cx="5469536"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ko-KR" sz="1000" u="none" cap="none" strike="noStrike">
                <a:solidFill>
                  <a:srgbClr val="B45C09"/>
                </a:solidFill>
                <a:latin typeface="Calibri"/>
                <a:ea typeface="Calibri"/>
                <a:cs typeface="Calibri"/>
                <a:sym typeface="Calibri"/>
              </a:rPr>
              <a:t>⚠ Parser가 문법 분석 외에 커서 제어·방어 검증 책임까지 동시 수행</a:t>
            </a:r>
            <a:endParaRPr b="0" i="0" sz="1400" u="none" cap="none" strike="noStrike">
              <a:solidFill>
                <a:srgbClr val="000000"/>
              </a:solidFill>
              <a:latin typeface="Arial"/>
              <a:ea typeface="Arial"/>
              <a:cs typeface="Arial"/>
              <a:sym typeface="Arial"/>
            </a:endParaRPr>
          </a:p>
        </p:txBody>
      </p:sp>
      <p:sp>
        <p:nvSpPr>
          <p:cNvPr id="727" name="Google Shape;727;g3ee94320d98_2_287"/>
          <p:cNvSpPr/>
          <p:nvPr/>
        </p:nvSpPr>
        <p:spPr>
          <a:xfrm>
            <a:off x="6155515" y="1325880"/>
            <a:ext cx="5579293" cy="420624"/>
          </a:xfrm>
          <a:prstGeom prst="rect">
            <a:avLst/>
          </a:prstGeom>
          <a:solidFill>
            <a:srgbClr val="16A3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28" name="Google Shape;728;g3ee94320d98_2_287"/>
          <p:cNvSpPr txBox="1"/>
          <p:nvPr/>
        </p:nvSpPr>
        <p:spPr>
          <a:xfrm>
            <a:off x="6320150" y="1380744"/>
            <a:ext cx="5378073" cy="3291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1" i="0" lang="ko-KR" sz="1300" u="none" cap="none" strike="noStrike">
                <a:solidFill>
                  <a:srgbClr val="FFFFFF"/>
                </a:solidFill>
                <a:latin typeface="Calibri"/>
                <a:ea typeface="Calibri"/>
                <a:cs typeface="Calibri"/>
                <a:sym typeface="Calibri"/>
              </a:rPr>
              <a:t>✓  To-Be: Proxy 무결성 검증 + Adapter 스트림 위임</a:t>
            </a:r>
            <a:endParaRPr b="0" i="0" sz="1400" u="none" cap="none" strike="noStrike">
              <a:solidFill>
                <a:srgbClr val="000000"/>
              </a:solidFill>
              <a:latin typeface="Arial"/>
              <a:ea typeface="Arial"/>
              <a:cs typeface="Arial"/>
              <a:sym typeface="Arial"/>
            </a:endParaRPr>
          </a:p>
        </p:txBody>
      </p:sp>
      <p:sp>
        <p:nvSpPr>
          <p:cNvPr id="729" name="Google Shape;729;g3ee94320d98_2_287"/>
          <p:cNvSpPr/>
          <p:nvPr/>
        </p:nvSpPr>
        <p:spPr>
          <a:xfrm>
            <a:off x="6155515" y="1746504"/>
            <a:ext cx="5579293" cy="2880360"/>
          </a:xfrm>
          <a:prstGeom prst="rect">
            <a:avLst/>
          </a:prstGeom>
          <a:solidFill>
            <a:srgbClr val="1E293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30" name="Google Shape;730;g3ee94320d98_2_287"/>
          <p:cNvSpPr txBox="1"/>
          <p:nvPr/>
        </p:nvSpPr>
        <p:spPr>
          <a:xfrm>
            <a:off x="6320150" y="1874520"/>
            <a:ext cx="5304901" cy="26791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50"/>
              <a:buFont typeface="Arial"/>
              <a:buNone/>
            </a:pPr>
            <a:r>
              <a:rPr b="0" i="0" lang="ko-KR" sz="950" u="none" cap="none" strike="noStrike">
                <a:solidFill>
                  <a:srgbClr val="64748B"/>
                </a:solidFill>
                <a:latin typeface="Calibri"/>
                <a:ea typeface="Calibri"/>
                <a:cs typeface="Calibri"/>
                <a:sym typeface="Calibri"/>
              </a:rPr>
              <a:t>// 1. Proxy 패턴: 외곽 무결성 방어 레이어 격리</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7DD3FC"/>
                </a:solidFill>
                <a:latin typeface="Calibri"/>
                <a:ea typeface="Calibri"/>
                <a:cs typeface="Calibri"/>
                <a:sym typeface="Calibri"/>
              </a:rPr>
              <a:t>std::vector&lt;StmtPtr&gt;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ParserProxy::parse(tokens)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7DD3FC"/>
                </a:solidFill>
                <a:latin typeface="Calibri"/>
                <a:ea typeface="Calibri"/>
                <a:cs typeface="Calibri"/>
                <a:sym typeface="Calibri"/>
              </a:rPr>
              <a:t>    if (tokens.empty()) return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7DD3FC"/>
                </a:solidFill>
                <a:latin typeface="Calibri"/>
                <a:ea typeface="Calibri"/>
                <a:cs typeface="Calibri"/>
                <a:sym typeface="Calibri"/>
              </a:rPr>
              <a:t>    return m_inner-&gt;parse(std::move(tokens));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t/>
            </a:r>
            <a:endParaRPr b="0" i="0" sz="950" u="none" cap="none" strike="noStrike">
              <a:solidFill>
                <a:srgbClr val="CBD5E1"/>
              </a:solidFill>
              <a:latin typeface="Calibri"/>
              <a:ea typeface="Calibri"/>
              <a:cs typeface="Calibri"/>
              <a:sym typeface="Calibri"/>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64748B"/>
                </a:solidFill>
                <a:latin typeface="Calibri"/>
                <a:ea typeface="Calibri"/>
                <a:cs typeface="Calibri"/>
                <a:sym typeface="Calibri"/>
              </a:rPr>
              <a:t>// 2. Adapter 패턴: 스트림 순회 인터페이스 위임</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7DD3FC"/>
                </a:solidFill>
                <a:latin typeface="Calibri"/>
                <a:ea typeface="Calibri"/>
                <a:cs typeface="Calibri"/>
                <a:sym typeface="Calibri"/>
              </a:rPr>
              <a:t>void Parser::parse()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7DD3FC"/>
                </a:solidFill>
                <a:latin typeface="Calibri"/>
                <a:ea typeface="Calibri"/>
                <a:cs typeface="Calibri"/>
                <a:sym typeface="Calibri"/>
              </a:rPr>
              <a:t>    while (!m_stream.isAtEnd())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        Token t = m_stream.advance();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64748B"/>
                </a:solidFill>
                <a:latin typeface="Calibri"/>
                <a:ea typeface="Calibri"/>
                <a:cs typeface="Calibri"/>
                <a:sym typeface="Calibri"/>
              </a:rPr>
              <a:t>        // Parser는 오직 순수한 문법 분석에 집중</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731" name="Google Shape;731;g3ee94320d98_2_287"/>
          <p:cNvSpPr txBox="1"/>
          <p:nvPr/>
        </p:nvSpPr>
        <p:spPr>
          <a:xfrm>
            <a:off x="6228686" y="4663440"/>
            <a:ext cx="5469536"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ko-KR" sz="1000" u="none" cap="none" strike="noStrike">
                <a:solidFill>
                  <a:srgbClr val="166A34"/>
                </a:solidFill>
                <a:latin typeface="Calibri"/>
                <a:ea typeface="Calibri"/>
                <a:cs typeface="Calibri"/>
                <a:sym typeface="Calibri"/>
              </a:rPr>
              <a:t>✅ 외곽 검증과 토큰 스트림 제어의 결합도를 낮추고 독립성 확보</a:t>
            </a:r>
            <a:endParaRPr b="0" i="0" sz="1400" u="none" cap="none" strike="noStrike">
              <a:solidFill>
                <a:srgbClr val="000000"/>
              </a:solidFill>
              <a:latin typeface="Arial"/>
              <a:ea typeface="Arial"/>
              <a:cs typeface="Arial"/>
              <a:sym typeface="Arial"/>
            </a:endParaRPr>
          </a:p>
        </p:txBody>
      </p:sp>
      <p:sp>
        <p:nvSpPr>
          <p:cNvPr id="732" name="Google Shape;732;g3ee94320d98_2_287"/>
          <p:cNvSpPr/>
          <p:nvPr/>
        </p:nvSpPr>
        <p:spPr>
          <a:xfrm>
            <a:off x="493905" y="5029200"/>
            <a:ext cx="11204318" cy="50292"/>
          </a:xfrm>
          <a:prstGeom prst="rect">
            <a:avLst/>
          </a:prstGeom>
          <a:solidFill>
            <a:srgbClr val="E2E8F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33" name="Google Shape;733;g3ee94320d98_2_287"/>
          <p:cNvSpPr/>
          <p:nvPr/>
        </p:nvSpPr>
        <p:spPr>
          <a:xfrm>
            <a:off x="365855" y="5120640"/>
            <a:ext cx="3548796" cy="1536192"/>
          </a:xfrm>
          <a:prstGeom prst="rect">
            <a:avLst/>
          </a:prstGeom>
          <a:solidFill>
            <a:srgbClr val="FFFFFF"/>
          </a:solidFill>
          <a:ln cap="flat" cmpd="sng" w="9525">
            <a:solidFill>
              <a:srgbClr val="CBD5E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34" name="Google Shape;734;g3ee94320d98_2_287"/>
          <p:cNvSpPr/>
          <p:nvPr/>
        </p:nvSpPr>
        <p:spPr>
          <a:xfrm>
            <a:off x="365855" y="5120640"/>
            <a:ext cx="3548796" cy="50292"/>
          </a:xfrm>
          <a:prstGeom prst="rect">
            <a:avLst/>
          </a:prstGeom>
          <a:solidFill>
            <a:srgbClr val="4F46E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35" name="Google Shape;735;g3ee94320d98_2_287"/>
          <p:cNvSpPr txBox="1"/>
          <p:nvPr/>
        </p:nvSpPr>
        <p:spPr>
          <a:xfrm>
            <a:off x="503051" y="5285232"/>
            <a:ext cx="3274405" cy="32004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ko-KR" sz="1400" u="none" cap="none" strike="noStrike">
                <a:solidFill>
                  <a:srgbClr val="0F172A"/>
                </a:solidFill>
                <a:latin typeface="Calibri"/>
                <a:ea typeface="Calibri"/>
                <a:cs typeface="Calibri"/>
                <a:sym typeface="Calibri"/>
              </a:rPr>
              <a:t>SRP 명확화</a:t>
            </a:r>
            <a:endParaRPr b="0" i="0" sz="1400" u="none" cap="none" strike="noStrike">
              <a:solidFill>
                <a:srgbClr val="000000"/>
              </a:solidFill>
              <a:latin typeface="Arial"/>
              <a:ea typeface="Arial"/>
              <a:cs typeface="Arial"/>
              <a:sym typeface="Arial"/>
            </a:endParaRPr>
          </a:p>
        </p:txBody>
      </p:sp>
      <p:sp>
        <p:nvSpPr>
          <p:cNvPr id="736" name="Google Shape;736;g3ee94320d98_2_287"/>
          <p:cNvSpPr txBox="1"/>
          <p:nvPr/>
        </p:nvSpPr>
        <p:spPr>
          <a:xfrm>
            <a:off x="503051" y="5669280"/>
            <a:ext cx="3274405" cy="86868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ko-KR" sz="1100" u="none" cap="none" strike="noStrike">
                <a:solidFill>
                  <a:srgbClr val="334155"/>
                </a:solidFill>
                <a:latin typeface="Calibri"/>
                <a:ea typeface="Calibri"/>
                <a:cs typeface="Calibri"/>
                <a:sym typeface="Calibri"/>
              </a:rPr>
              <a:t>커서 관리와 문법 해석 책임을</a:t>
            </a:r>
            <a:br>
              <a:rPr b="0" i="0" lang="ko-KR" sz="1100" u="none" cap="none" strike="noStrike">
                <a:solidFill>
                  <a:srgbClr val="334155"/>
                </a:solidFill>
                <a:latin typeface="Calibri"/>
                <a:ea typeface="Calibri"/>
                <a:cs typeface="Calibri"/>
                <a:sym typeface="Calibri"/>
              </a:rPr>
            </a:br>
            <a:r>
              <a:rPr b="0" i="0" lang="ko-KR" sz="1100" u="none" cap="none" strike="noStrike">
                <a:solidFill>
                  <a:srgbClr val="334155"/>
                </a:solidFill>
                <a:latin typeface="Calibri"/>
                <a:ea typeface="Calibri"/>
                <a:cs typeface="Calibri"/>
                <a:sym typeface="Calibri"/>
              </a:rPr>
              <a:t>아키텍처적으로 격리</a:t>
            </a:r>
            <a:endParaRPr b="0" i="0" sz="1400" u="none" cap="none" strike="noStrike">
              <a:solidFill>
                <a:srgbClr val="000000"/>
              </a:solidFill>
              <a:latin typeface="Arial"/>
              <a:ea typeface="Arial"/>
              <a:cs typeface="Arial"/>
              <a:sym typeface="Arial"/>
            </a:endParaRPr>
          </a:p>
        </p:txBody>
      </p:sp>
      <p:sp>
        <p:nvSpPr>
          <p:cNvPr id="737" name="Google Shape;737;g3ee94320d98_2_287"/>
          <p:cNvSpPr/>
          <p:nvPr/>
        </p:nvSpPr>
        <p:spPr>
          <a:xfrm>
            <a:off x="4097579" y="5120640"/>
            <a:ext cx="3548796" cy="1536192"/>
          </a:xfrm>
          <a:prstGeom prst="rect">
            <a:avLst/>
          </a:prstGeom>
          <a:solidFill>
            <a:srgbClr val="FFFFFF"/>
          </a:solidFill>
          <a:ln cap="flat" cmpd="sng" w="9525">
            <a:solidFill>
              <a:srgbClr val="CBD5E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38" name="Google Shape;738;g3ee94320d98_2_287"/>
          <p:cNvSpPr/>
          <p:nvPr/>
        </p:nvSpPr>
        <p:spPr>
          <a:xfrm>
            <a:off x="4097579" y="5120640"/>
            <a:ext cx="3548796" cy="50292"/>
          </a:xfrm>
          <a:prstGeom prst="rect">
            <a:avLst/>
          </a:prstGeom>
          <a:solidFill>
            <a:srgbClr val="4F46E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39" name="Google Shape;739;g3ee94320d98_2_287"/>
          <p:cNvSpPr txBox="1"/>
          <p:nvPr/>
        </p:nvSpPr>
        <p:spPr>
          <a:xfrm>
            <a:off x="4234775" y="5285232"/>
            <a:ext cx="3274405" cy="32004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ko-KR" sz="1400" u="none" cap="none" strike="noStrike">
                <a:solidFill>
                  <a:srgbClr val="0F172A"/>
                </a:solidFill>
                <a:latin typeface="Calibri"/>
                <a:ea typeface="Calibri"/>
                <a:cs typeface="Calibri"/>
                <a:sym typeface="Calibri"/>
              </a:rPr>
              <a:t>도메인 보호</a:t>
            </a:r>
            <a:endParaRPr b="0" i="0" sz="1400" u="none" cap="none" strike="noStrike">
              <a:solidFill>
                <a:srgbClr val="000000"/>
              </a:solidFill>
              <a:latin typeface="Arial"/>
              <a:ea typeface="Arial"/>
              <a:cs typeface="Arial"/>
              <a:sym typeface="Arial"/>
            </a:endParaRPr>
          </a:p>
        </p:txBody>
      </p:sp>
      <p:sp>
        <p:nvSpPr>
          <p:cNvPr id="740" name="Google Shape;740;g3ee94320d98_2_287"/>
          <p:cNvSpPr txBox="1"/>
          <p:nvPr/>
        </p:nvSpPr>
        <p:spPr>
          <a:xfrm>
            <a:off x="4234775" y="5669280"/>
            <a:ext cx="3274405" cy="86868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ko-KR" sz="1100" u="none" cap="none" strike="noStrike">
                <a:solidFill>
                  <a:srgbClr val="334155"/>
                </a:solidFill>
                <a:latin typeface="Calibri"/>
                <a:ea typeface="Calibri"/>
                <a:cs typeface="Calibri"/>
                <a:sym typeface="Calibri"/>
              </a:rPr>
              <a:t>비정상 입력을 핵심 엔진 도달 전에</a:t>
            </a:r>
            <a:br>
              <a:rPr b="0" i="0" lang="ko-KR" sz="1100" u="none" cap="none" strike="noStrike">
                <a:solidFill>
                  <a:srgbClr val="334155"/>
                </a:solidFill>
                <a:latin typeface="Calibri"/>
                <a:ea typeface="Calibri"/>
                <a:cs typeface="Calibri"/>
                <a:sym typeface="Calibri"/>
              </a:rPr>
            </a:br>
            <a:r>
              <a:rPr b="0" i="0" lang="ko-KR" sz="1100" u="none" cap="none" strike="noStrike">
                <a:solidFill>
                  <a:srgbClr val="334155"/>
                </a:solidFill>
                <a:latin typeface="Calibri"/>
                <a:ea typeface="Calibri"/>
                <a:cs typeface="Calibri"/>
                <a:sym typeface="Calibri"/>
              </a:rPr>
              <a:t>Proxy 단에서 차단</a:t>
            </a:r>
            <a:endParaRPr b="0" i="0" sz="1400" u="none" cap="none" strike="noStrike">
              <a:solidFill>
                <a:srgbClr val="000000"/>
              </a:solidFill>
              <a:latin typeface="Arial"/>
              <a:ea typeface="Arial"/>
              <a:cs typeface="Arial"/>
              <a:sym typeface="Arial"/>
            </a:endParaRPr>
          </a:p>
        </p:txBody>
      </p:sp>
      <p:sp>
        <p:nvSpPr>
          <p:cNvPr id="741" name="Google Shape;741;g3ee94320d98_2_287"/>
          <p:cNvSpPr/>
          <p:nvPr/>
        </p:nvSpPr>
        <p:spPr>
          <a:xfrm>
            <a:off x="7829303" y="5120640"/>
            <a:ext cx="3548796" cy="1536192"/>
          </a:xfrm>
          <a:prstGeom prst="rect">
            <a:avLst/>
          </a:prstGeom>
          <a:solidFill>
            <a:srgbClr val="FFFFFF"/>
          </a:solidFill>
          <a:ln cap="flat" cmpd="sng" w="9525">
            <a:solidFill>
              <a:srgbClr val="CBD5E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42" name="Google Shape;742;g3ee94320d98_2_287"/>
          <p:cNvSpPr/>
          <p:nvPr/>
        </p:nvSpPr>
        <p:spPr>
          <a:xfrm>
            <a:off x="7829303" y="5120640"/>
            <a:ext cx="3548796" cy="50292"/>
          </a:xfrm>
          <a:prstGeom prst="rect">
            <a:avLst/>
          </a:prstGeom>
          <a:solidFill>
            <a:srgbClr val="4F46E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43" name="Google Shape;743;g3ee94320d98_2_287"/>
          <p:cNvSpPr txBox="1"/>
          <p:nvPr/>
        </p:nvSpPr>
        <p:spPr>
          <a:xfrm>
            <a:off x="7966499" y="5285232"/>
            <a:ext cx="3274405" cy="32004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ko-KR" sz="1400" u="none" cap="none" strike="noStrike">
                <a:solidFill>
                  <a:srgbClr val="0F172A"/>
                </a:solidFill>
                <a:latin typeface="Calibri"/>
                <a:ea typeface="Calibri"/>
                <a:cs typeface="Calibri"/>
                <a:sym typeface="Calibri"/>
              </a:rPr>
              <a:t>안정성 향상</a:t>
            </a:r>
            <a:endParaRPr b="0" i="0" sz="1400" u="none" cap="none" strike="noStrike">
              <a:solidFill>
                <a:srgbClr val="000000"/>
              </a:solidFill>
              <a:latin typeface="Arial"/>
              <a:ea typeface="Arial"/>
              <a:cs typeface="Arial"/>
              <a:sym typeface="Arial"/>
            </a:endParaRPr>
          </a:p>
        </p:txBody>
      </p:sp>
      <p:sp>
        <p:nvSpPr>
          <p:cNvPr id="744" name="Google Shape;744;g3ee94320d98_2_287"/>
          <p:cNvSpPr txBox="1"/>
          <p:nvPr/>
        </p:nvSpPr>
        <p:spPr>
          <a:xfrm>
            <a:off x="7966499" y="5669280"/>
            <a:ext cx="3274405" cy="86868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ko-KR" sz="1100" u="none" cap="none" strike="noStrike">
                <a:solidFill>
                  <a:srgbClr val="334155"/>
                </a:solidFill>
                <a:latin typeface="Calibri"/>
                <a:ea typeface="Calibri"/>
                <a:cs typeface="Calibri"/>
                <a:sym typeface="Calibri"/>
              </a:rPr>
              <a:t>직접적인 인덱스 조작 에러 위험 제거로</a:t>
            </a:r>
            <a:br>
              <a:rPr b="0" i="0" lang="ko-KR" sz="1100" u="none" cap="none" strike="noStrike">
                <a:solidFill>
                  <a:srgbClr val="334155"/>
                </a:solidFill>
                <a:latin typeface="Calibri"/>
                <a:ea typeface="Calibri"/>
                <a:cs typeface="Calibri"/>
                <a:sym typeface="Calibri"/>
              </a:rPr>
            </a:br>
            <a:r>
              <a:rPr b="0" i="0" lang="ko-KR" sz="1100" u="none" cap="none" strike="noStrike">
                <a:solidFill>
                  <a:srgbClr val="334155"/>
                </a:solidFill>
                <a:latin typeface="Calibri"/>
                <a:ea typeface="Calibri"/>
                <a:cs typeface="Calibri"/>
                <a:sym typeface="Calibri"/>
              </a:rPr>
              <a:t>버그 발생 원천 감소</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8" name="Shape 748"/>
        <p:cNvGrpSpPr/>
        <p:nvPr/>
      </p:nvGrpSpPr>
      <p:grpSpPr>
        <a:xfrm>
          <a:off x="0" y="0"/>
          <a:ext cx="0" cy="0"/>
          <a:chOff x="0" y="0"/>
          <a:chExt cx="0" cy="0"/>
        </a:xfrm>
      </p:grpSpPr>
      <p:sp>
        <p:nvSpPr>
          <p:cNvPr id="749" name="Google Shape;749;g3ee94320d98_2_318"/>
          <p:cNvSpPr txBox="1"/>
          <p:nvPr/>
        </p:nvSpPr>
        <p:spPr>
          <a:xfrm>
            <a:off x="493905" y="256032"/>
            <a:ext cx="8414671" cy="5943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ko-KR" sz="2800" u="none" cap="none" strike="noStrike">
                <a:solidFill>
                  <a:srgbClr val="0F172A"/>
                </a:solidFill>
                <a:latin typeface="Calibri"/>
                <a:ea typeface="Calibri"/>
                <a:cs typeface="Calibri"/>
                <a:sym typeface="Calibri"/>
              </a:rPr>
              <a:t>BP 06.  동작 패턴: Command Map Dispatch</a:t>
            </a:r>
            <a:endParaRPr b="0" i="0" sz="1400" u="none" cap="none" strike="noStrike">
              <a:solidFill>
                <a:srgbClr val="000000"/>
              </a:solidFill>
              <a:latin typeface="Arial"/>
              <a:ea typeface="Arial"/>
              <a:cs typeface="Arial"/>
              <a:sym typeface="Arial"/>
            </a:endParaRPr>
          </a:p>
        </p:txBody>
      </p:sp>
      <p:sp>
        <p:nvSpPr>
          <p:cNvPr id="750" name="Google Shape;750;g3ee94320d98_2_318"/>
          <p:cNvSpPr/>
          <p:nvPr/>
        </p:nvSpPr>
        <p:spPr>
          <a:xfrm>
            <a:off x="493905" y="886968"/>
            <a:ext cx="11204318" cy="50292"/>
          </a:xfrm>
          <a:prstGeom prst="rect">
            <a:avLst/>
          </a:prstGeom>
          <a:solidFill>
            <a:srgbClr val="E2E8F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51" name="Google Shape;751;g3ee94320d98_2_318"/>
          <p:cNvSpPr txBox="1"/>
          <p:nvPr/>
        </p:nvSpPr>
        <p:spPr>
          <a:xfrm>
            <a:off x="493905" y="978408"/>
            <a:ext cx="7865888"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0" i="0" lang="ko-KR" sz="1300" u="none" cap="none" strike="noStrike">
                <a:solidFill>
                  <a:srgbClr val="64748B"/>
                </a:solidFill>
                <a:latin typeface="Calibri"/>
                <a:ea typeface="Calibri"/>
                <a:cs typeface="Calibri"/>
                <a:sym typeface="Calibri"/>
              </a:rPr>
              <a:t>해시맵 디스패치를 통한 분기 제거 및 확장성 혁신</a:t>
            </a:r>
            <a:endParaRPr b="0" i="0" sz="1400" u="none" cap="none" strike="noStrike">
              <a:solidFill>
                <a:srgbClr val="000000"/>
              </a:solidFill>
              <a:latin typeface="Arial"/>
              <a:ea typeface="Arial"/>
              <a:cs typeface="Arial"/>
              <a:sym typeface="Arial"/>
            </a:endParaRPr>
          </a:p>
        </p:txBody>
      </p:sp>
      <p:sp>
        <p:nvSpPr>
          <p:cNvPr id="752" name="Google Shape;752;g3ee94320d98_2_318"/>
          <p:cNvSpPr/>
          <p:nvPr/>
        </p:nvSpPr>
        <p:spPr>
          <a:xfrm>
            <a:off x="8807966" y="566928"/>
            <a:ext cx="3018306" cy="329184"/>
          </a:xfrm>
          <a:prstGeom prst="rect">
            <a:avLst/>
          </a:prstGeom>
          <a:solidFill>
            <a:srgbClr val="1E293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53" name="Google Shape;753;g3ee94320d98_2_318"/>
          <p:cNvSpPr txBox="1"/>
          <p:nvPr/>
        </p:nvSpPr>
        <p:spPr>
          <a:xfrm>
            <a:off x="8807966" y="566928"/>
            <a:ext cx="3018306" cy="2616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ko-KR" sz="1100" u="none" cap="none" strike="noStrike">
                <a:solidFill>
                  <a:srgbClr val="FFFFFF"/>
                </a:solidFill>
                <a:latin typeface="Calibri"/>
                <a:ea typeface="Calibri"/>
                <a:cs typeface="Calibri"/>
                <a:sym typeface="Calibri"/>
              </a:rPr>
              <a:t>☆  핵심 SOLID 원칙: OCP (개방-폐쇄 원칙)</a:t>
            </a:r>
            <a:endParaRPr b="0" i="0" sz="1400" u="none" cap="none" strike="noStrike">
              <a:solidFill>
                <a:srgbClr val="000000"/>
              </a:solidFill>
              <a:latin typeface="Arial"/>
              <a:ea typeface="Arial"/>
              <a:cs typeface="Arial"/>
              <a:sym typeface="Arial"/>
            </a:endParaRPr>
          </a:p>
        </p:txBody>
      </p:sp>
      <p:sp>
        <p:nvSpPr>
          <p:cNvPr id="754" name="Google Shape;754;g3ee94320d98_2_318"/>
          <p:cNvSpPr/>
          <p:nvPr/>
        </p:nvSpPr>
        <p:spPr>
          <a:xfrm>
            <a:off x="365855" y="1325880"/>
            <a:ext cx="5579293" cy="420624"/>
          </a:xfrm>
          <a:prstGeom prst="rect">
            <a:avLst/>
          </a:prstGeom>
          <a:solidFill>
            <a:srgbClr val="DC262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55" name="Google Shape;755;g3ee94320d98_2_318"/>
          <p:cNvSpPr txBox="1"/>
          <p:nvPr/>
        </p:nvSpPr>
        <p:spPr>
          <a:xfrm>
            <a:off x="530490" y="1380744"/>
            <a:ext cx="5378073" cy="3291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1" i="0" lang="ko-KR" sz="1300" u="none" cap="none" strike="noStrike">
                <a:solidFill>
                  <a:srgbClr val="FFFFFF"/>
                </a:solidFill>
                <a:latin typeface="Calibri"/>
                <a:ea typeface="Calibri"/>
                <a:cs typeface="Calibri"/>
                <a:sym typeface="Calibri"/>
              </a:rPr>
              <a:t>✕  As-Is: 확장에 취약한 if-else 체인 구조</a:t>
            </a:r>
            <a:endParaRPr b="0" i="0" sz="1400" u="none" cap="none" strike="noStrike">
              <a:solidFill>
                <a:srgbClr val="000000"/>
              </a:solidFill>
              <a:latin typeface="Arial"/>
              <a:ea typeface="Arial"/>
              <a:cs typeface="Arial"/>
              <a:sym typeface="Arial"/>
            </a:endParaRPr>
          </a:p>
        </p:txBody>
      </p:sp>
      <p:sp>
        <p:nvSpPr>
          <p:cNvPr id="756" name="Google Shape;756;g3ee94320d98_2_318"/>
          <p:cNvSpPr/>
          <p:nvPr/>
        </p:nvSpPr>
        <p:spPr>
          <a:xfrm>
            <a:off x="365855" y="1746504"/>
            <a:ext cx="5579293" cy="2880360"/>
          </a:xfrm>
          <a:prstGeom prst="rect">
            <a:avLst/>
          </a:prstGeom>
          <a:solidFill>
            <a:srgbClr val="1E293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57" name="Google Shape;757;g3ee94320d98_2_318"/>
          <p:cNvSpPr txBox="1"/>
          <p:nvPr/>
        </p:nvSpPr>
        <p:spPr>
          <a:xfrm>
            <a:off x="530490" y="1874520"/>
            <a:ext cx="5304901" cy="26791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50"/>
              <a:buFont typeface="Arial"/>
              <a:buNone/>
            </a:pPr>
            <a:r>
              <a:rPr b="0" i="0" lang="ko-KR" sz="950" u="none" cap="none" strike="noStrike">
                <a:solidFill>
                  <a:srgbClr val="7DD3FC"/>
                </a:solidFill>
                <a:latin typeface="Calibri"/>
                <a:ea typeface="Calibri"/>
                <a:cs typeface="Calibri"/>
                <a:sym typeface="Calibri"/>
              </a:rPr>
              <a:t>StmtPtr Parser::parseStatement()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64748B"/>
                </a:solidFill>
                <a:latin typeface="Calibri"/>
                <a:ea typeface="Calibri"/>
                <a:cs typeface="Calibri"/>
                <a:sym typeface="Calibri"/>
              </a:rPr>
              <a:t>    // 토큰 추가마다 이 분기 함수를 매번 수정</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7DD3FC"/>
                </a:solidFill>
                <a:latin typeface="Calibri"/>
                <a:ea typeface="Calibri"/>
                <a:cs typeface="Calibri"/>
                <a:sym typeface="Calibri"/>
              </a:rPr>
              <a:t>    if (match({KW_FUNC}))   return parseFunc();</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7DD3FC"/>
                </a:solidFill>
                <a:latin typeface="Calibri"/>
                <a:ea typeface="Calibri"/>
                <a:cs typeface="Calibri"/>
                <a:sym typeface="Calibri"/>
              </a:rPr>
              <a:t>    if (match({KW_VAR}))    return parseVar();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7DD3FC"/>
                </a:solidFill>
                <a:latin typeface="Calibri"/>
                <a:ea typeface="Calibri"/>
                <a:cs typeface="Calibri"/>
                <a:sym typeface="Calibri"/>
              </a:rPr>
              <a:t>    if (match({KW_IF}))     return parseIf();</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7DD3FC"/>
                </a:solidFill>
                <a:latin typeface="Calibri"/>
                <a:ea typeface="Calibri"/>
                <a:cs typeface="Calibri"/>
                <a:sym typeface="Calibri"/>
              </a:rPr>
              <a:t>    if (match({KW_FOR}))    return parseFor();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7DD3FC"/>
                </a:solidFill>
                <a:latin typeface="Calibri"/>
                <a:ea typeface="Calibri"/>
                <a:cs typeface="Calibri"/>
                <a:sym typeface="Calibri"/>
              </a:rPr>
              <a:t>    if (match({KW_PRINT}))  return parsePrint();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7DD3FC"/>
                </a:solidFill>
                <a:latin typeface="Calibri"/>
                <a:ea typeface="Calibri"/>
                <a:cs typeface="Calibri"/>
                <a:sym typeface="Calibri"/>
              </a:rPr>
              <a:t>    if (match({KW_RETURN})) return parseReturn();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t/>
            </a:r>
            <a:endParaRPr b="0" i="0" sz="950" u="none" cap="none" strike="noStrike">
              <a:solidFill>
                <a:srgbClr val="7DD3FC"/>
              </a:solidFill>
              <a:latin typeface="Calibri"/>
              <a:ea typeface="Calibri"/>
              <a:cs typeface="Calibri"/>
              <a:sym typeface="Calibri"/>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64748B"/>
                </a:solidFill>
                <a:latin typeface="Calibri"/>
                <a:ea typeface="Calibri"/>
                <a:cs typeface="Calibri"/>
                <a:sym typeface="Calibri"/>
              </a:rPr>
              <a:t>    // 최악의 경우 O(n) 선형 탐색 분기</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7DD3FC"/>
                </a:solidFill>
                <a:latin typeface="Calibri"/>
                <a:ea typeface="Calibri"/>
                <a:cs typeface="Calibri"/>
                <a:sym typeface="Calibri"/>
              </a:rPr>
              <a:t>    return parseExpressionStatement();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758" name="Google Shape;758;g3ee94320d98_2_318"/>
          <p:cNvSpPr txBox="1"/>
          <p:nvPr/>
        </p:nvSpPr>
        <p:spPr>
          <a:xfrm>
            <a:off x="439026" y="4663440"/>
            <a:ext cx="5469536"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ko-KR" sz="1000" u="none" cap="none" strike="noStrike">
                <a:solidFill>
                  <a:srgbClr val="B45C09"/>
                </a:solidFill>
                <a:latin typeface="Calibri"/>
                <a:ea typeface="Calibri"/>
                <a:cs typeface="Calibri"/>
                <a:sym typeface="Calibri"/>
              </a:rPr>
              <a:t>⚠ 문법 예약어가 늘어날수록 제어 로직이 비대해지며 잦은 변경 유발</a:t>
            </a:r>
            <a:endParaRPr b="0" i="0" sz="1400" u="none" cap="none" strike="noStrike">
              <a:solidFill>
                <a:srgbClr val="000000"/>
              </a:solidFill>
              <a:latin typeface="Arial"/>
              <a:ea typeface="Arial"/>
              <a:cs typeface="Arial"/>
              <a:sym typeface="Arial"/>
            </a:endParaRPr>
          </a:p>
        </p:txBody>
      </p:sp>
      <p:sp>
        <p:nvSpPr>
          <p:cNvPr id="759" name="Google Shape;759;g3ee94320d98_2_318"/>
          <p:cNvSpPr/>
          <p:nvPr/>
        </p:nvSpPr>
        <p:spPr>
          <a:xfrm>
            <a:off x="6155515" y="1325880"/>
            <a:ext cx="5579293" cy="420624"/>
          </a:xfrm>
          <a:prstGeom prst="rect">
            <a:avLst/>
          </a:prstGeom>
          <a:solidFill>
            <a:srgbClr val="16A3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60" name="Google Shape;760;g3ee94320d98_2_318"/>
          <p:cNvSpPr txBox="1"/>
          <p:nvPr/>
        </p:nvSpPr>
        <p:spPr>
          <a:xfrm>
            <a:off x="6320150" y="1380744"/>
            <a:ext cx="5378073" cy="3291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1" i="0" lang="ko-KR" sz="1300" u="none" cap="none" strike="noStrike">
                <a:solidFill>
                  <a:srgbClr val="FFFFFF"/>
                </a:solidFill>
                <a:latin typeface="Calibri"/>
                <a:ea typeface="Calibri"/>
                <a:cs typeface="Calibri"/>
                <a:sym typeface="Calibri"/>
              </a:rPr>
              <a:t>✓  To-Be: 해시맵 매핑을 통한 O(1) 디스패치</a:t>
            </a:r>
            <a:endParaRPr b="0" i="0" sz="1400" u="none" cap="none" strike="noStrike">
              <a:solidFill>
                <a:srgbClr val="000000"/>
              </a:solidFill>
              <a:latin typeface="Arial"/>
              <a:ea typeface="Arial"/>
              <a:cs typeface="Arial"/>
              <a:sym typeface="Arial"/>
            </a:endParaRPr>
          </a:p>
        </p:txBody>
      </p:sp>
      <p:sp>
        <p:nvSpPr>
          <p:cNvPr id="761" name="Google Shape;761;g3ee94320d98_2_318"/>
          <p:cNvSpPr/>
          <p:nvPr/>
        </p:nvSpPr>
        <p:spPr>
          <a:xfrm>
            <a:off x="6155515" y="1746504"/>
            <a:ext cx="5579293" cy="2880360"/>
          </a:xfrm>
          <a:prstGeom prst="rect">
            <a:avLst/>
          </a:prstGeom>
          <a:solidFill>
            <a:srgbClr val="1E293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62" name="Google Shape;762;g3ee94320d98_2_318"/>
          <p:cNvSpPr txBox="1"/>
          <p:nvPr/>
        </p:nvSpPr>
        <p:spPr>
          <a:xfrm>
            <a:off x="6320150" y="1874520"/>
            <a:ext cx="5304901" cy="26791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50"/>
              <a:buFont typeface="Arial"/>
              <a:buNone/>
            </a:pPr>
            <a:r>
              <a:rPr b="0" i="0" lang="ko-KR" sz="950" u="none" cap="none" strike="noStrike">
                <a:solidFill>
                  <a:srgbClr val="64748B"/>
                </a:solidFill>
                <a:latin typeface="Calibri"/>
                <a:ea typeface="Calibri"/>
                <a:cs typeface="Calibri"/>
                <a:sym typeface="Calibri"/>
              </a:rPr>
              <a:t>// 생성자 시점에 1회 등록 (이후 수정 불필요)</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7DD3FC"/>
                </a:solidFill>
                <a:latin typeface="Calibri"/>
                <a:ea typeface="Calibri"/>
                <a:cs typeface="Calibri"/>
                <a:sym typeface="Calibri"/>
              </a:rPr>
              <a:t>void Parser::initDispatch()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    m_stmtDispatch[KW_FUNC]   = [this]{ return parseFunctionStmt();};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    m_stmtDispatch[KW_VAR]    = [this]{ return parseVarDecl();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    m_stmtDispatch[KW_IF]     = [this]{ return parseIfStmt();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    m_stmtDispatch[KW_FOR]    = [this]{ return parseForStmt();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7DD3FC"/>
                </a:solidFill>
                <a:latin typeface="Calibri"/>
                <a:ea typeface="Calibri"/>
                <a:cs typeface="Calibri"/>
                <a:sym typeface="Calibri"/>
              </a:rPr>
              <a:t>StmtPtr Parser::parseStatement()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7DD3FC"/>
                </a:solidFill>
                <a:latin typeface="Calibri"/>
                <a:ea typeface="Calibri"/>
                <a:cs typeface="Calibri"/>
                <a:sym typeface="Calibri"/>
              </a:rPr>
              <a:t>    auto it = m_stmtDispatch.find(peek().type);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7DD3FC"/>
                </a:solidFill>
                <a:latin typeface="Calibri"/>
                <a:ea typeface="Calibri"/>
                <a:cs typeface="Calibri"/>
                <a:sym typeface="Calibri"/>
              </a:rPr>
              <a:t>    if (it != m_stmtDispatch.end())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7DD3FC"/>
                </a:solidFill>
                <a:latin typeface="Calibri"/>
                <a:ea typeface="Calibri"/>
                <a:cs typeface="Calibri"/>
                <a:sym typeface="Calibri"/>
              </a:rPr>
              <a:t>        return it-&gt;second();  // O(1) 디스패치</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7DD3FC"/>
                </a:solidFill>
                <a:latin typeface="Calibri"/>
                <a:ea typeface="Calibri"/>
                <a:cs typeface="Calibri"/>
                <a:sym typeface="Calibri"/>
              </a:rPr>
              <a:t>    return parseExpressionStatement();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763" name="Google Shape;763;g3ee94320d98_2_318"/>
          <p:cNvSpPr txBox="1"/>
          <p:nvPr/>
        </p:nvSpPr>
        <p:spPr>
          <a:xfrm>
            <a:off x="6228686" y="4663440"/>
            <a:ext cx="5469536"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ko-KR" sz="1000" u="none" cap="none" strike="noStrike">
                <a:solidFill>
                  <a:srgbClr val="166A34"/>
                </a:solidFill>
                <a:latin typeface="Calibri"/>
                <a:ea typeface="Calibri"/>
                <a:cs typeface="Calibri"/>
                <a:sym typeface="Calibri"/>
              </a:rPr>
              <a:t>✅ 수정에는 닫히고(Closed), 문법 등록만은 확장에 열린(Open) 구조</a:t>
            </a:r>
            <a:endParaRPr b="0" i="0" sz="1400" u="none" cap="none" strike="noStrike">
              <a:solidFill>
                <a:srgbClr val="000000"/>
              </a:solidFill>
              <a:latin typeface="Arial"/>
              <a:ea typeface="Arial"/>
              <a:cs typeface="Arial"/>
              <a:sym typeface="Arial"/>
            </a:endParaRPr>
          </a:p>
        </p:txBody>
      </p:sp>
      <p:sp>
        <p:nvSpPr>
          <p:cNvPr id="764" name="Google Shape;764;g3ee94320d98_2_318"/>
          <p:cNvSpPr/>
          <p:nvPr/>
        </p:nvSpPr>
        <p:spPr>
          <a:xfrm>
            <a:off x="493905" y="5029200"/>
            <a:ext cx="11204318" cy="50292"/>
          </a:xfrm>
          <a:prstGeom prst="rect">
            <a:avLst/>
          </a:prstGeom>
          <a:solidFill>
            <a:srgbClr val="E2E8F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65" name="Google Shape;765;g3ee94320d98_2_318"/>
          <p:cNvSpPr/>
          <p:nvPr/>
        </p:nvSpPr>
        <p:spPr>
          <a:xfrm>
            <a:off x="365855" y="5120640"/>
            <a:ext cx="3548796" cy="1536192"/>
          </a:xfrm>
          <a:prstGeom prst="rect">
            <a:avLst/>
          </a:prstGeom>
          <a:solidFill>
            <a:srgbClr val="FFFFFF"/>
          </a:solidFill>
          <a:ln cap="flat" cmpd="sng" w="9525">
            <a:solidFill>
              <a:srgbClr val="CBD5E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66" name="Google Shape;766;g3ee94320d98_2_318"/>
          <p:cNvSpPr/>
          <p:nvPr/>
        </p:nvSpPr>
        <p:spPr>
          <a:xfrm>
            <a:off x="365855" y="5120640"/>
            <a:ext cx="3548796" cy="50292"/>
          </a:xfrm>
          <a:prstGeom prst="rect">
            <a:avLst/>
          </a:prstGeom>
          <a:solidFill>
            <a:srgbClr val="4F46E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67" name="Google Shape;767;g3ee94320d98_2_318"/>
          <p:cNvSpPr txBox="1"/>
          <p:nvPr/>
        </p:nvSpPr>
        <p:spPr>
          <a:xfrm>
            <a:off x="503051" y="5285232"/>
            <a:ext cx="3274405" cy="32004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ko-KR" sz="1400" u="none" cap="none" strike="noStrike">
                <a:solidFill>
                  <a:srgbClr val="0F172A"/>
                </a:solidFill>
                <a:latin typeface="Calibri"/>
                <a:ea typeface="Calibri"/>
                <a:cs typeface="Calibri"/>
                <a:sym typeface="Calibri"/>
              </a:rPr>
              <a:t>OCP 완벽 달성</a:t>
            </a:r>
            <a:endParaRPr b="0" i="0" sz="1400" u="none" cap="none" strike="noStrike">
              <a:solidFill>
                <a:srgbClr val="000000"/>
              </a:solidFill>
              <a:latin typeface="Arial"/>
              <a:ea typeface="Arial"/>
              <a:cs typeface="Arial"/>
              <a:sym typeface="Arial"/>
            </a:endParaRPr>
          </a:p>
        </p:txBody>
      </p:sp>
      <p:sp>
        <p:nvSpPr>
          <p:cNvPr id="768" name="Google Shape;768;g3ee94320d98_2_318"/>
          <p:cNvSpPr txBox="1"/>
          <p:nvPr/>
        </p:nvSpPr>
        <p:spPr>
          <a:xfrm>
            <a:off x="503051" y="5669280"/>
            <a:ext cx="3274405" cy="86868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ko-KR" sz="1100" u="none" cap="none" strike="noStrike">
                <a:solidFill>
                  <a:srgbClr val="334155"/>
                </a:solidFill>
                <a:latin typeface="Calibri"/>
                <a:ea typeface="Calibri"/>
                <a:cs typeface="Calibri"/>
                <a:sym typeface="Calibri"/>
              </a:rPr>
              <a:t>새 구문 추가 시 함수 변경 없이</a:t>
            </a:r>
            <a:br>
              <a:rPr b="0" i="0" lang="ko-KR" sz="1100" u="none" cap="none" strike="noStrike">
                <a:solidFill>
                  <a:srgbClr val="334155"/>
                </a:solidFill>
                <a:latin typeface="Calibri"/>
                <a:ea typeface="Calibri"/>
                <a:cs typeface="Calibri"/>
                <a:sym typeface="Calibri"/>
              </a:rPr>
            </a:br>
            <a:r>
              <a:rPr b="0" i="0" lang="ko-KR" sz="1100" u="none" cap="none" strike="noStrike">
                <a:solidFill>
                  <a:srgbClr val="334155"/>
                </a:solidFill>
                <a:latin typeface="Calibri"/>
                <a:ea typeface="Calibri"/>
                <a:cs typeface="Calibri"/>
                <a:sym typeface="Calibri"/>
              </a:rPr>
              <a:t>맵 등록 한 줄로 확장</a:t>
            </a:r>
            <a:endParaRPr b="0" i="0" sz="1400" u="none" cap="none" strike="noStrike">
              <a:solidFill>
                <a:srgbClr val="000000"/>
              </a:solidFill>
              <a:latin typeface="Arial"/>
              <a:ea typeface="Arial"/>
              <a:cs typeface="Arial"/>
              <a:sym typeface="Arial"/>
            </a:endParaRPr>
          </a:p>
        </p:txBody>
      </p:sp>
      <p:sp>
        <p:nvSpPr>
          <p:cNvPr id="769" name="Google Shape;769;g3ee94320d98_2_318"/>
          <p:cNvSpPr/>
          <p:nvPr/>
        </p:nvSpPr>
        <p:spPr>
          <a:xfrm>
            <a:off x="4097579" y="5120640"/>
            <a:ext cx="3548796" cy="1536192"/>
          </a:xfrm>
          <a:prstGeom prst="rect">
            <a:avLst/>
          </a:prstGeom>
          <a:solidFill>
            <a:srgbClr val="FFFFFF"/>
          </a:solidFill>
          <a:ln cap="flat" cmpd="sng" w="9525">
            <a:solidFill>
              <a:srgbClr val="CBD5E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70" name="Google Shape;770;g3ee94320d98_2_318"/>
          <p:cNvSpPr/>
          <p:nvPr/>
        </p:nvSpPr>
        <p:spPr>
          <a:xfrm>
            <a:off x="4097579" y="5120640"/>
            <a:ext cx="3548796" cy="50292"/>
          </a:xfrm>
          <a:prstGeom prst="rect">
            <a:avLst/>
          </a:prstGeom>
          <a:solidFill>
            <a:srgbClr val="4F46E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71" name="Google Shape;771;g3ee94320d98_2_318"/>
          <p:cNvSpPr txBox="1"/>
          <p:nvPr/>
        </p:nvSpPr>
        <p:spPr>
          <a:xfrm>
            <a:off x="4234775" y="5285232"/>
            <a:ext cx="3274405" cy="32004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ko-KR" sz="1400" u="none" cap="none" strike="noStrike">
                <a:solidFill>
                  <a:srgbClr val="0F172A"/>
                </a:solidFill>
                <a:latin typeface="Calibri"/>
                <a:ea typeface="Calibri"/>
                <a:cs typeface="Calibri"/>
                <a:sym typeface="Calibri"/>
              </a:rPr>
              <a:t>탐색 최적화</a:t>
            </a:r>
            <a:endParaRPr b="0" i="0" sz="1400" u="none" cap="none" strike="noStrike">
              <a:solidFill>
                <a:srgbClr val="000000"/>
              </a:solidFill>
              <a:latin typeface="Arial"/>
              <a:ea typeface="Arial"/>
              <a:cs typeface="Arial"/>
              <a:sym typeface="Arial"/>
            </a:endParaRPr>
          </a:p>
        </p:txBody>
      </p:sp>
      <p:sp>
        <p:nvSpPr>
          <p:cNvPr id="772" name="Google Shape;772;g3ee94320d98_2_318"/>
          <p:cNvSpPr txBox="1"/>
          <p:nvPr/>
        </p:nvSpPr>
        <p:spPr>
          <a:xfrm>
            <a:off x="4234775" y="5669280"/>
            <a:ext cx="3274405" cy="86868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ko-KR" sz="1100" u="none" cap="none" strike="noStrike">
                <a:solidFill>
                  <a:srgbClr val="334155"/>
                </a:solidFill>
                <a:latin typeface="Calibri"/>
                <a:ea typeface="Calibri"/>
                <a:cs typeface="Calibri"/>
                <a:sym typeface="Calibri"/>
              </a:rPr>
              <a:t>순차 조건 분기의 O(n) 비효율성을</a:t>
            </a:r>
            <a:br>
              <a:rPr b="0" i="0" lang="ko-KR" sz="1100" u="none" cap="none" strike="noStrike">
                <a:solidFill>
                  <a:srgbClr val="334155"/>
                </a:solidFill>
                <a:latin typeface="Calibri"/>
                <a:ea typeface="Calibri"/>
                <a:cs typeface="Calibri"/>
                <a:sym typeface="Calibri"/>
              </a:rPr>
            </a:br>
            <a:r>
              <a:rPr b="0" i="0" lang="ko-KR" sz="1100" u="none" cap="none" strike="noStrike">
                <a:solidFill>
                  <a:srgbClr val="334155"/>
                </a:solidFill>
                <a:latin typeface="Calibri"/>
                <a:ea typeface="Calibri"/>
                <a:cs typeface="Calibri"/>
                <a:sym typeface="Calibri"/>
              </a:rPr>
              <a:t>해시맵 O(1) 기반으로 최적화</a:t>
            </a:r>
            <a:endParaRPr b="0" i="0" sz="1400" u="none" cap="none" strike="noStrike">
              <a:solidFill>
                <a:srgbClr val="000000"/>
              </a:solidFill>
              <a:latin typeface="Arial"/>
              <a:ea typeface="Arial"/>
              <a:cs typeface="Arial"/>
              <a:sym typeface="Arial"/>
            </a:endParaRPr>
          </a:p>
        </p:txBody>
      </p:sp>
      <p:sp>
        <p:nvSpPr>
          <p:cNvPr id="773" name="Google Shape;773;g3ee94320d98_2_318"/>
          <p:cNvSpPr/>
          <p:nvPr/>
        </p:nvSpPr>
        <p:spPr>
          <a:xfrm>
            <a:off x="7829303" y="5120640"/>
            <a:ext cx="3548796" cy="1536192"/>
          </a:xfrm>
          <a:prstGeom prst="rect">
            <a:avLst/>
          </a:prstGeom>
          <a:solidFill>
            <a:srgbClr val="FFFFFF"/>
          </a:solidFill>
          <a:ln cap="flat" cmpd="sng" w="9525">
            <a:solidFill>
              <a:srgbClr val="CBD5E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74" name="Google Shape;774;g3ee94320d98_2_318"/>
          <p:cNvSpPr/>
          <p:nvPr/>
        </p:nvSpPr>
        <p:spPr>
          <a:xfrm>
            <a:off x="7829303" y="5120640"/>
            <a:ext cx="3548796" cy="50292"/>
          </a:xfrm>
          <a:prstGeom prst="rect">
            <a:avLst/>
          </a:prstGeom>
          <a:solidFill>
            <a:srgbClr val="4F46E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75" name="Google Shape;775;g3ee94320d98_2_318"/>
          <p:cNvSpPr txBox="1"/>
          <p:nvPr/>
        </p:nvSpPr>
        <p:spPr>
          <a:xfrm>
            <a:off x="7966499" y="5285232"/>
            <a:ext cx="3274405" cy="32004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ko-KR" sz="1400" u="none" cap="none" strike="noStrike">
                <a:solidFill>
                  <a:srgbClr val="0F172A"/>
                </a:solidFill>
                <a:latin typeface="Calibri"/>
                <a:ea typeface="Calibri"/>
                <a:cs typeface="Calibri"/>
                <a:sym typeface="Calibri"/>
              </a:rPr>
              <a:t>자원 효율성</a:t>
            </a:r>
            <a:endParaRPr b="0" i="0" sz="1400" u="none" cap="none" strike="noStrike">
              <a:solidFill>
                <a:srgbClr val="000000"/>
              </a:solidFill>
              <a:latin typeface="Arial"/>
              <a:ea typeface="Arial"/>
              <a:cs typeface="Arial"/>
              <a:sym typeface="Arial"/>
            </a:endParaRPr>
          </a:p>
        </p:txBody>
      </p:sp>
      <p:sp>
        <p:nvSpPr>
          <p:cNvPr id="776" name="Google Shape;776;g3ee94320d98_2_318"/>
          <p:cNvSpPr txBox="1"/>
          <p:nvPr/>
        </p:nvSpPr>
        <p:spPr>
          <a:xfrm>
            <a:off x="7966499" y="5669280"/>
            <a:ext cx="3274405" cy="86868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ko-KR" sz="1100" u="none" cap="none" strike="noStrike">
                <a:solidFill>
                  <a:srgbClr val="334155"/>
                </a:solidFill>
                <a:latin typeface="Calibri"/>
                <a:ea typeface="Calibri"/>
                <a:cs typeface="Calibri"/>
                <a:sym typeface="Calibri"/>
              </a:rPr>
              <a:t>런타임 시 매번 분기를 판단하던</a:t>
            </a:r>
            <a:br>
              <a:rPr b="0" i="0" lang="ko-KR" sz="1100" u="none" cap="none" strike="noStrike">
                <a:solidFill>
                  <a:srgbClr val="334155"/>
                </a:solidFill>
                <a:latin typeface="Calibri"/>
                <a:ea typeface="Calibri"/>
                <a:cs typeface="Calibri"/>
                <a:sym typeface="Calibri"/>
              </a:rPr>
            </a:br>
            <a:r>
              <a:rPr b="0" i="0" lang="ko-KR" sz="1100" u="none" cap="none" strike="noStrike">
                <a:solidFill>
                  <a:srgbClr val="334155"/>
                </a:solidFill>
                <a:latin typeface="Calibri"/>
                <a:ea typeface="Calibri"/>
                <a:cs typeface="Calibri"/>
                <a:sym typeface="Calibri"/>
              </a:rPr>
              <a:t>오버헤드 원천 제거</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365D"/>
        </a:solidFill>
      </p:bgPr>
    </p:bg>
    <p:spTree>
      <p:nvGrpSpPr>
        <p:cNvPr id="780" name="Shape 780"/>
        <p:cNvGrpSpPr/>
        <p:nvPr/>
      </p:nvGrpSpPr>
      <p:grpSpPr>
        <a:xfrm>
          <a:off x="0" y="0"/>
          <a:ext cx="0" cy="0"/>
          <a:chOff x="0" y="0"/>
          <a:chExt cx="0" cy="0"/>
        </a:xfrm>
      </p:grpSpPr>
      <p:sp>
        <p:nvSpPr>
          <p:cNvPr id="781" name="Google Shape;781;g3ed4bf590d6_0_123"/>
          <p:cNvSpPr txBox="1"/>
          <p:nvPr/>
        </p:nvSpPr>
        <p:spPr>
          <a:xfrm>
            <a:off x="3060620" y="2238375"/>
            <a:ext cx="60708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b="1" i="0" lang="ko-KR" sz="1800" u="none" cap="none" strike="noStrike">
                <a:solidFill>
                  <a:srgbClr val="FFFFFF"/>
                </a:solidFill>
                <a:latin typeface="Urbanist"/>
                <a:ea typeface="Urbanist"/>
                <a:cs typeface="Urbanist"/>
                <a:sym typeface="Urbanist"/>
              </a:rPr>
              <a:t>BEST PRACTICE</a:t>
            </a:r>
            <a:endParaRPr b="0" i="0" sz="1400" u="none" cap="none" strike="noStrike">
              <a:solidFill>
                <a:srgbClr val="000000"/>
              </a:solidFill>
              <a:latin typeface="Arial"/>
              <a:ea typeface="Arial"/>
              <a:cs typeface="Arial"/>
              <a:sym typeface="Arial"/>
            </a:endParaRPr>
          </a:p>
        </p:txBody>
      </p:sp>
      <p:sp>
        <p:nvSpPr>
          <p:cNvPr id="782" name="Google Shape;782;g3ed4bf590d6_0_123"/>
          <p:cNvSpPr txBox="1"/>
          <p:nvPr/>
        </p:nvSpPr>
        <p:spPr>
          <a:xfrm>
            <a:off x="3060620" y="2705100"/>
            <a:ext cx="6070800" cy="738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4800"/>
              <a:buFont typeface="Arial"/>
              <a:buNone/>
            </a:pPr>
            <a:r>
              <a:rPr b="1" i="0" lang="ko-KR" sz="4800" u="none" cap="none" strike="noStrike">
                <a:solidFill>
                  <a:srgbClr val="FFFFFF"/>
                </a:solidFill>
                <a:latin typeface="Urbanist"/>
                <a:ea typeface="Urbanist"/>
                <a:cs typeface="Urbanist"/>
                <a:sym typeface="Urbanist"/>
              </a:rPr>
              <a:t>BP - 최적화 &amp; 검증 사례</a:t>
            </a:r>
            <a:endParaRPr b="0" i="0" sz="1400" u="none" cap="none" strike="noStrike">
              <a:solidFill>
                <a:srgbClr val="000000"/>
              </a:solidFill>
              <a:latin typeface="Arial"/>
              <a:ea typeface="Arial"/>
              <a:cs typeface="Arial"/>
              <a:sym typeface="Arial"/>
            </a:endParaRPr>
          </a:p>
        </p:txBody>
      </p:sp>
      <p:sp>
        <p:nvSpPr>
          <p:cNvPr id="783" name="Google Shape;783;g3ed4bf590d6_0_123"/>
          <p:cNvSpPr/>
          <p:nvPr/>
        </p:nvSpPr>
        <p:spPr>
          <a:xfrm>
            <a:off x="5619750" y="3819525"/>
            <a:ext cx="952500" cy="47700"/>
          </a:xfrm>
          <a:prstGeom prst="rect">
            <a:avLst/>
          </a:prstGeom>
          <a:solidFill>
            <a:srgbClr val="00808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84" name="Google Shape;784;g3ed4bf590d6_0_123"/>
          <p:cNvSpPr txBox="1"/>
          <p:nvPr/>
        </p:nvSpPr>
        <p:spPr>
          <a:xfrm>
            <a:off x="2957649" y="4152900"/>
            <a:ext cx="6364800" cy="231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500"/>
              <a:buFont typeface="Arial"/>
              <a:buNone/>
            </a:pPr>
            <a:r>
              <a:rPr b="0" i="0" lang="ko-KR" sz="1500" u="none" cap="none" strike="noStrike">
                <a:solidFill>
                  <a:srgbClr val="FFFFFF"/>
                </a:solidFill>
                <a:latin typeface="Noto Sans KR"/>
                <a:ea typeface="Noto Sans KR"/>
                <a:cs typeface="Noto Sans KR"/>
                <a:sym typeface="Noto Sans KR"/>
              </a:rPr>
              <a:t>성능 최적화 </a:t>
            </a:r>
            <a:r>
              <a:rPr b="0" i="0" lang="ko-KR" sz="1500" u="none" cap="none" strike="noStrike">
                <a:solidFill>
                  <a:schemeClr val="lt1"/>
                </a:solidFill>
                <a:latin typeface="Arial"/>
                <a:ea typeface="Arial"/>
                <a:cs typeface="Arial"/>
                <a:sym typeface="Arial"/>
              </a:rPr>
              <a:t>· 테스트 검증 설계 · 예외 흐름 제어를 통한 엔지니어링</a:t>
            </a:r>
            <a:r>
              <a:rPr b="0" i="0" lang="ko-KR" sz="1500" u="none" cap="none" strike="noStrike">
                <a:solidFill>
                  <a:srgbClr val="FFFFFF"/>
                </a:solidFill>
                <a:latin typeface="Noto Sans KR"/>
                <a:ea typeface="Noto Sans KR"/>
                <a:cs typeface="Noto Sans KR"/>
                <a:sym typeface="Noto Sans KR"/>
              </a:rPr>
              <a:t> 품질 성과</a:t>
            </a:r>
            <a:endParaRPr b="0" i="0" sz="1500" u="none" cap="none" strike="noStrike">
              <a:solidFill>
                <a:srgbClr val="FFFFFF"/>
              </a:solidFill>
              <a:latin typeface="Noto Sans KR"/>
              <a:ea typeface="Noto Sans KR"/>
              <a:cs typeface="Noto Sans KR"/>
              <a:sym typeface="Noto Sans K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8" name="Shape 788"/>
        <p:cNvGrpSpPr/>
        <p:nvPr/>
      </p:nvGrpSpPr>
      <p:grpSpPr>
        <a:xfrm>
          <a:off x="0" y="0"/>
          <a:ext cx="0" cy="0"/>
          <a:chOff x="0" y="0"/>
          <a:chExt cx="0" cy="0"/>
        </a:xfrm>
      </p:grpSpPr>
      <p:sp>
        <p:nvSpPr>
          <p:cNvPr id="789" name="Google Shape;789;g3ee94320d98_10_0"/>
          <p:cNvSpPr txBox="1"/>
          <p:nvPr/>
        </p:nvSpPr>
        <p:spPr>
          <a:xfrm>
            <a:off x="493905" y="256032"/>
            <a:ext cx="8414671"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ko-KR" sz="2800" u="none" cap="none" strike="noStrike">
                <a:solidFill>
                  <a:srgbClr val="0F172A"/>
                </a:solidFill>
                <a:latin typeface="Calibri"/>
                <a:ea typeface="Calibri"/>
                <a:cs typeface="Calibri"/>
                <a:sym typeface="Calibri"/>
              </a:rPr>
              <a:t>BP 01.  성능 최적화: Static Variable Binding</a:t>
            </a:r>
            <a:endParaRPr b="0" i="0" sz="1400" u="none" cap="none" strike="noStrike">
              <a:solidFill>
                <a:srgbClr val="000000"/>
              </a:solidFill>
              <a:latin typeface="Arial"/>
              <a:ea typeface="Arial"/>
              <a:cs typeface="Arial"/>
              <a:sym typeface="Arial"/>
            </a:endParaRPr>
          </a:p>
        </p:txBody>
      </p:sp>
      <p:sp>
        <p:nvSpPr>
          <p:cNvPr id="790" name="Google Shape;790;g3ee94320d98_10_0"/>
          <p:cNvSpPr/>
          <p:nvPr/>
        </p:nvSpPr>
        <p:spPr>
          <a:xfrm>
            <a:off x="493905" y="886968"/>
            <a:ext cx="11204318" cy="50292"/>
          </a:xfrm>
          <a:prstGeom prst="rect">
            <a:avLst/>
          </a:prstGeom>
          <a:solidFill>
            <a:srgbClr val="E2E8F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91" name="Google Shape;791;g3ee94320d98_10_0"/>
          <p:cNvSpPr txBox="1"/>
          <p:nvPr/>
        </p:nvSpPr>
        <p:spPr>
          <a:xfrm>
            <a:off x="493905" y="978408"/>
            <a:ext cx="7865888"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0" i="0" lang="ko-KR" sz="1300" u="none" cap="none" strike="noStrike">
                <a:solidFill>
                  <a:srgbClr val="64748B"/>
                </a:solidFill>
                <a:latin typeface="Calibri"/>
                <a:ea typeface="Calibri"/>
                <a:cs typeface="Calibri"/>
                <a:sym typeface="Calibri"/>
              </a:rPr>
              <a:t>Resolver 컴파일 타임 분석 → 변수 접근 경로를 O(n) 체인 순회에서 O(1) 배열 인덱싱으로 변환</a:t>
            </a:r>
            <a:endParaRPr b="0" i="0" sz="1400" u="none" cap="none" strike="noStrike">
              <a:solidFill>
                <a:srgbClr val="000000"/>
              </a:solidFill>
              <a:latin typeface="Arial"/>
              <a:ea typeface="Arial"/>
              <a:cs typeface="Arial"/>
              <a:sym typeface="Arial"/>
            </a:endParaRPr>
          </a:p>
        </p:txBody>
      </p:sp>
      <p:sp>
        <p:nvSpPr>
          <p:cNvPr id="792" name="Google Shape;792;g3ee94320d98_10_0"/>
          <p:cNvSpPr/>
          <p:nvPr/>
        </p:nvSpPr>
        <p:spPr>
          <a:xfrm>
            <a:off x="8807966" y="566928"/>
            <a:ext cx="3018306" cy="329184"/>
          </a:xfrm>
          <a:prstGeom prst="rect">
            <a:avLst/>
          </a:prstGeom>
          <a:solidFill>
            <a:srgbClr val="1E293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93" name="Google Shape;793;g3ee94320d98_10_0"/>
          <p:cNvSpPr txBox="1"/>
          <p:nvPr/>
        </p:nvSpPr>
        <p:spPr>
          <a:xfrm>
            <a:off x="8807966" y="566928"/>
            <a:ext cx="3018306" cy="2616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ko-KR" sz="1100" u="none" cap="none" strike="noStrike">
                <a:solidFill>
                  <a:srgbClr val="FFFFFF"/>
                </a:solidFill>
                <a:latin typeface="Calibri"/>
                <a:ea typeface="Calibri"/>
                <a:cs typeface="Calibri"/>
                <a:sym typeface="Calibri"/>
              </a:rPr>
              <a:t>☆  핵심 원칙: 성능 최적화 (Big-O 개선)</a:t>
            </a:r>
            <a:endParaRPr b="0" i="0" sz="1400" u="none" cap="none" strike="noStrike">
              <a:solidFill>
                <a:srgbClr val="000000"/>
              </a:solidFill>
              <a:latin typeface="Arial"/>
              <a:ea typeface="Arial"/>
              <a:cs typeface="Arial"/>
              <a:sym typeface="Arial"/>
            </a:endParaRPr>
          </a:p>
        </p:txBody>
      </p:sp>
      <p:sp>
        <p:nvSpPr>
          <p:cNvPr id="794" name="Google Shape;794;g3ee94320d98_10_0"/>
          <p:cNvSpPr/>
          <p:nvPr/>
        </p:nvSpPr>
        <p:spPr>
          <a:xfrm>
            <a:off x="365855" y="1325880"/>
            <a:ext cx="5579293" cy="420624"/>
          </a:xfrm>
          <a:prstGeom prst="rect">
            <a:avLst/>
          </a:prstGeom>
          <a:solidFill>
            <a:srgbClr val="DC262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95" name="Google Shape;795;g3ee94320d98_10_0"/>
          <p:cNvSpPr txBox="1"/>
          <p:nvPr/>
        </p:nvSpPr>
        <p:spPr>
          <a:xfrm>
            <a:off x="530490" y="1380744"/>
            <a:ext cx="5378073" cy="3291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1" i="0" lang="ko-KR" sz="1300" u="none" cap="none" strike="noStrike">
                <a:solidFill>
                  <a:srgbClr val="FFFFFF"/>
                </a:solidFill>
                <a:latin typeface="Calibri"/>
                <a:ea typeface="Calibri"/>
                <a:cs typeface="Calibri"/>
                <a:sym typeface="Calibri"/>
              </a:rPr>
              <a:t>✕  As-Is: 런타임 O(n) 스코프 체인 순회</a:t>
            </a:r>
            <a:endParaRPr b="0" i="0" sz="1400" u="none" cap="none" strike="noStrike">
              <a:solidFill>
                <a:srgbClr val="000000"/>
              </a:solidFill>
              <a:latin typeface="Arial"/>
              <a:ea typeface="Arial"/>
              <a:cs typeface="Arial"/>
              <a:sym typeface="Arial"/>
            </a:endParaRPr>
          </a:p>
        </p:txBody>
      </p:sp>
      <p:sp>
        <p:nvSpPr>
          <p:cNvPr id="796" name="Google Shape;796;g3ee94320d98_10_0"/>
          <p:cNvSpPr/>
          <p:nvPr/>
        </p:nvSpPr>
        <p:spPr>
          <a:xfrm>
            <a:off x="365855" y="1746504"/>
            <a:ext cx="5579293" cy="2880360"/>
          </a:xfrm>
          <a:prstGeom prst="rect">
            <a:avLst/>
          </a:prstGeom>
          <a:solidFill>
            <a:srgbClr val="1E293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97" name="Google Shape;797;g3ee94320d98_10_0"/>
          <p:cNvSpPr txBox="1"/>
          <p:nvPr/>
        </p:nvSpPr>
        <p:spPr>
          <a:xfrm>
            <a:off x="530490" y="1874520"/>
            <a:ext cx="5304901" cy="26791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50"/>
              <a:buFont typeface="Arial"/>
              <a:buNone/>
            </a:pPr>
            <a:r>
              <a:rPr b="0" i="0" lang="ko-KR" sz="950" u="none" cap="none" strike="noStrike">
                <a:solidFill>
                  <a:srgbClr val="64748B"/>
                </a:solidFill>
                <a:latin typeface="Calibri"/>
                <a:ea typeface="Calibri"/>
                <a:cs typeface="Calibri"/>
                <a:sym typeface="Calibri"/>
              </a:rPr>
              <a:t>// Environment::get() — 매번 체인 순회</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7DD3FC"/>
                </a:solidFill>
                <a:latin typeface="Calibri"/>
                <a:ea typeface="Calibri"/>
                <a:cs typeface="Calibri"/>
                <a:sym typeface="Calibri"/>
              </a:rPr>
              <a:t>Value Environment::get(const Token&amp; name) const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7DD3FC"/>
                </a:solidFill>
                <a:latin typeface="Calibri"/>
                <a:ea typeface="Calibri"/>
                <a:cs typeface="Calibri"/>
                <a:sym typeface="Calibri"/>
              </a:rPr>
              <a:t>    auto it = m_values.find(name.lexeme);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7DD3FC"/>
                </a:solidFill>
                <a:latin typeface="Calibri"/>
                <a:ea typeface="Calibri"/>
                <a:cs typeface="Calibri"/>
                <a:sym typeface="Calibri"/>
              </a:rPr>
              <a:t>    if (it != m_values.end()) return it-&gt;second;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7DD3FC"/>
                </a:solidFill>
                <a:latin typeface="Calibri"/>
                <a:ea typeface="Calibri"/>
                <a:cs typeface="Calibri"/>
                <a:sym typeface="Calibri"/>
              </a:rPr>
              <a:t>    if (m_enclosing)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        s_chainSteps++;      // depth만큼 카운트 증가</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7DD3FC"/>
                </a:solidFill>
                <a:latin typeface="Calibri"/>
                <a:ea typeface="Calibri"/>
                <a:cs typeface="Calibri"/>
                <a:sym typeface="Calibri"/>
              </a:rPr>
              <a:t>        return m_enclosing-&gt;get(name);  // 재귀 O(depth)</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    throw RuntimeError(...);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64748B"/>
                </a:solidFill>
                <a:latin typeface="Calibri"/>
                <a:ea typeface="Calibri"/>
                <a:cs typeface="Calibri"/>
                <a:sym typeface="Calibri"/>
              </a:rPr>
              <a:t>// depth=12 블록 내 변수 접근 → 12회 재귀</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64748B"/>
                </a:solidFill>
                <a:latin typeface="Calibri"/>
                <a:ea typeface="Calibri"/>
                <a:cs typeface="Calibri"/>
                <a:sym typeface="Calibri"/>
              </a:rPr>
              <a:t>// depth=50 블록 내 변수 접근 → 50회 재귀</a:t>
            </a:r>
            <a:endParaRPr b="0" i="0" sz="1400" u="none" cap="none" strike="noStrike">
              <a:solidFill>
                <a:srgbClr val="000000"/>
              </a:solidFill>
              <a:latin typeface="Arial"/>
              <a:ea typeface="Arial"/>
              <a:cs typeface="Arial"/>
              <a:sym typeface="Arial"/>
            </a:endParaRPr>
          </a:p>
        </p:txBody>
      </p:sp>
      <p:sp>
        <p:nvSpPr>
          <p:cNvPr id="798" name="Google Shape;798;g3ee94320d98_10_0"/>
          <p:cNvSpPr txBox="1"/>
          <p:nvPr/>
        </p:nvSpPr>
        <p:spPr>
          <a:xfrm>
            <a:off x="439026" y="4663440"/>
            <a:ext cx="5469536"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ko-KR" sz="1000" u="none" cap="none" strike="noStrike">
                <a:solidFill>
                  <a:srgbClr val="B45C09"/>
                </a:solidFill>
                <a:latin typeface="Calibri"/>
                <a:ea typeface="Calibri"/>
                <a:cs typeface="Calibri"/>
                <a:sym typeface="Calibri"/>
              </a:rPr>
              <a:t>⚠ 중첩 스코프가 깊을수록 접근 비용이 선형 증가 O(n)</a:t>
            </a:r>
            <a:endParaRPr b="0" i="0" sz="1400" u="none" cap="none" strike="noStrike">
              <a:solidFill>
                <a:srgbClr val="000000"/>
              </a:solidFill>
              <a:latin typeface="Arial"/>
              <a:ea typeface="Arial"/>
              <a:cs typeface="Arial"/>
              <a:sym typeface="Arial"/>
            </a:endParaRPr>
          </a:p>
        </p:txBody>
      </p:sp>
      <p:sp>
        <p:nvSpPr>
          <p:cNvPr id="799" name="Google Shape;799;g3ee94320d98_10_0"/>
          <p:cNvSpPr/>
          <p:nvPr/>
        </p:nvSpPr>
        <p:spPr>
          <a:xfrm>
            <a:off x="6155515" y="1325880"/>
            <a:ext cx="5579293" cy="420624"/>
          </a:xfrm>
          <a:prstGeom prst="rect">
            <a:avLst/>
          </a:prstGeom>
          <a:solidFill>
            <a:srgbClr val="16A3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00" name="Google Shape;800;g3ee94320d98_10_0"/>
          <p:cNvSpPr txBox="1"/>
          <p:nvPr/>
        </p:nvSpPr>
        <p:spPr>
          <a:xfrm>
            <a:off x="6320150" y="1380744"/>
            <a:ext cx="5378073" cy="3291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1" i="0" lang="ko-KR" sz="1300" u="none" cap="none" strike="noStrike">
                <a:solidFill>
                  <a:srgbClr val="FFFFFF"/>
                </a:solidFill>
                <a:latin typeface="Calibri"/>
                <a:ea typeface="Calibri"/>
                <a:cs typeface="Calibri"/>
                <a:sym typeface="Calibri"/>
              </a:rPr>
              <a:t>✓  To-Be: 컴파일 타임 Resolver + O(1) Scope Stack</a:t>
            </a:r>
            <a:endParaRPr b="0" i="0" sz="1400" u="none" cap="none" strike="noStrike">
              <a:solidFill>
                <a:srgbClr val="000000"/>
              </a:solidFill>
              <a:latin typeface="Arial"/>
              <a:ea typeface="Arial"/>
              <a:cs typeface="Arial"/>
              <a:sym typeface="Arial"/>
            </a:endParaRPr>
          </a:p>
        </p:txBody>
      </p:sp>
      <p:sp>
        <p:nvSpPr>
          <p:cNvPr id="801" name="Google Shape;801;g3ee94320d98_10_0"/>
          <p:cNvSpPr/>
          <p:nvPr/>
        </p:nvSpPr>
        <p:spPr>
          <a:xfrm>
            <a:off x="6155515" y="1746504"/>
            <a:ext cx="5579293" cy="2880360"/>
          </a:xfrm>
          <a:prstGeom prst="rect">
            <a:avLst/>
          </a:prstGeom>
          <a:solidFill>
            <a:srgbClr val="1E293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02" name="Google Shape;802;g3ee94320d98_10_0"/>
          <p:cNvSpPr txBox="1"/>
          <p:nvPr/>
        </p:nvSpPr>
        <p:spPr>
          <a:xfrm>
            <a:off x="6320150" y="1874520"/>
            <a:ext cx="5304901" cy="29418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50"/>
              <a:buFont typeface="Arial"/>
              <a:buNone/>
            </a:pPr>
            <a:r>
              <a:rPr b="0" i="0" lang="ko-KR" sz="950" u="none" cap="none" strike="noStrike">
                <a:solidFill>
                  <a:srgbClr val="64748B"/>
                </a:solidFill>
                <a:latin typeface="Calibri"/>
                <a:ea typeface="Calibri"/>
                <a:cs typeface="Calibri"/>
                <a:sym typeface="Calibri"/>
              </a:rPr>
              <a:t>// Resolver — 컴파일 타임에 depth 미리 계산</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7DD3FC"/>
                </a:solidFill>
                <a:latin typeface="Calibri"/>
                <a:ea typeface="Calibri"/>
                <a:cs typeface="Calibri"/>
                <a:sym typeface="Calibri"/>
              </a:rPr>
              <a:t>void Resolver::resolveLocal(Expr&amp; e, const string&amp; name)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    for (int i = m_scopes.size()-1; i &gt;= 0; i--)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7DD3FC"/>
                </a:solidFill>
                <a:latin typeface="Calibri"/>
                <a:ea typeface="Calibri"/>
                <a:cs typeface="Calibri"/>
                <a:sym typeface="Calibri"/>
              </a:rPr>
              <a:t>        if (m_scopes[i].count(name))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            m_bindings[&amp;e] = m_scopes.size()-1-i;</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            return;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64748B"/>
                </a:solidFill>
                <a:latin typeface="Calibri"/>
                <a:ea typeface="Calibri"/>
                <a:cs typeface="Calibri"/>
                <a:sym typeface="Calibri"/>
              </a:rPr>
              <a:t>// Interpreter — O(1) 배열 인덱싱</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7DD3FC"/>
                </a:solidFill>
                <a:latin typeface="Calibri"/>
                <a:ea typeface="Calibri"/>
                <a:cs typeface="Calibri"/>
                <a:sym typeface="Calibri"/>
              </a:rPr>
              <a:t>Value Interpreter::visitVariable(VariableExpr&amp; 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7DD3FC"/>
                </a:solidFill>
                <a:latin typeface="Calibri"/>
                <a:ea typeface="Calibri"/>
                <a:cs typeface="Calibri"/>
                <a:sym typeface="Calibri"/>
              </a:rPr>
              <a:t>    if (auto dist = lookupBinding(&amp;e))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        m_spy-&gt;m_bindingHits++;      // O(1) 경로</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7DD3FC"/>
                </a:solidFill>
                <a:latin typeface="Calibri"/>
                <a:ea typeface="Calibri"/>
                <a:cs typeface="Calibri"/>
                <a:sym typeface="Calibri"/>
              </a:rPr>
              <a:t>        int idx = m_scopeStack.size()-1-*dist;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7DD3FC"/>
                </a:solidFill>
                <a:latin typeface="Calibri"/>
                <a:ea typeface="Calibri"/>
                <a:cs typeface="Calibri"/>
                <a:sym typeface="Calibri"/>
              </a:rPr>
              <a:t>        return m_scopeStack[idx]-&gt;values()[e.name.lexeme];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7DD3FC"/>
                </a:solidFill>
                <a:latin typeface="Calibri"/>
                <a:ea typeface="Calibri"/>
                <a:cs typeface="Calibri"/>
                <a:sym typeface="Calibri"/>
              </a:rPr>
              <a:t>    return m_currentEnv-&gt;get(e.name); // 전역 fallback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803" name="Google Shape;803;g3ee94320d98_10_0"/>
          <p:cNvSpPr txBox="1"/>
          <p:nvPr/>
        </p:nvSpPr>
        <p:spPr>
          <a:xfrm>
            <a:off x="6228686" y="4663440"/>
            <a:ext cx="5469536"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ko-KR" sz="1000" u="none" cap="none" strike="noStrike">
                <a:solidFill>
                  <a:srgbClr val="166A34"/>
                </a:solidFill>
                <a:latin typeface="Calibri"/>
                <a:ea typeface="Calibri"/>
                <a:cs typeface="Calibri"/>
                <a:sym typeface="Calibri"/>
              </a:rPr>
              <a:t>✅ depth=1 과 depth=50 모두 chainSteps()==0, O(1) 균일 성능</a:t>
            </a:r>
            <a:endParaRPr b="0" i="0" sz="1400" u="none" cap="none" strike="noStrike">
              <a:solidFill>
                <a:srgbClr val="000000"/>
              </a:solidFill>
              <a:latin typeface="Arial"/>
              <a:ea typeface="Arial"/>
              <a:cs typeface="Arial"/>
              <a:sym typeface="Arial"/>
            </a:endParaRPr>
          </a:p>
        </p:txBody>
      </p:sp>
      <p:sp>
        <p:nvSpPr>
          <p:cNvPr id="804" name="Google Shape;804;g3ee94320d98_10_0"/>
          <p:cNvSpPr/>
          <p:nvPr/>
        </p:nvSpPr>
        <p:spPr>
          <a:xfrm>
            <a:off x="493905" y="5029200"/>
            <a:ext cx="11204318" cy="50292"/>
          </a:xfrm>
          <a:prstGeom prst="rect">
            <a:avLst/>
          </a:prstGeom>
          <a:solidFill>
            <a:srgbClr val="E2E8F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05" name="Google Shape;805;g3ee94320d98_10_0"/>
          <p:cNvSpPr/>
          <p:nvPr/>
        </p:nvSpPr>
        <p:spPr>
          <a:xfrm>
            <a:off x="365855" y="5120640"/>
            <a:ext cx="3548796" cy="1536192"/>
          </a:xfrm>
          <a:prstGeom prst="rect">
            <a:avLst/>
          </a:prstGeom>
          <a:solidFill>
            <a:srgbClr val="FFFFFF"/>
          </a:solidFill>
          <a:ln cap="flat" cmpd="sng" w="9525">
            <a:solidFill>
              <a:srgbClr val="CBD5E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06" name="Google Shape;806;g3ee94320d98_10_0"/>
          <p:cNvSpPr/>
          <p:nvPr/>
        </p:nvSpPr>
        <p:spPr>
          <a:xfrm>
            <a:off x="365855" y="5120640"/>
            <a:ext cx="3548796" cy="50292"/>
          </a:xfrm>
          <a:prstGeom prst="rect">
            <a:avLst/>
          </a:prstGeom>
          <a:solidFill>
            <a:srgbClr val="4F46E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07" name="Google Shape;807;g3ee94320d98_10_0"/>
          <p:cNvSpPr txBox="1"/>
          <p:nvPr/>
        </p:nvSpPr>
        <p:spPr>
          <a:xfrm>
            <a:off x="503051" y="5285232"/>
            <a:ext cx="3274405" cy="32004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ko-KR" sz="1400" u="none" cap="none" strike="noStrike">
                <a:solidFill>
                  <a:srgbClr val="0F172A"/>
                </a:solidFill>
                <a:latin typeface="Calibri"/>
                <a:ea typeface="Calibri"/>
                <a:cs typeface="Calibri"/>
                <a:sym typeface="Calibri"/>
              </a:rPr>
              <a:t>O(1) 균일 접근</a:t>
            </a:r>
            <a:endParaRPr b="0" i="0" sz="1400" u="none" cap="none" strike="noStrike">
              <a:solidFill>
                <a:srgbClr val="000000"/>
              </a:solidFill>
              <a:latin typeface="Arial"/>
              <a:ea typeface="Arial"/>
              <a:cs typeface="Arial"/>
              <a:sym typeface="Arial"/>
            </a:endParaRPr>
          </a:p>
        </p:txBody>
      </p:sp>
      <p:sp>
        <p:nvSpPr>
          <p:cNvPr id="808" name="Google Shape;808;g3ee94320d98_10_0"/>
          <p:cNvSpPr txBox="1"/>
          <p:nvPr/>
        </p:nvSpPr>
        <p:spPr>
          <a:xfrm>
            <a:off x="503051" y="5669280"/>
            <a:ext cx="3274405" cy="86868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ko-KR" sz="1100" u="none" cap="none" strike="noStrike">
                <a:solidFill>
                  <a:srgbClr val="334155"/>
                </a:solidFill>
                <a:latin typeface="Calibri"/>
                <a:ea typeface="Calibri"/>
                <a:cs typeface="Calibri"/>
                <a:sym typeface="Calibri"/>
              </a:rPr>
              <a:t>중첩 depth 1·13·50 모두</a:t>
            </a:r>
            <a:br>
              <a:rPr b="0" i="0" lang="ko-KR" sz="1100" u="none" cap="none" strike="noStrike">
                <a:solidFill>
                  <a:srgbClr val="334155"/>
                </a:solidFill>
                <a:latin typeface="Calibri"/>
                <a:ea typeface="Calibri"/>
                <a:cs typeface="Calibri"/>
                <a:sym typeface="Calibri"/>
              </a:rPr>
            </a:br>
            <a:r>
              <a:rPr b="0" i="0" lang="ko-KR" sz="1100" u="none" cap="none" strike="noStrike">
                <a:solidFill>
                  <a:srgbClr val="334155"/>
                </a:solidFill>
                <a:latin typeface="Calibri"/>
                <a:ea typeface="Calibri"/>
                <a:cs typeface="Calibri"/>
                <a:sym typeface="Calibri"/>
              </a:rPr>
              <a:t>chainSteps() == 0 보장</a:t>
            </a:r>
            <a:endParaRPr b="0" i="0" sz="1400" u="none" cap="none" strike="noStrike">
              <a:solidFill>
                <a:srgbClr val="000000"/>
              </a:solidFill>
              <a:latin typeface="Arial"/>
              <a:ea typeface="Arial"/>
              <a:cs typeface="Arial"/>
              <a:sym typeface="Arial"/>
            </a:endParaRPr>
          </a:p>
        </p:txBody>
      </p:sp>
      <p:sp>
        <p:nvSpPr>
          <p:cNvPr id="809" name="Google Shape;809;g3ee94320d98_10_0"/>
          <p:cNvSpPr/>
          <p:nvPr/>
        </p:nvSpPr>
        <p:spPr>
          <a:xfrm>
            <a:off x="4097579" y="5120640"/>
            <a:ext cx="3548796" cy="1536192"/>
          </a:xfrm>
          <a:prstGeom prst="rect">
            <a:avLst/>
          </a:prstGeom>
          <a:solidFill>
            <a:srgbClr val="FFFFFF"/>
          </a:solidFill>
          <a:ln cap="flat" cmpd="sng" w="9525">
            <a:solidFill>
              <a:srgbClr val="CBD5E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10" name="Google Shape;810;g3ee94320d98_10_0"/>
          <p:cNvSpPr/>
          <p:nvPr/>
        </p:nvSpPr>
        <p:spPr>
          <a:xfrm>
            <a:off x="4097579" y="5120640"/>
            <a:ext cx="3548796" cy="50292"/>
          </a:xfrm>
          <a:prstGeom prst="rect">
            <a:avLst/>
          </a:prstGeom>
          <a:solidFill>
            <a:srgbClr val="4F46E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11" name="Google Shape;811;g3ee94320d98_10_0"/>
          <p:cNvSpPr txBox="1"/>
          <p:nvPr/>
        </p:nvSpPr>
        <p:spPr>
          <a:xfrm>
            <a:off x="4234775" y="5285232"/>
            <a:ext cx="3274405" cy="32004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ko-KR" sz="1400" u="none" cap="none" strike="noStrike">
                <a:solidFill>
                  <a:srgbClr val="0F172A"/>
                </a:solidFill>
                <a:latin typeface="Calibri"/>
                <a:ea typeface="Calibri"/>
                <a:cs typeface="Calibri"/>
                <a:sym typeface="Calibri"/>
              </a:rPr>
              <a:t>BindingSpy 검증</a:t>
            </a:r>
            <a:endParaRPr b="0" i="0" sz="1400" u="none" cap="none" strike="noStrike">
              <a:solidFill>
                <a:srgbClr val="000000"/>
              </a:solidFill>
              <a:latin typeface="Arial"/>
              <a:ea typeface="Arial"/>
              <a:cs typeface="Arial"/>
              <a:sym typeface="Arial"/>
            </a:endParaRPr>
          </a:p>
        </p:txBody>
      </p:sp>
      <p:sp>
        <p:nvSpPr>
          <p:cNvPr id="812" name="Google Shape;812;g3ee94320d98_10_0"/>
          <p:cNvSpPr txBox="1"/>
          <p:nvPr/>
        </p:nvSpPr>
        <p:spPr>
          <a:xfrm>
            <a:off x="4234775" y="5669280"/>
            <a:ext cx="3274405" cy="86868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ko-KR" sz="1100" u="none" cap="none" strike="noStrike">
                <a:solidFill>
                  <a:srgbClr val="334155"/>
                </a:solidFill>
                <a:latin typeface="Calibri"/>
                <a:ea typeface="Calibri"/>
                <a:cs typeface="Calibri"/>
                <a:sym typeface="Calibri"/>
              </a:rPr>
              <a:t>bindingHits &gt; 0, chainWalks == 0</a:t>
            </a:r>
            <a:br>
              <a:rPr b="0" i="0" lang="ko-KR" sz="1100" u="none" cap="none" strike="noStrike">
                <a:solidFill>
                  <a:srgbClr val="334155"/>
                </a:solidFill>
                <a:latin typeface="Calibri"/>
                <a:ea typeface="Calibri"/>
                <a:cs typeface="Calibri"/>
                <a:sym typeface="Calibri"/>
              </a:rPr>
            </a:br>
            <a:r>
              <a:rPr b="0" i="0" lang="ko-KR" sz="1100" u="none" cap="none" strike="noStrike">
                <a:solidFill>
                  <a:srgbClr val="334155"/>
                </a:solidFill>
                <a:latin typeface="Calibri"/>
                <a:ea typeface="Calibri"/>
                <a:cs typeface="Calibri"/>
                <a:sym typeface="Calibri"/>
              </a:rPr>
              <a:t>성능 회귀를 테스트가 자동 감지</a:t>
            </a:r>
            <a:endParaRPr b="0" i="0" sz="1400" u="none" cap="none" strike="noStrike">
              <a:solidFill>
                <a:srgbClr val="000000"/>
              </a:solidFill>
              <a:latin typeface="Arial"/>
              <a:ea typeface="Arial"/>
              <a:cs typeface="Arial"/>
              <a:sym typeface="Arial"/>
            </a:endParaRPr>
          </a:p>
        </p:txBody>
      </p:sp>
      <p:sp>
        <p:nvSpPr>
          <p:cNvPr id="813" name="Google Shape;813;g3ee94320d98_10_0"/>
          <p:cNvSpPr/>
          <p:nvPr/>
        </p:nvSpPr>
        <p:spPr>
          <a:xfrm>
            <a:off x="7829303" y="5120640"/>
            <a:ext cx="3548796" cy="1536192"/>
          </a:xfrm>
          <a:prstGeom prst="rect">
            <a:avLst/>
          </a:prstGeom>
          <a:solidFill>
            <a:srgbClr val="FFFFFF"/>
          </a:solidFill>
          <a:ln cap="flat" cmpd="sng" w="9525">
            <a:solidFill>
              <a:srgbClr val="CBD5E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14" name="Google Shape;814;g3ee94320d98_10_0"/>
          <p:cNvSpPr/>
          <p:nvPr/>
        </p:nvSpPr>
        <p:spPr>
          <a:xfrm>
            <a:off x="7829303" y="5120640"/>
            <a:ext cx="3548796" cy="50292"/>
          </a:xfrm>
          <a:prstGeom prst="rect">
            <a:avLst/>
          </a:prstGeom>
          <a:solidFill>
            <a:srgbClr val="4F46E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15" name="Google Shape;815;g3ee94320d98_10_0"/>
          <p:cNvSpPr txBox="1"/>
          <p:nvPr/>
        </p:nvSpPr>
        <p:spPr>
          <a:xfrm>
            <a:off x="7966499" y="5285232"/>
            <a:ext cx="3274405" cy="32004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ko-KR" sz="1400" u="none" cap="none" strike="noStrike">
                <a:solidFill>
                  <a:srgbClr val="0F172A"/>
                </a:solidFill>
                <a:latin typeface="Calibri"/>
                <a:ea typeface="Calibri"/>
                <a:cs typeface="Calibri"/>
                <a:sym typeface="Calibri"/>
              </a:rPr>
              <a:t>메모리 효율</a:t>
            </a:r>
            <a:endParaRPr b="0" i="0" sz="1400" u="none" cap="none" strike="noStrike">
              <a:solidFill>
                <a:srgbClr val="000000"/>
              </a:solidFill>
              <a:latin typeface="Arial"/>
              <a:ea typeface="Arial"/>
              <a:cs typeface="Arial"/>
              <a:sym typeface="Arial"/>
            </a:endParaRPr>
          </a:p>
        </p:txBody>
      </p:sp>
      <p:sp>
        <p:nvSpPr>
          <p:cNvPr id="816" name="Google Shape;816;g3ee94320d98_10_0"/>
          <p:cNvSpPr txBox="1"/>
          <p:nvPr/>
        </p:nvSpPr>
        <p:spPr>
          <a:xfrm>
            <a:off x="7966499" y="5669280"/>
            <a:ext cx="3274405" cy="86868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ko-KR" sz="1100" u="none" cap="none" strike="noStrike">
                <a:solidFill>
                  <a:srgbClr val="334155"/>
                </a:solidFill>
                <a:latin typeface="Calibri"/>
                <a:ea typeface="Calibri"/>
                <a:cs typeface="Calibri"/>
                <a:sym typeface="Calibri"/>
              </a:rPr>
              <a:t>평탄화 scopeStack 배열 인덱싱으로</a:t>
            </a:r>
            <a:br>
              <a:rPr b="0" i="0" lang="ko-KR" sz="1100" u="none" cap="none" strike="noStrike">
                <a:solidFill>
                  <a:srgbClr val="334155"/>
                </a:solidFill>
                <a:latin typeface="Calibri"/>
                <a:ea typeface="Calibri"/>
                <a:cs typeface="Calibri"/>
                <a:sym typeface="Calibri"/>
              </a:rPr>
            </a:br>
            <a:r>
              <a:rPr b="0" i="0" lang="ko-KR" sz="1100" u="none" cap="none" strike="noStrike">
                <a:solidFill>
                  <a:srgbClr val="334155"/>
                </a:solidFill>
                <a:latin typeface="Calibri"/>
                <a:ea typeface="Calibri"/>
                <a:cs typeface="Calibri"/>
                <a:sym typeface="Calibri"/>
              </a:rPr>
              <a:t>shared_ptr 체인 역추적 비용 제거</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0" name="Shape 820"/>
        <p:cNvGrpSpPr/>
        <p:nvPr/>
      </p:nvGrpSpPr>
      <p:grpSpPr>
        <a:xfrm>
          <a:off x="0" y="0"/>
          <a:ext cx="0" cy="0"/>
          <a:chOff x="0" y="0"/>
          <a:chExt cx="0" cy="0"/>
        </a:xfrm>
      </p:grpSpPr>
      <p:sp>
        <p:nvSpPr>
          <p:cNvPr id="821" name="Google Shape;821;g3ee94320d98_10_32"/>
          <p:cNvSpPr txBox="1"/>
          <p:nvPr/>
        </p:nvSpPr>
        <p:spPr>
          <a:xfrm>
            <a:off x="493905" y="256032"/>
            <a:ext cx="8414671"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ko-KR" sz="2800" u="none" cap="none" strike="noStrike">
                <a:solidFill>
                  <a:srgbClr val="0F172A"/>
                </a:solidFill>
                <a:latin typeface="Calibri"/>
                <a:ea typeface="Calibri"/>
                <a:cs typeface="Calibri"/>
                <a:sym typeface="Calibri"/>
              </a:rPr>
              <a:t>BP 02.  테스트 전략: Spy 패턴</a:t>
            </a:r>
            <a:endParaRPr b="0" i="0" sz="1400" u="none" cap="none" strike="noStrike">
              <a:solidFill>
                <a:srgbClr val="000000"/>
              </a:solidFill>
              <a:latin typeface="Arial"/>
              <a:ea typeface="Arial"/>
              <a:cs typeface="Arial"/>
              <a:sym typeface="Arial"/>
            </a:endParaRPr>
          </a:p>
        </p:txBody>
      </p:sp>
      <p:sp>
        <p:nvSpPr>
          <p:cNvPr id="822" name="Google Shape;822;g3ee94320d98_10_32"/>
          <p:cNvSpPr/>
          <p:nvPr/>
        </p:nvSpPr>
        <p:spPr>
          <a:xfrm>
            <a:off x="493905" y="886968"/>
            <a:ext cx="11204318" cy="50292"/>
          </a:xfrm>
          <a:prstGeom prst="rect">
            <a:avLst/>
          </a:prstGeom>
          <a:solidFill>
            <a:srgbClr val="E2E8F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23" name="Google Shape;823;g3ee94320d98_10_32"/>
          <p:cNvSpPr txBox="1"/>
          <p:nvPr/>
        </p:nvSpPr>
        <p:spPr>
          <a:xfrm>
            <a:off x="493905" y="978408"/>
            <a:ext cx="7865888"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0" i="0" lang="ko-KR" sz="1300" u="none" cap="none" strike="noStrike">
                <a:solidFill>
                  <a:srgbClr val="64748B"/>
                </a:solidFill>
                <a:latin typeface="Calibri"/>
                <a:ea typeface="Calibri"/>
                <a:cs typeface="Calibri"/>
                <a:sym typeface="Calibri"/>
              </a:rPr>
              <a:t>프로덕션 코드에 Spy 주입 — 기능 정확성과 내부 성능 경로를 동시에 검증</a:t>
            </a:r>
            <a:endParaRPr b="0" i="0" sz="1400" u="none" cap="none" strike="noStrike">
              <a:solidFill>
                <a:srgbClr val="000000"/>
              </a:solidFill>
              <a:latin typeface="Arial"/>
              <a:ea typeface="Arial"/>
              <a:cs typeface="Arial"/>
              <a:sym typeface="Arial"/>
            </a:endParaRPr>
          </a:p>
        </p:txBody>
      </p:sp>
      <p:sp>
        <p:nvSpPr>
          <p:cNvPr id="824" name="Google Shape;824;g3ee94320d98_10_32"/>
          <p:cNvSpPr/>
          <p:nvPr/>
        </p:nvSpPr>
        <p:spPr>
          <a:xfrm>
            <a:off x="8807966" y="566928"/>
            <a:ext cx="3018306" cy="329184"/>
          </a:xfrm>
          <a:prstGeom prst="rect">
            <a:avLst/>
          </a:prstGeom>
          <a:solidFill>
            <a:srgbClr val="1E293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25" name="Google Shape;825;g3ee94320d98_10_32"/>
          <p:cNvSpPr txBox="1"/>
          <p:nvPr/>
        </p:nvSpPr>
        <p:spPr>
          <a:xfrm>
            <a:off x="8807966" y="566928"/>
            <a:ext cx="3018306" cy="2616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ko-KR" sz="1100" u="none" cap="none" strike="noStrike">
                <a:solidFill>
                  <a:srgbClr val="FFFFFF"/>
                </a:solidFill>
                <a:latin typeface="Calibri"/>
                <a:ea typeface="Calibri"/>
                <a:cs typeface="Calibri"/>
                <a:sym typeface="Calibri"/>
              </a:rPr>
              <a:t>☆  핵심 원칙: 테스트 가능성 (Testability)</a:t>
            </a:r>
            <a:endParaRPr b="0" i="0" sz="1400" u="none" cap="none" strike="noStrike">
              <a:solidFill>
                <a:srgbClr val="000000"/>
              </a:solidFill>
              <a:latin typeface="Arial"/>
              <a:ea typeface="Arial"/>
              <a:cs typeface="Arial"/>
              <a:sym typeface="Arial"/>
            </a:endParaRPr>
          </a:p>
        </p:txBody>
      </p:sp>
      <p:sp>
        <p:nvSpPr>
          <p:cNvPr id="826" name="Google Shape;826;g3ee94320d98_10_32"/>
          <p:cNvSpPr/>
          <p:nvPr/>
        </p:nvSpPr>
        <p:spPr>
          <a:xfrm>
            <a:off x="365855" y="1325880"/>
            <a:ext cx="5579293" cy="420624"/>
          </a:xfrm>
          <a:prstGeom prst="rect">
            <a:avLst/>
          </a:prstGeom>
          <a:solidFill>
            <a:srgbClr val="DC262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27" name="Google Shape;827;g3ee94320d98_10_32"/>
          <p:cNvSpPr txBox="1"/>
          <p:nvPr/>
        </p:nvSpPr>
        <p:spPr>
          <a:xfrm>
            <a:off x="530490" y="1380744"/>
            <a:ext cx="5378073" cy="3291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1" i="0" lang="ko-KR" sz="1300" u="none" cap="none" strike="noStrike">
                <a:solidFill>
                  <a:srgbClr val="FFFFFF"/>
                </a:solidFill>
                <a:latin typeface="Calibri"/>
                <a:ea typeface="Calibri"/>
                <a:cs typeface="Calibri"/>
                <a:sym typeface="Calibri"/>
              </a:rPr>
              <a:t>✕  As-Is: 결과값만 검증 (경로 불투명)</a:t>
            </a:r>
            <a:endParaRPr b="0" i="0" sz="1400" u="none" cap="none" strike="noStrike">
              <a:solidFill>
                <a:srgbClr val="000000"/>
              </a:solidFill>
              <a:latin typeface="Arial"/>
              <a:ea typeface="Arial"/>
              <a:cs typeface="Arial"/>
              <a:sym typeface="Arial"/>
            </a:endParaRPr>
          </a:p>
        </p:txBody>
      </p:sp>
      <p:sp>
        <p:nvSpPr>
          <p:cNvPr id="828" name="Google Shape;828;g3ee94320d98_10_32"/>
          <p:cNvSpPr/>
          <p:nvPr/>
        </p:nvSpPr>
        <p:spPr>
          <a:xfrm>
            <a:off x="365855" y="1746504"/>
            <a:ext cx="5579293" cy="2880360"/>
          </a:xfrm>
          <a:prstGeom prst="rect">
            <a:avLst/>
          </a:prstGeom>
          <a:solidFill>
            <a:srgbClr val="1E293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29" name="Google Shape;829;g3ee94320d98_10_32"/>
          <p:cNvSpPr txBox="1"/>
          <p:nvPr/>
        </p:nvSpPr>
        <p:spPr>
          <a:xfrm>
            <a:off x="530490" y="1874520"/>
            <a:ext cx="5304901" cy="26791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50"/>
              <a:buFont typeface="Arial"/>
              <a:buNone/>
            </a:pPr>
            <a:r>
              <a:rPr b="0" i="0" lang="ko-KR" sz="950" u="none" cap="none" strike="noStrike">
                <a:solidFill>
                  <a:srgbClr val="64748B"/>
                </a:solidFill>
                <a:latin typeface="Calibri"/>
                <a:ea typeface="Calibri"/>
                <a:cs typeface="Calibri"/>
                <a:sym typeface="Calibri"/>
              </a:rPr>
              <a:t>// 기능은 맞지만 성능 경로를 알 수 없음</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TEST_F(InterpreterFixture, NestedScopes)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7DD3FC"/>
                </a:solidFill>
                <a:latin typeface="Calibri"/>
                <a:ea typeface="Calibri"/>
                <a:cs typeface="Calibri"/>
                <a:sym typeface="Calibri"/>
              </a:rPr>
              <a:t>    auto stmts = makeNestedBlocks(depth=12);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7DD3FC"/>
                </a:solidFill>
                <a:latin typeface="Calibri"/>
                <a:ea typeface="Calibri"/>
                <a:cs typeface="Calibri"/>
                <a:sym typeface="Calibri"/>
              </a:rPr>
              <a:t>    EXPECT_EQ(runAll(stmts), "10\n");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64748B"/>
                </a:solidFill>
                <a:latin typeface="Calibri"/>
                <a:ea typeface="Calibri"/>
                <a:cs typeface="Calibri"/>
                <a:sym typeface="Calibri"/>
              </a:rPr>
              <a:t>    // ↑ 결과는 맞지만:</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64748B"/>
                </a:solidFill>
                <a:latin typeface="Calibri"/>
                <a:ea typeface="Calibri"/>
                <a:cs typeface="Calibri"/>
                <a:sym typeface="Calibri"/>
              </a:rPr>
              <a:t>    // · O(1)로 접근했는지?</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64748B"/>
                </a:solidFill>
                <a:latin typeface="Calibri"/>
                <a:ea typeface="Calibri"/>
                <a:cs typeface="Calibri"/>
                <a:sym typeface="Calibri"/>
              </a:rPr>
              <a:t>    // · O(12) 체인 순회를 했는지?</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64748B"/>
                </a:solidFill>
                <a:latin typeface="Calibri"/>
                <a:ea typeface="Calibri"/>
                <a:cs typeface="Calibri"/>
                <a:sym typeface="Calibri"/>
              </a:rPr>
              <a:t>    // · 회귀가 발생해도 알 수 없음</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64748B"/>
                </a:solidFill>
                <a:latin typeface="Calibri"/>
                <a:ea typeface="Calibri"/>
                <a:cs typeface="Calibri"/>
                <a:sym typeface="Calibri"/>
              </a:rPr>
              <a:t>// ConstantFolding 검증도 동일 문제</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TEST(FoldTest, ForLoop_ConstExpr)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7DD3FC"/>
                </a:solidFill>
                <a:latin typeface="Calibri"/>
                <a:ea typeface="Calibri"/>
                <a:cs typeface="Calibri"/>
                <a:sym typeface="Calibri"/>
              </a:rPr>
              <a:t>    EXPECT_EQ(run(src), "25\n");  // 결과만 검증</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64748B"/>
                </a:solidFill>
                <a:latin typeface="Calibri"/>
                <a:ea typeface="Calibri"/>
                <a:cs typeface="Calibri"/>
                <a:sym typeface="Calibri"/>
              </a:rPr>
              <a:t>    // 실제로 50회 연산을 줄였는지 모름</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830" name="Google Shape;830;g3ee94320d98_10_32"/>
          <p:cNvSpPr txBox="1"/>
          <p:nvPr/>
        </p:nvSpPr>
        <p:spPr>
          <a:xfrm>
            <a:off x="439026" y="4663440"/>
            <a:ext cx="5469536"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ko-KR" sz="1000" u="none" cap="none" strike="noStrike">
                <a:solidFill>
                  <a:srgbClr val="B45C09"/>
                </a:solidFill>
                <a:latin typeface="Calibri"/>
                <a:ea typeface="Calibri"/>
                <a:cs typeface="Calibri"/>
                <a:sym typeface="Calibri"/>
              </a:rPr>
              <a:t>⚠ 성능 최적화 로직의 동작 여부를 결과만으로 보장할 수 없음</a:t>
            </a:r>
            <a:endParaRPr b="0" i="0" sz="1400" u="none" cap="none" strike="noStrike">
              <a:solidFill>
                <a:srgbClr val="000000"/>
              </a:solidFill>
              <a:latin typeface="Arial"/>
              <a:ea typeface="Arial"/>
              <a:cs typeface="Arial"/>
              <a:sym typeface="Arial"/>
            </a:endParaRPr>
          </a:p>
        </p:txBody>
      </p:sp>
      <p:sp>
        <p:nvSpPr>
          <p:cNvPr id="831" name="Google Shape;831;g3ee94320d98_10_32"/>
          <p:cNvSpPr/>
          <p:nvPr/>
        </p:nvSpPr>
        <p:spPr>
          <a:xfrm>
            <a:off x="6155515" y="1325880"/>
            <a:ext cx="5579293" cy="420624"/>
          </a:xfrm>
          <a:prstGeom prst="rect">
            <a:avLst/>
          </a:prstGeom>
          <a:solidFill>
            <a:srgbClr val="16A3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32" name="Google Shape;832;g3ee94320d98_10_32"/>
          <p:cNvSpPr txBox="1"/>
          <p:nvPr/>
        </p:nvSpPr>
        <p:spPr>
          <a:xfrm>
            <a:off x="6320150" y="1380744"/>
            <a:ext cx="5378073" cy="3291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1" i="0" lang="ko-KR" sz="1300" u="none" cap="none" strike="noStrike">
                <a:solidFill>
                  <a:srgbClr val="FFFFFF"/>
                </a:solidFill>
                <a:latin typeface="Calibri"/>
                <a:ea typeface="Calibri"/>
                <a:cs typeface="Calibri"/>
                <a:sym typeface="Calibri"/>
              </a:rPr>
              <a:t>✓  To-Be: Spy 주입으로 내부 경로 + 결과 동시 검증</a:t>
            </a:r>
            <a:endParaRPr b="0" i="0" sz="1400" u="none" cap="none" strike="noStrike">
              <a:solidFill>
                <a:srgbClr val="000000"/>
              </a:solidFill>
              <a:latin typeface="Arial"/>
              <a:ea typeface="Arial"/>
              <a:cs typeface="Arial"/>
              <a:sym typeface="Arial"/>
            </a:endParaRPr>
          </a:p>
        </p:txBody>
      </p:sp>
      <p:sp>
        <p:nvSpPr>
          <p:cNvPr id="833" name="Google Shape;833;g3ee94320d98_10_32"/>
          <p:cNvSpPr/>
          <p:nvPr/>
        </p:nvSpPr>
        <p:spPr>
          <a:xfrm>
            <a:off x="6155515" y="1746504"/>
            <a:ext cx="5579293" cy="2880360"/>
          </a:xfrm>
          <a:prstGeom prst="rect">
            <a:avLst/>
          </a:prstGeom>
          <a:solidFill>
            <a:srgbClr val="1E293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34" name="Google Shape;834;g3ee94320d98_10_32"/>
          <p:cNvSpPr txBox="1"/>
          <p:nvPr/>
        </p:nvSpPr>
        <p:spPr>
          <a:xfrm>
            <a:off x="6320150" y="1757975"/>
            <a:ext cx="5304901" cy="26791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50"/>
              <a:buFont typeface="Arial"/>
              <a:buNone/>
            </a:pPr>
            <a:r>
              <a:rPr b="0" i="0" lang="ko-KR" sz="950" u="none" cap="none" strike="noStrike">
                <a:solidFill>
                  <a:srgbClr val="64748B"/>
                </a:solidFill>
                <a:latin typeface="Calibri"/>
                <a:ea typeface="Calibri"/>
                <a:cs typeface="Calibri"/>
                <a:sym typeface="Calibri"/>
              </a:rPr>
              <a:t>// Interpreter 내부 Spy 구조체 (공개 API)</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7DD3FC"/>
                </a:solidFill>
                <a:latin typeface="Calibri"/>
                <a:ea typeface="Calibri"/>
                <a:cs typeface="Calibri"/>
                <a:sym typeface="Calibri"/>
              </a:rPr>
              <a:t>struct BindingSpy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7DD3FC"/>
                </a:solidFill>
                <a:latin typeface="Calibri"/>
                <a:ea typeface="Calibri"/>
                <a:cs typeface="Calibri"/>
                <a:sym typeface="Calibri"/>
              </a:rPr>
              <a:t>    int m_bindingHits = 0;  // O(1) 경로 카운트</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7DD3FC"/>
                </a:solidFill>
                <a:latin typeface="Calibri"/>
                <a:ea typeface="Calibri"/>
                <a:cs typeface="Calibri"/>
                <a:sym typeface="Calibri"/>
              </a:rPr>
              <a:t>    int m_chainWalks  = 0;  // O(n) 체인 카운트</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7DD3FC"/>
                </a:solidFill>
                <a:latin typeface="Calibri"/>
                <a:ea typeface="Calibri"/>
                <a:cs typeface="Calibri"/>
                <a:sym typeface="Calibri"/>
              </a:rPr>
              <a:t>struct OpSpy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7DD3FC"/>
                </a:solidFill>
                <a:latin typeface="Calibri"/>
                <a:ea typeface="Calibri"/>
                <a:cs typeface="Calibri"/>
                <a:sym typeface="Calibri"/>
              </a:rPr>
              <a:t>    int m_binaryOpCount = 0; // 이항 연산 카운트</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64748B"/>
                </a:solidFill>
                <a:latin typeface="Calibri"/>
                <a:ea typeface="Calibri"/>
                <a:cs typeface="Calibri"/>
                <a:sym typeface="Calibri"/>
              </a:rPr>
              <a:t>// 성능 경로 검증</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TEST(StaticBindingTest, O1_Access)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    Interpreter::BindingSpy spy;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    interp.setSpy(&amp;spy);    // DI로 주입</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    interp.interpret(stmts);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7DD3FC"/>
                </a:solidFill>
                <a:latin typeface="Calibri"/>
                <a:ea typeface="Calibri"/>
                <a:cs typeface="Calibri"/>
                <a:sym typeface="Calibri"/>
              </a:rPr>
              <a:t>    EXPECT_GT(spy.m_bindingHits, 0);   // O(1) 사용</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7DD3FC"/>
                </a:solidFill>
                <a:latin typeface="Calibri"/>
                <a:ea typeface="Calibri"/>
                <a:cs typeface="Calibri"/>
                <a:sym typeface="Calibri"/>
              </a:rPr>
              <a:t>    EXPECT_EQ(spy.m_chainWalks, 0);    // 체인 미사용</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7DD3FC"/>
                </a:solidFill>
                <a:latin typeface="Calibri"/>
                <a:ea typeface="Calibri"/>
                <a:cs typeface="Calibri"/>
                <a:sym typeface="Calibri"/>
              </a:rPr>
              <a:t>    EXPECT_EQ(chainSteps(), 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7DD3FC"/>
                </a:solidFill>
                <a:latin typeface="Calibri"/>
                <a:ea typeface="Calibri"/>
                <a:cs typeface="Calibri"/>
                <a:sym typeface="Calibri"/>
              </a:rPr>
              <a:t>EXPECT_EQ(withoutFold-withFold, 50);    // 정확히 50회 감소</a:t>
            </a:r>
            <a:endParaRPr b="0" i="0" sz="1400" u="none" cap="none" strike="noStrike">
              <a:solidFill>
                <a:srgbClr val="000000"/>
              </a:solidFill>
              <a:latin typeface="Arial"/>
              <a:ea typeface="Arial"/>
              <a:cs typeface="Arial"/>
              <a:sym typeface="Arial"/>
            </a:endParaRPr>
          </a:p>
        </p:txBody>
      </p:sp>
      <p:sp>
        <p:nvSpPr>
          <p:cNvPr id="835" name="Google Shape;835;g3ee94320d98_10_32"/>
          <p:cNvSpPr txBox="1"/>
          <p:nvPr/>
        </p:nvSpPr>
        <p:spPr>
          <a:xfrm>
            <a:off x="6228686" y="4663440"/>
            <a:ext cx="5469536"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ko-KR" sz="1000" u="none" cap="none" strike="noStrike">
                <a:solidFill>
                  <a:srgbClr val="166A34"/>
                </a:solidFill>
                <a:latin typeface="Calibri"/>
                <a:ea typeface="Calibri"/>
                <a:cs typeface="Calibri"/>
                <a:sym typeface="Calibri"/>
              </a:rPr>
              <a:t>✅ 기능 정확성 + 성능 경로 동시 보장, 회귀 시 즉시 테스트 실패</a:t>
            </a:r>
            <a:endParaRPr b="0" i="0" sz="1400" u="none" cap="none" strike="noStrike">
              <a:solidFill>
                <a:srgbClr val="000000"/>
              </a:solidFill>
              <a:latin typeface="Arial"/>
              <a:ea typeface="Arial"/>
              <a:cs typeface="Arial"/>
              <a:sym typeface="Arial"/>
            </a:endParaRPr>
          </a:p>
        </p:txBody>
      </p:sp>
      <p:sp>
        <p:nvSpPr>
          <p:cNvPr id="836" name="Google Shape;836;g3ee94320d98_10_32"/>
          <p:cNvSpPr/>
          <p:nvPr/>
        </p:nvSpPr>
        <p:spPr>
          <a:xfrm>
            <a:off x="493905" y="5029200"/>
            <a:ext cx="11204318" cy="50292"/>
          </a:xfrm>
          <a:prstGeom prst="rect">
            <a:avLst/>
          </a:prstGeom>
          <a:solidFill>
            <a:srgbClr val="E2E8F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37" name="Google Shape;837;g3ee94320d98_10_32"/>
          <p:cNvSpPr/>
          <p:nvPr/>
        </p:nvSpPr>
        <p:spPr>
          <a:xfrm>
            <a:off x="365855" y="5120640"/>
            <a:ext cx="3548796" cy="1536192"/>
          </a:xfrm>
          <a:prstGeom prst="rect">
            <a:avLst/>
          </a:prstGeom>
          <a:solidFill>
            <a:srgbClr val="FFFFFF"/>
          </a:solidFill>
          <a:ln cap="flat" cmpd="sng" w="9525">
            <a:solidFill>
              <a:srgbClr val="CBD5E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38" name="Google Shape;838;g3ee94320d98_10_32"/>
          <p:cNvSpPr/>
          <p:nvPr/>
        </p:nvSpPr>
        <p:spPr>
          <a:xfrm>
            <a:off x="365855" y="5120640"/>
            <a:ext cx="3548796" cy="50292"/>
          </a:xfrm>
          <a:prstGeom prst="rect">
            <a:avLst/>
          </a:prstGeom>
          <a:solidFill>
            <a:srgbClr val="4F46E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39" name="Google Shape;839;g3ee94320d98_10_32"/>
          <p:cNvSpPr txBox="1"/>
          <p:nvPr/>
        </p:nvSpPr>
        <p:spPr>
          <a:xfrm>
            <a:off x="503051" y="5285232"/>
            <a:ext cx="3274405" cy="32004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ko-KR" sz="1400" u="none" cap="none" strike="noStrike">
                <a:solidFill>
                  <a:srgbClr val="0F172A"/>
                </a:solidFill>
                <a:latin typeface="Calibri"/>
                <a:ea typeface="Calibri"/>
                <a:cs typeface="Calibri"/>
                <a:sym typeface="Calibri"/>
              </a:rPr>
              <a:t>회귀 자동 감지</a:t>
            </a:r>
            <a:endParaRPr b="0" i="0" sz="1400" u="none" cap="none" strike="noStrike">
              <a:solidFill>
                <a:srgbClr val="000000"/>
              </a:solidFill>
              <a:latin typeface="Arial"/>
              <a:ea typeface="Arial"/>
              <a:cs typeface="Arial"/>
              <a:sym typeface="Arial"/>
            </a:endParaRPr>
          </a:p>
        </p:txBody>
      </p:sp>
      <p:sp>
        <p:nvSpPr>
          <p:cNvPr id="840" name="Google Shape;840;g3ee94320d98_10_32"/>
          <p:cNvSpPr txBox="1"/>
          <p:nvPr/>
        </p:nvSpPr>
        <p:spPr>
          <a:xfrm>
            <a:off x="503051" y="5669280"/>
            <a:ext cx="3274405" cy="86868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ko-KR" sz="1100" u="none" cap="none" strike="noStrike">
                <a:solidFill>
                  <a:srgbClr val="334155"/>
                </a:solidFill>
                <a:latin typeface="Calibri"/>
                <a:ea typeface="Calibri"/>
                <a:cs typeface="Calibri"/>
                <a:sym typeface="Calibri"/>
              </a:rPr>
              <a:t>O(1) 경로가 O(n)으로 퇴행 시</a:t>
            </a:r>
            <a:br>
              <a:rPr b="0" i="0" lang="ko-KR" sz="1100" u="none" cap="none" strike="noStrike">
                <a:solidFill>
                  <a:srgbClr val="334155"/>
                </a:solidFill>
                <a:latin typeface="Calibri"/>
                <a:ea typeface="Calibri"/>
                <a:cs typeface="Calibri"/>
                <a:sym typeface="Calibri"/>
              </a:rPr>
            </a:br>
            <a:r>
              <a:rPr b="0" i="0" lang="ko-KR" sz="1100" u="none" cap="none" strike="noStrike">
                <a:solidFill>
                  <a:srgbClr val="334155"/>
                </a:solidFill>
                <a:latin typeface="Calibri"/>
                <a:ea typeface="Calibri"/>
                <a:cs typeface="Calibri"/>
                <a:sym typeface="Calibri"/>
              </a:rPr>
              <a:t>테스트가 즉시 실패</a:t>
            </a:r>
            <a:endParaRPr b="0" i="0" sz="1400" u="none" cap="none" strike="noStrike">
              <a:solidFill>
                <a:srgbClr val="000000"/>
              </a:solidFill>
              <a:latin typeface="Arial"/>
              <a:ea typeface="Arial"/>
              <a:cs typeface="Arial"/>
              <a:sym typeface="Arial"/>
            </a:endParaRPr>
          </a:p>
        </p:txBody>
      </p:sp>
      <p:sp>
        <p:nvSpPr>
          <p:cNvPr id="841" name="Google Shape;841;g3ee94320d98_10_32"/>
          <p:cNvSpPr/>
          <p:nvPr/>
        </p:nvSpPr>
        <p:spPr>
          <a:xfrm>
            <a:off x="4097579" y="5120640"/>
            <a:ext cx="3548796" cy="1536192"/>
          </a:xfrm>
          <a:prstGeom prst="rect">
            <a:avLst/>
          </a:prstGeom>
          <a:solidFill>
            <a:srgbClr val="FFFFFF"/>
          </a:solidFill>
          <a:ln cap="flat" cmpd="sng" w="9525">
            <a:solidFill>
              <a:srgbClr val="CBD5E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42" name="Google Shape;842;g3ee94320d98_10_32"/>
          <p:cNvSpPr/>
          <p:nvPr/>
        </p:nvSpPr>
        <p:spPr>
          <a:xfrm>
            <a:off x="4097579" y="5120640"/>
            <a:ext cx="3548796" cy="50292"/>
          </a:xfrm>
          <a:prstGeom prst="rect">
            <a:avLst/>
          </a:prstGeom>
          <a:solidFill>
            <a:srgbClr val="4F46E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43" name="Google Shape;843;g3ee94320d98_10_32"/>
          <p:cNvSpPr txBox="1"/>
          <p:nvPr/>
        </p:nvSpPr>
        <p:spPr>
          <a:xfrm>
            <a:off x="4234775" y="5285232"/>
            <a:ext cx="3274405" cy="32004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ko-KR" sz="1400" u="none" cap="none" strike="noStrike">
                <a:solidFill>
                  <a:srgbClr val="0F172A"/>
                </a:solidFill>
                <a:latin typeface="Calibri"/>
                <a:ea typeface="Calibri"/>
                <a:cs typeface="Calibri"/>
                <a:sym typeface="Calibri"/>
              </a:rPr>
              <a:t>정량적 검증</a:t>
            </a:r>
            <a:endParaRPr b="0" i="0" sz="1400" u="none" cap="none" strike="noStrike">
              <a:solidFill>
                <a:srgbClr val="000000"/>
              </a:solidFill>
              <a:latin typeface="Arial"/>
              <a:ea typeface="Arial"/>
              <a:cs typeface="Arial"/>
              <a:sym typeface="Arial"/>
            </a:endParaRPr>
          </a:p>
        </p:txBody>
      </p:sp>
      <p:sp>
        <p:nvSpPr>
          <p:cNvPr id="844" name="Google Shape;844;g3ee94320d98_10_32"/>
          <p:cNvSpPr txBox="1"/>
          <p:nvPr/>
        </p:nvSpPr>
        <p:spPr>
          <a:xfrm>
            <a:off x="4234775" y="5669280"/>
            <a:ext cx="3274405" cy="86868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ko-KR" sz="1100" u="none" cap="none" strike="noStrike">
                <a:solidFill>
                  <a:srgbClr val="334155"/>
                </a:solidFill>
                <a:latin typeface="Calibri"/>
                <a:ea typeface="Calibri"/>
                <a:cs typeface="Calibri"/>
                <a:sym typeface="Calibri"/>
              </a:rPr>
              <a:t>OpSpy: 폴딩으로 정확히 50회</a:t>
            </a:r>
            <a:br>
              <a:rPr b="0" i="0" lang="ko-KR" sz="1100" u="none" cap="none" strike="noStrike">
                <a:solidFill>
                  <a:srgbClr val="334155"/>
                </a:solidFill>
                <a:latin typeface="Calibri"/>
                <a:ea typeface="Calibri"/>
                <a:cs typeface="Calibri"/>
                <a:sym typeface="Calibri"/>
              </a:rPr>
            </a:br>
            <a:r>
              <a:rPr b="0" i="0" lang="ko-KR" sz="1100" u="none" cap="none" strike="noStrike">
                <a:solidFill>
                  <a:srgbClr val="334155"/>
                </a:solidFill>
                <a:latin typeface="Calibri"/>
                <a:ea typeface="Calibri"/>
                <a:cs typeface="Calibri"/>
                <a:sym typeface="Calibri"/>
              </a:rPr>
              <a:t>연산 감소 수치 자동 확인</a:t>
            </a:r>
            <a:endParaRPr b="0" i="0" sz="1400" u="none" cap="none" strike="noStrike">
              <a:solidFill>
                <a:srgbClr val="000000"/>
              </a:solidFill>
              <a:latin typeface="Arial"/>
              <a:ea typeface="Arial"/>
              <a:cs typeface="Arial"/>
              <a:sym typeface="Arial"/>
            </a:endParaRPr>
          </a:p>
        </p:txBody>
      </p:sp>
      <p:sp>
        <p:nvSpPr>
          <p:cNvPr id="845" name="Google Shape;845;g3ee94320d98_10_32"/>
          <p:cNvSpPr/>
          <p:nvPr/>
        </p:nvSpPr>
        <p:spPr>
          <a:xfrm>
            <a:off x="7829303" y="5120640"/>
            <a:ext cx="3548796" cy="1536192"/>
          </a:xfrm>
          <a:prstGeom prst="rect">
            <a:avLst/>
          </a:prstGeom>
          <a:solidFill>
            <a:srgbClr val="FFFFFF"/>
          </a:solidFill>
          <a:ln cap="flat" cmpd="sng" w="9525">
            <a:solidFill>
              <a:srgbClr val="CBD5E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46" name="Google Shape;846;g3ee94320d98_10_32"/>
          <p:cNvSpPr/>
          <p:nvPr/>
        </p:nvSpPr>
        <p:spPr>
          <a:xfrm>
            <a:off x="7829303" y="5120640"/>
            <a:ext cx="3548796" cy="50292"/>
          </a:xfrm>
          <a:prstGeom prst="rect">
            <a:avLst/>
          </a:prstGeom>
          <a:solidFill>
            <a:srgbClr val="4F46E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47" name="Google Shape;847;g3ee94320d98_10_32"/>
          <p:cNvSpPr txBox="1"/>
          <p:nvPr/>
        </p:nvSpPr>
        <p:spPr>
          <a:xfrm>
            <a:off x="7966499" y="5285232"/>
            <a:ext cx="3274405" cy="32004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ko-KR" sz="1400" u="none" cap="none" strike="noStrike">
                <a:solidFill>
                  <a:srgbClr val="0F172A"/>
                </a:solidFill>
                <a:latin typeface="Calibri"/>
                <a:ea typeface="Calibri"/>
                <a:cs typeface="Calibri"/>
                <a:sym typeface="Calibri"/>
              </a:rPr>
              <a:t>DI 무침습 설계</a:t>
            </a:r>
            <a:endParaRPr b="0" i="0" sz="1400" u="none" cap="none" strike="noStrike">
              <a:solidFill>
                <a:srgbClr val="000000"/>
              </a:solidFill>
              <a:latin typeface="Arial"/>
              <a:ea typeface="Arial"/>
              <a:cs typeface="Arial"/>
              <a:sym typeface="Arial"/>
            </a:endParaRPr>
          </a:p>
        </p:txBody>
      </p:sp>
      <p:sp>
        <p:nvSpPr>
          <p:cNvPr id="848" name="Google Shape;848;g3ee94320d98_10_32"/>
          <p:cNvSpPr txBox="1"/>
          <p:nvPr/>
        </p:nvSpPr>
        <p:spPr>
          <a:xfrm>
            <a:off x="7966499" y="5669280"/>
            <a:ext cx="3274405" cy="86868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ko-KR" sz="1100" u="none" cap="none" strike="noStrike">
                <a:solidFill>
                  <a:srgbClr val="334155"/>
                </a:solidFill>
                <a:latin typeface="Calibri"/>
                <a:ea typeface="Calibri"/>
                <a:cs typeface="Calibri"/>
                <a:sym typeface="Calibri"/>
              </a:rPr>
              <a:t>setSpy(nullptr) 기본값으로</a:t>
            </a:r>
            <a:br>
              <a:rPr b="0" i="0" lang="ko-KR" sz="1100" u="none" cap="none" strike="noStrike">
                <a:solidFill>
                  <a:srgbClr val="334155"/>
                </a:solidFill>
                <a:latin typeface="Calibri"/>
                <a:ea typeface="Calibri"/>
                <a:cs typeface="Calibri"/>
                <a:sym typeface="Calibri"/>
              </a:rPr>
            </a:br>
            <a:r>
              <a:rPr b="0" i="0" lang="ko-KR" sz="1100" u="none" cap="none" strike="noStrike">
                <a:solidFill>
                  <a:srgbClr val="334155"/>
                </a:solidFill>
                <a:latin typeface="Calibri"/>
                <a:ea typeface="Calibri"/>
                <a:cs typeface="Calibri"/>
                <a:sym typeface="Calibri"/>
              </a:rPr>
              <a:t>프로덕션 코드 성능 영향 없음</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2" name="Shape 852"/>
        <p:cNvGrpSpPr/>
        <p:nvPr/>
      </p:nvGrpSpPr>
      <p:grpSpPr>
        <a:xfrm>
          <a:off x="0" y="0"/>
          <a:ext cx="0" cy="0"/>
          <a:chOff x="0" y="0"/>
          <a:chExt cx="0" cy="0"/>
        </a:xfrm>
      </p:grpSpPr>
      <p:sp>
        <p:nvSpPr>
          <p:cNvPr id="853" name="Google Shape;853;g3ee94320d98_10_63"/>
          <p:cNvSpPr txBox="1"/>
          <p:nvPr/>
        </p:nvSpPr>
        <p:spPr>
          <a:xfrm>
            <a:off x="493905" y="256032"/>
            <a:ext cx="8414671"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ko-KR" sz="2800" u="none" cap="none" strike="noStrike">
                <a:solidFill>
                  <a:srgbClr val="0F172A"/>
                </a:solidFill>
                <a:latin typeface="Calibri"/>
                <a:ea typeface="Calibri"/>
                <a:cs typeface="Calibri"/>
                <a:sym typeface="Calibri"/>
              </a:rPr>
              <a:t>BP 03.  예외 흐름 제어: ReturnSignal</a:t>
            </a:r>
            <a:endParaRPr b="0" i="0" sz="1400" u="none" cap="none" strike="noStrike">
              <a:solidFill>
                <a:srgbClr val="000000"/>
              </a:solidFill>
              <a:latin typeface="Arial"/>
              <a:ea typeface="Arial"/>
              <a:cs typeface="Arial"/>
              <a:sym typeface="Arial"/>
            </a:endParaRPr>
          </a:p>
        </p:txBody>
      </p:sp>
      <p:sp>
        <p:nvSpPr>
          <p:cNvPr id="854" name="Google Shape;854;g3ee94320d98_10_63"/>
          <p:cNvSpPr/>
          <p:nvPr/>
        </p:nvSpPr>
        <p:spPr>
          <a:xfrm>
            <a:off x="493905" y="886968"/>
            <a:ext cx="11204318" cy="50292"/>
          </a:xfrm>
          <a:prstGeom prst="rect">
            <a:avLst/>
          </a:prstGeom>
          <a:solidFill>
            <a:srgbClr val="E2E8F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55" name="Google Shape;855;g3ee94320d98_10_63"/>
          <p:cNvSpPr txBox="1"/>
          <p:nvPr/>
        </p:nvSpPr>
        <p:spPr>
          <a:xfrm>
            <a:off x="493905" y="978408"/>
            <a:ext cx="7865888"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0" i="0" lang="ko-KR" sz="1300" u="none" cap="none" strike="noStrike">
                <a:solidFill>
                  <a:srgbClr val="64748B"/>
                </a:solidFill>
                <a:latin typeface="Calibri"/>
                <a:ea typeface="Calibri"/>
                <a:cs typeface="Calibri"/>
                <a:sym typeface="Calibri"/>
              </a:rPr>
              <a:t>함수 return을 예외로 모델링 — 전역 플래그 없이 C++ 스택이 자동 언와인딩을 보장</a:t>
            </a:r>
            <a:endParaRPr b="0" i="0" sz="1400" u="none" cap="none" strike="noStrike">
              <a:solidFill>
                <a:srgbClr val="000000"/>
              </a:solidFill>
              <a:latin typeface="Arial"/>
              <a:ea typeface="Arial"/>
              <a:cs typeface="Arial"/>
              <a:sym typeface="Arial"/>
            </a:endParaRPr>
          </a:p>
        </p:txBody>
      </p:sp>
      <p:sp>
        <p:nvSpPr>
          <p:cNvPr id="856" name="Google Shape;856;g3ee94320d98_10_63"/>
          <p:cNvSpPr/>
          <p:nvPr/>
        </p:nvSpPr>
        <p:spPr>
          <a:xfrm>
            <a:off x="8807966" y="566928"/>
            <a:ext cx="3018306" cy="329184"/>
          </a:xfrm>
          <a:prstGeom prst="rect">
            <a:avLst/>
          </a:prstGeom>
          <a:solidFill>
            <a:srgbClr val="1E293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57" name="Google Shape;857;g3ee94320d98_10_63"/>
          <p:cNvSpPr txBox="1"/>
          <p:nvPr/>
        </p:nvSpPr>
        <p:spPr>
          <a:xfrm>
            <a:off x="8807966" y="566928"/>
            <a:ext cx="3018306" cy="2616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ko-KR" sz="1100" u="none" cap="none" strike="noStrike">
                <a:solidFill>
                  <a:srgbClr val="FFFFFF"/>
                </a:solidFill>
                <a:latin typeface="Calibri"/>
                <a:ea typeface="Calibri"/>
                <a:cs typeface="Calibri"/>
                <a:sym typeface="Calibri"/>
              </a:rPr>
              <a:t>☆  핵심 원칙: SRP (상태 관리 분리)</a:t>
            </a:r>
            <a:endParaRPr b="0" i="0" sz="1400" u="none" cap="none" strike="noStrike">
              <a:solidFill>
                <a:srgbClr val="000000"/>
              </a:solidFill>
              <a:latin typeface="Arial"/>
              <a:ea typeface="Arial"/>
              <a:cs typeface="Arial"/>
              <a:sym typeface="Arial"/>
            </a:endParaRPr>
          </a:p>
        </p:txBody>
      </p:sp>
      <p:sp>
        <p:nvSpPr>
          <p:cNvPr id="858" name="Google Shape;858;g3ee94320d98_10_63"/>
          <p:cNvSpPr/>
          <p:nvPr/>
        </p:nvSpPr>
        <p:spPr>
          <a:xfrm>
            <a:off x="365855" y="1325880"/>
            <a:ext cx="5579293" cy="420624"/>
          </a:xfrm>
          <a:prstGeom prst="rect">
            <a:avLst/>
          </a:prstGeom>
          <a:solidFill>
            <a:srgbClr val="DC262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59" name="Google Shape;859;g3ee94320d98_10_63"/>
          <p:cNvSpPr txBox="1"/>
          <p:nvPr/>
        </p:nvSpPr>
        <p:spPr>
          <a:xfrm>
            <a:off x="530490" y="1380744"/>
            <a:ext cx="5378073" cy="3291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1" i="0" lang="ko-KR" sz="1300" u="none" cap="none" strike="noStrike">
                <a:solidFill>
                  <a:srgbClr val="FFFFFF"/>
                </a:solidFill>
                <a:latin typeface="Calibri"/>
                <a:ea typeface="Calibri"/>
                <a:cs typeface="Calibri"/>
                <a:sym typeface="Calibri"/>
              </a:rPr>
              <a:t>✕  As-Is: 전역 플래그로 return 상태 관리</a:t>
            </a:r>
            <a:endParaRPr b="0" i="0" sz="1400" u="none" cap="none" strike="noStrike">
              <a:solidFill>
                <a:srgbClr val="000000"/>
              </a:solidFill>
              <a:latin typeface="Arial"/>
              <a:ea typeface="Arial"/>
              <a:cs typeface="Arial"/>
              <a:sym typeface="Arial"/>
            </a:endParaRPr>
          </a:p>
        </p:txBody>
      </p:sp>
      <p:sp>
        <p:nvSpPr>
          <p:cNvPr id="860" name="Google Shape;860;g3ee94320d98_10_63"/>
          <p:cNvSpPr/>
          <p:nvPr/>
        </p:nvSpPr>
        <p:spPr>
          <a:xfrm>
            <a:off x="365855" y="1746504"/>
            <a:ext cx="5579293" cy="2880360"/>
          </a:xfrm>
          <a:prstGeom prst="rect">
            <a:avLst/>
          </a:prstGeom>
          <a:solidFill>
            <a:srgbClr val="1E293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61" name="Google Shape;861;g3ee94320d98_10_63"/>
          <p:cNvSpPr txBox="1"/>
          <p:nvPr/>
        </p:nvSpPr>
        <p:spPr>
          <a:xfrm>
            <a:off x="530490" y="1874520"/>
            <a:ext cx="5304901" cy="26791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50"/>
              <a:buFont typeface="Arial"/>
              <a:buNone/>
            </a:pPr>
            <a:r>
              <a:rPr b="0" i="0" lang="ko-KR" sz="950" u="none" cap="none" strike="noStrike">
                <a:solidFill>
                  <a:srgbClr val="64748B"/>
                </a:solidFill>
                <a:latin typeface="Calibri"/>
                <a:ea typeface="Calibri"/>
                <a:cs typeface="Calibri"/>
                <a:sym typeface="Calibri"/>
              </a:rPr>
              <a:t>// Interpreter — 반환 전용 멤버 변수</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7DD3FC"/>
                </a:solidFill>
                <a:latin typeface="Calibri"/>
                <a:ea typeface="Calibri"/>
                <a:cs typeface="Calibri"/>
                <a:sym typeface="Calibri"/>
              </a:rPr>
              <a:t>class Interpreter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7DD3FC"/>
                </a:solidFill>
                <a:latin typeface="Calibri"/>
                <a:ea typeface="Calibri"/>
                <a:cs typeface="Calibri"/>
                <a:sym typeface="Calibri"/>
              </a:rPr>
              <a:t>    Value m_returnValue;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    bool  m_shouldReturn = false; // 전역 상태</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7DD3FC"/>
                </a:solidFill>
                <a:latin typeface="Calibri"/>
                <a:ea typeface="Calibri"/>
                <a:cs typeface="Calibri"/>
                <a:sym typeface="Calibri"/>
              </a:rPr>
              <a:t>void Interpreter::visitReturnStmt(ReturnStmt&amp; 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    m_returnValue  = evaluate(*s.m_value);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    m_shouldReturn = true;  // 플래그 설정</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7DD3FC"/>
                </a:solidFill>
                <a:latin typeface="Calibri"/>
                <a:ea typeface="Calibri"/>
                <a:cs typeface="Calibri"/>
                <a:sym typeface="Calibri"/>
              </a:rPr>
              <a:t>void Interpreter::execute(Stmt&amp; 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7DD3FC"/>
                </a:solidFill>
                <a:latin typeface="Calibri"/>
                <a:ea typeface="Calibri"/>
                <a:cs typeface="Calibri"/>
                <a:sym typeface="Calibri"/>
              </a:rPr>
              <a:t>    if (m_shouldReturn) return; // 모든 Stmt에서 확인</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    s.accept(*this);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64748B"/>
                </a:solidFill>
                <a:latin typeface="Calibri"/>
                <a:ea typeface="Calibri"/>
                <a:cs typeface="Calibri"/>
                <a:sym typeface="Calibri"/>
              </a:rPr>
              <a:t>// LangFunction::call() 종료 후</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64748B"/>
                </a:solidFill>
                <a:latin typeface="Calibri"/>
                <a:ea typeface="Calibri"/>
                <a:cs typeface="Calibri"/>
                <a:sym typeface="Calibri"/>
              </a:rPr>
              <a:t>// m_shouldReturn = false 수동 리셋 필요</a:t>
            </a:r>
            <a:endParaRPr b="0" i="0" sz="1400" u="none" cap="none" strike="noStrike">
              <a:solidFill>
                <a:srgbClr val="000000"/>
              </a:solidFill>
              <a:latin typeface="Arial"/>
              <a:ea typeface="Arial"/>
              <a:cs typeface="Arial"/>
              <a:sym typeface="Arial"/>
            </a:endParaRPr>
          </a:p>
        </p:txBody>
      </p:sp>
      <p:sp>
        <p:nvSpPr>
          <p:cNvPr id="862" name="Google Shape;862;g3ee94320d98_10_63"/>
          <p:cNvSpPr txBox="1"/>
          <p:nvPr/>
        </p:nvSpPr>
        <p:spPr>
          <a:xfrm>
            <a:off x="439026" y="4663440"/>
            <a:ext cx="5469536"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ko-KR" sz="1000" u="none" cap="none" strike="noStrike">
                <a:solidFill>
                  <a:srgbClr val="B45C09"/>
                </a:solidFill>
                <a:latin typeface="Calibri"/>
                <a:ea typeface="Calibri"/>
                <a:cs typeface="Calibri"/>
                <a:sym typeface="Calibri"/>
              </a:rPr>
              <a:t>⚠ 재귀 호출·클로저에서 플래그 리셋 누락 시 침묵하는 버그 발생</a:t>
            </a:r>
            <a:endParaRPr b="0" i="0" sz="1400" u="none" cap="none" strike="noStrike">
              <a:solidFill>
                <a:srgbClr val="000000"/>
              </a:solidFill>
              <a:latin typeface="Arial"/>
              <a:ea typeface="Arial"/>
              <a:cs typeface="Arial"/>
              <a:sym typeface="Arial"/>
            </a:endParaRPr>
          </a:p>
        </p:txBody>
      </p:sp>
      <p:sp>
        <p:nvSpPr>
          <p:cNvPr id="863" name="Google Shape;863;g3ee94320d98_10_63"/>
          <p:cNvSpPr/>
          <p:nvPr/>
        </p:nvSpPr>
        <p:spPr>
          <a:xfrm>
            <a:off x="6155515" y="1325880"/>
            <a:ext cx="5579293" cy="420624"/>
          </a:xfrm>
          <a:prstGeom prst="rect">
            <a:avLst/>
          </a:prstGeom>
          <a:solidFill>
            <a:srgbClr val="16A3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64" name="Google Shape;864;g3ee94320d98_10_63"/>
          <p:cNvSpPr txBox="1"/>
          <p:nvPr/>
        </p:nvSpPr>
        <p:spPr>
          <a:xfrm>
            <a:off x="6320150" y="1380744"/>
            <a:ext cx="5378073" cy="3291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1" i="0" lang="ko-KR" sz="1300" u="none" cap="none" strike="noStrike">
                <a:solidFill>
                  <a:srgbClr val="FFFFFF"/>
                </a:solidFill>
                <a:latin typeface="Calibri"/>
                <a:ea typeface="Calibri"/>
                <a:cs typeface="Calibri"/>
                <a:sym typeface="Calibri"/>
              </a:rPr>
              <a:t>✓  To-Be: ReturnSignal 예외로 스택 자동 언와인딩</a:t>
            </a:r>
            <a:endParaRPr b="0" i="0" sz="1400" u="none" cap="none" strike="noStrike">
              <a:solidFill>
                <a:srgbClr val="000000"/>
              </a:solidFill>
              <a:latin typeface="Arial"/>
              <a:ea typeface="Arial"/>
              <a:cs typeface="Arial"/>
              <a:sym typeface="Arial"/>
            </a:endParaRPr>
          </a:p>
        </p:txBody>
      </p:sp>
      <p:sp>
        <p:nvSpPr>
          <p:cNvPr id="865" name="Google Shape;865;g3ee94320d98_10_63"/>
          <p:cNvSpPr/>
          <p:nvPr/>
        </p:nvSpPr>
        <p:spPr>
          <a:xfrm>
            <a:off x="6155515" y="1746504"/>
            <a:ext cx="5579293" cy="2880360"/>
          </a:xfrm>
          <a:prstGeom prst="rect">
            <a:avLst/>
          </a:prstGeom>
          <a:solidFill>
            <a:srgbClr val="1E293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66" name="Google Shape;866;g3ee94320d98_10_63"/>
          <p:cNvSpPr txBox="1"/>
          <p:nvPr/>
        </p:nvSpPr>
        <p:spPr>
          <a:xfrm>
            <a:off x="6320150" y="1874520"/>
            <a:ext cx="5304900" cy="2624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50"/>
              <a:buFont typeface="Arial"/>
              <a:buNone/>
            </a:pPr>
            <a:r>
              <a:rPr b="0" i="0" lang="ko-KR" sz="950" u="none" cap="none" strike="noStrike">
                <a:solidFill>
                  <a:srgbClr val="64748B"/>
                </a:solidFill>
                <a:latin typeface="Calibri"/>
                <a:ea typeface="Calibri"/>
                <a:cs typeface="Calibri"/>
                <a:sym typeface="Calibri"/>
              </a:rPr>
              <a:t>// src/common/ReturnSignal.h</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7DD3FC"/>
                </a:solidFill>
                <a:latin typeface="Calibri"/>
                <a:ea typeface="Calibri"/>
                <a:cs typeface="Calibri"/>
                <a:sym typeface="Calibri"/>
              </a:rPr>
              <a:t>struct ReturnSignal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7DD3FC"/>
                </a:solidFill>
                <a:latin typeface="Calibri"/>
                <a:ea typeface="Calibri"/>
                <a:cs typeface="Calibri"/>
                <a:sym typeface="Calibri"/>
              </a:rPr>
              <a:t>    Value value;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    explicit ReturnSignal(Value v)</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        : value(std::move(v))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64748B"/>
                </a:solidFill>
                <a:latin typeface="Calibri"/>
                <a:ea typeface="Calibri"/>
                <a:cs typeface="Calibri"/>
                <a:sym typeface="Calibri"/>
              </a:rPr>
              <a:t>// Interpreter — 단순 throw</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7DD3FC"/>
                </a:solidFill>
                <a:latin typeface="Calibri"/>
                <a:ea typeface="Calibri"/>
                <a:cs typeface="Calibri"/>
                <a:sym typeface="Calibri"/>
              </a:rPr>
              <a:t>void Interpreter::visitReturnStmt(ReturnStmt&amp; 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7DD3FC"/>
                </a:solidFill>
                <a:latin typeface="Calibri"/>
                <a:ea typeface="Calibri"/>
                <a:cs typeface="Calibri"/>
                <a:sym typeface="Calibri"/>
              </a:rPr>
              <a:t>    Value val = s.m_value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        ? evaluate(*s.m_value)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        : Value{std::monostate{}};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    throw ReturnSignal(std::move(val));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64748B"/>
                </a:solidFill>
                <a:latin typeface="Calibri"/>
                <a:ea typeface="Calibri"/>
                <a:cs typeface="Calibri"/>
                <a:sym typeface="Calibri"/>
              </a:rPr>
              <a:t>// LangFunction::call() — 단순 catch</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7DD3FC"/>
                </a:solidFill>
                <a:latin typeface="Calibri"/>
                <a:ea typeface="Calibri"/>
                <a:cs typeface="Calibri"/>
                <a:sym typeface="Calibri"/>
              </a:rPr>
              <a:t>Value LangFunction::call(Interpreter&amp; interp,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867" name="Google Shape;867;g3ee94320d98_10_63"/>
          <p:cNvSpPr txBox="1"/>
          <p:nvPr/>
        </p:nvSpPr>
        <p:spPr>
          <a:xfrm>
            <a:off x="6228686" y="4663440"/>
            <a:ext cx="5469536"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ko-KR" sz="1000" u="none" cap="none" strike="noStrike">
                <a:solidFill>
                  <a:srgbClr val="166A34"/>
                </a:solidFill>
                <a:latin typeface="Calibri"/>
                <a:ea typeface="Calibri"/>
                <a:cs typeface="Calibri"/>
                <a:sym typeface="Calibri"/>
              </a:rPr>
              <a:t>✅ C++ 스택이 자동 언와인딩, 플래그 리셋 코드 불필요, 재귀 안전</a:t>
            </a:r>
            <a:endParaRPr b="0" i="0" sz="1400" u="none" cap="none" strike="noStrike">
              <a:solidFill>
                <a:srgbClr val="000000"/>
              </a:solidFill>
              <a:latin typeface="Arial"/>
              <a:ea typeface="Arial"/>
              <a:cs typeface="Arial"/>
              <a:sym typeface="Arial"/>
            </a:endParaRPr>
          </a:p>
        </p:txBody>
      </p:sp>
      <p:sp>
        <p:nvSpPr>
          <p:cNvPr id="868" name="Google Shape;868;g3ee94320d98_10_63"/>
          <p:cNvSpPr/>
          <p:nvPr/>
        </p:nvSpPr>
        <p:spPr>
          <a:xfrm>
            <a:off x="493905" y="5029200"/>
            <a:ext cx="11204318" cy="50292"/>
          </a:xfrm>
          <a:prstGeom prst="rect">
            <a:avLst/>
          </a:prstGeom>
          <a:solidFill>
            <a:srgbClr val="E2E8F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69" name="Google Shape;869;g3ee94320d98_10_63"/>
          <p:cNvSpPr/>
          <p:nvPr/>
        </p:nvSpPr>
        <p:spPr>
          <a:xfrm>
            <a:off x="365855" y="5120640"/>
            <a:ext cx="3548796" cy="1536192"/>
          </a:xfrm>
          <a:prstGeom prst="rect">
            <a:avLst/>
          </a:prstGeom>
          <a:solidFill>
            <a:srgbClr val="FFFFFF"/>
          </a:solidFill>
          <a:ln cap="flat" cmpd="sng" w="9525">
            <a:solidFill>
              <a:srgbClr val="CBD5E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70" name="Google Shape;870;g3ee94320d98_10_63"/>
          <p:cNvSpPr/>
          <p:nvPr/>
        </p:nvSpPr>
        <p:spPr>
          <a:xfrm>
            <a:off x="365855" y="5120640"/>
            <a:ext cx="3548796" cy="50292"/>
          </a:xfrm>
          <a:prstGeom prst="rect">
            <a:avLst/>
          </a:prstGeom>
          <a:solidFill>
            <a:srgbClr val="4F46E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71" name="Google Shape;871;g3ee94320d98_10_63"/>
          <p:cNvSpPr txBox="1"/>
          <p:nvPr/>
        </p:nvSpPr>
        <p:spPr>
          <a:xfrm>
            <a:off x="503051" y="5285232"/>
            <a:ext cx="3274405" cy="32004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ko-KR" sz="1400" u="none" cap="none" strike="noStrike">
                <a:solidFill>
                  <a:srgbClr val="0F172A"/>
                </a:solidFill>
                <a:latin typeface="Calibri"/>
                <a:ea typeface="Calibri"/>
                <a:cs typeface="Calibri"/>
                <a:sym typeface="Calibri"/>
              </a:rPr>
              <a:t>상태 관리 단순화</a:t>
            </a:r>
            <a:endParaRPr b="0" i="0" sz="1400" u="none" cap="none" strike="noStrike">
              <a:solidFill>
                <a:srgbClr val="000000"/>
              </a:solidFill>
              <a:latin typeface="Arial"/>
              <a:ea typeface="Arial"/>
              <a:cs typeface="Arial"/>
              <a:sym typeface="Arial"/>
            </a:endParaRPr>
          </a:p>
        </p:txBody>
      </p:sp>
      <p:sp>
        <p:nvSpPr>
          <p:cNvPr id="872" name="Google Shape;872;g3ee94320d98_10_63"/>
          <p:cNvSpPr txBox="1"/>
          <p:nvPr/>
        </p:nvSpPr>
        <p:spPr>
          <a:xfrm>
            <a:off x="503051" y="5669280"/>
            <a:ext cx="3274405" cy="86868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ko-KR" sz="1100" u="none" cap="none" strike="noStrike">
                <a:solidFill>
                  <a:srgbClr val="334155"/>
                </a:solidFill>
                <a:latin typeface="Calibri"/>
                <a:ea typeface="Calibri"/>
                <a:cs typeface="Calibri"/>
                <a:sym typeface="Calibri"/>
              </a:rPr>
              <a:t>Interpreter에서 m_returnValue,</a:t>
            </a:r>
            <a:br>
              <a:rPr b="0" i="0" lang="ko-KR" sz="1100" u="none" cap="none" strike="noStrike">
                <a:solidFill>
                  <a:srgbClr val="334155"/>
                </a:solidFill>
                <a:latin typeface="Calibri"/>
                <a:ea typeface="Calibri"/>
                <a:cs typeface="Calibri"/>
                <a:sym typeface="Calibri"/>
              </a:rPr>
            </a:br>
            <a:r>
              <a:rPr b="0" i="0" lang="ko-KR" sz="1100" u="none" cap="none" strike="noStrike">
                <a:solidFill>
                  <a:srgbClr val="334155"/>
                </a:solidFill>
                <a:latin typeface="Calibri"/>
                <a:ea typeface="Calibri"/>
                <a:cs typeface="Calibri"/>
                <a:sym typeface="Calibri"/>
              </a:rPr>
              <a:t>m_shouldReturn 멤버 완전 제거</a:t>
            </a:r>
            <a:endParaRPr b="0" i="0" sz="1400" u="none" cap="none" strike="noStrike">
              <a:solidFill>
                <a:srgbClr val="000000"/>
              </a:solidFill>
              <a:latin typeface="Arial"/>
              <a:ea typeface="Arial"/>
              <a:cs typeface="Arial"/>
              <a:sym typeface="Arial"/>
            </a:endParaRPr>
          </a:p>
        </p:txBody>
      </p:sp>
      <p:sp>
        <p:nvSpPr>
          <p:cNvPr id="873" name="Google Shape;873;g3ee94320d98_10_63"/>
          <p:cNvSpPr/>
          <p:nvPr/>
        </p:nvSpPr>
        <p:spPr>
          <a:xfrm>
            <a:off x="4097579" y="5120640"/>
            <a:ext cx="3548796" cy="1536192"/>
          </a:xfrm>
          <a:prstGeom prst="rect">
            <a:avLst/>
          </a:prstGeom>
          <a:solidFill>
            <a:srgbClr val="FFFFFF"/>
          </a:solidFill>
          <a:ln cap="flat" cmpd="sng" w="9525">
            <a:solidFill>
              <a:srgbClr val="CBD5E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74" name="Google Shape;874;g3ee94320d98_10_63"/>
          <p:cNvSpPr/>
          <p:nvPr/>
        </p:nvSpPr>
        <p:spPr>
          <a:xfrm>
            <a:off x="4097579" y="5120640"/>
            <a:ext cx="3548796" cy="50292"/>
          </a:xfrm>
          <a:prstGeom prst="rect">
            <a:avLst/>
          </a:prstGeom>
          <a:solidFill>
            <a:srgbClr val="4F46E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75" name="Google Shape;875;g3ee94320d98_10_63"/>
          <p:cNvSpPr txBox="1"/>
          <p:nvPr/>
        </p:nvSpPr>
        <p:spPr>
          <a:xfrm>
            <a:off x="4234775" y="5285232"/>
            <a:ext cx="3274405" cy="32004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ko-KR" sz="1400" u="none" cap="none" strike="noStrike">
                <a:solidFill>
                  <a:srgbClr val="0F172A"/>
                </a:solidFill>
                <a:latin typeface="Calibri"/>
                <a:ea typeface="Calibri"/>
                <a:cs typeface="Calibri"/>
                <a:sym typeface="Calibri"/>
              </a:rPr>
              <a:t>재귀·클로저 안전</a:t>
            </a:r>
            <a:endParaRPr b="0" i="0" sz="1400" u="none" cap="none" strike="noStrike">
              <a:solidFill>
                <a:srgbClr val="000000"/>
              </a:solidFill>
              <a:latin typeface="Arial"/>
              <a:ea typeface="Arial"/>
              <a:cs typeface="Arial"/>
              <a:sym typeface="Arial"/>
            </a:endParaRPr>
          </a:p>
        </p:txBody>
      </p:sp>
      <p:sp>
        <p:nvSpPr>
          <p:cNvPr id="876" name="Google Shape;876;g3ee94320d98_10_63"/>
          <p:cNvSpPr txBox="1"/>
          <p:nvPr/>
        </p:nvSpPr>
        <p:spPr>
          <a:xfrm>
            <a:off x="4234775" y="5669280"/>
            <a:ext cx="3274405" cy="86868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ko-KR" sz="1100" u="none" cap="none" strike="noStrike">
                <a:solidFill>
                  <a:srgbClr val="334155"/>
                </a:solidFill>
                <a:latin typeface="Calibri"/>
                <a:ea typeface="Calibri"/>
                <a:cs typeface="Calibri"/>
                <a:sym typeface="Calibri"/>
              </a:rPr>
              <a:t>중첩 호출에서도 C++ 스택이</a:t>
            </a:r>
            <a:br>
              <a:rPr b="0" i="0" lang="ko-KR" sz="1100" u="none" cap="none" strike="noStrike">
                <a:solidFill>
                  <a:srgbClr val="334155"/>
                </a:solidFill>
                <a:latin typeface="Calibri"/>
                <a:ea typeface="Calibri"/>
                <a:cs typeface="Calibri"/>
                <a:sym typeface="Calibri"/>
              </a:rPr>
            </a:br>
            <a:r>
              <a:rPr b="0" i="0" lang="ko-KR" sz="1100" u="none" cap="none" strike="noStrike">
                <a:solidFill>
                  <a:srgbClr val="334155"/>
                </a:solidFill>
                <a:latin typeface="Calibri"/>
                <a:ea typeface="Calibri"/>
                <a:cs typeface="Calibri"/>
                <a:sym typeface="Calibri"/>
              </a:rPr>
              <a:t>언와인딩을 자동으로 보장</a:t>
            </a:r>
            <a:endParaRPr b="0" i="0" sz="1400" u="none" cap="none" strike="noStrike">
              <a:solidFill>
                <a:srgbClr val="000000"/>
              </a:solidFill>
              <a:latin typeface="Arial"/>
              <a:ea typeface="Arial"/>
              <a:cs typeface="Arial"/>
              <a:sym typeface="Arial"/>
            </a:endParaRPr>
          </a:p>
        </p:txBody>
      </p:sp>
      <p:sp>
        <p:nvSpPr>
          <p:cNvPr id="877" name="Google Shape;877;g3ee94320d98_10_63"/>
          <p:cNvSpPr/>
          <p:nvPr/>
        </p:nvSpPr>
        <p:spPr>
          <a:xfrm>
            <a:off x="7829303" y="5120640"/>
            <a:ext cx="3548796" cy="1536192"/>
          </a:xfrm>
          <a:prstGeom prst="rect">
            <a:avLst/>
          </a:prstGeom>
          <a:solidFill>
            <a:srgbClr val="FFFFFF"/>
          </a:solidFill>
          <a:ln cap="flat" cmpd="sng" w="9525">
            <a:solidFill>
              <a:srgbClr val="CBD5E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78" name="Google Shape;878;g3ee94320d98_10_63"/>
          <p:cNvSpPr/>
          <p:nvPr/>
        </p:nvSpPr>
        <p:spPr>
          <a:xfrm>
            <a:off x="7829303" y="5120640"/>
            <a:ext cx="3548796" cy="50292"/>
          </a:xfrm>
          <a:prstGeom prst="rect">
            <a:avLst/>
          </a:prstGeom>
          <a:solidFill>
            <a:srgbClr val="4F46E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79" name="Google Shape;879;g3ee94320d98_10_63"/>
          <p:cNvSpPr txBox="1"/>
          <p:nvPr/>
        </p:nvSpPr>
        <p:spPr>
          <a:xfrm>
            <a:off x="7966499" y="5285232"/>
            <a:ext cx="3274405" cy="32004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ko-KR" sz="1400" u="none" cap="none" strike="noStrike">
                <a:solidFill>
                  <a:srgbClr val="0F172A"/>
                </a:solidFill>
                <a:latin typeface="Calibri"/>
                <a:ea typeface="Calibri"/>
                <a:cs typeface="Calibri"/>
                <a:sym typeface="Calibri"/>
              </a:rPr>
              <a:t>타입 안전성</a:t>
            </a:r>
            <a:endParaRPr b="0" i="0" sz="1400" u="none" cap="none" strike="noStrike">
              <a:solidFill>
                <a:srgbClr val="000000"/>
              </a:solidFill>
              <a:latin typeface="Arial"/>
              <a:ea typeface="Arial"/>
              <a:cs typeface="Arial"/>
              <a:sym typeface="Arial"/>
            </a:endParaRPr>
          </a:p>
        </p:txBody>
      </p:sp>
      <p:sp>
        <p:nvSpPr>
          <p:cNvPr id="880" name="Google Shape;880;g3ee94320d98_10_63"/>
          <p:cNvSpPr txBox="1"/>
          <p:nvPr/>
        </p:nvSpPr>
        <p:spPr>
          <a:xfrm>
            <a:off x="7966499" y="5669280"/>
            <a:ext cx="3274405" cy="86868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ko-KR" sz="1100" u="none" cap="none" strike="noStrike">
                <a:solidFill>
                  <a:srgbClr val="334155"/>
                </a:solidFill>
                <a:latin typeface="Calibri"/>
                <a:ea typeface="Calibri"/>
                <a:cs typeface="Calibri"/>
                <a:sym typeface="Calibri"/>
              </a:rPr>
              <a:t>ReturnSignal 타입이 정상 흐름과</a:t>
            </a:r>
            <a:br>
              <a:rPr b="0" i="0" lang="ko-KR" sz="1100" u="none" cap="none" strike="noStrike">
                <a:solidFill>
                  <a:srgbClr val="334155"/>
                </a:solidFill>
                <a:latin typeface="Calibri"/>
                <a:ea typeface="Calibri"/>
                <a:cs typeface="Calibri"/>
                <a:sym typeface="Calibri"/>
              </a:rPr>
            </a:br>
            <a:r>
              <a:rPr b="0" i="0" lang="ko-KR" sz="1100" u="none" cap="none" strike="noStrike">
                <a:solidFill>
                  <a:srgbClr val="334155"/>
                </a:solidFill>
                <a:latin typeface="Calibri"/>
                <a:ea typeface="Calibri"/>
                <a:cs typeface="Calibri"/>
                <a:sym typeface="Calibri"/>
              </a:rPr>
              <a:t>예외 흐름을 컴파일 타임에 구분</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4" name="Shape 884"/>
        <p:cNvGrpSpPr/>
        <p:nvPr/>
      </p:nvGrpSpPr>
      <p:grpSpPr>
        <a:xfrm>
          <a:off x="0" y="0"/>
          <a:ext cx="0" cy="0"/>
          <a:chOff x="0" y="0"/>
          <a:chExt cx="0" cy="0"/>
        </a:xfrm>
      </p:grpSpPr>
      <p:sp>
        <p:nvSpPr>
          <p:cNvPr id="885" name="Google Shape;885;g3ee94320d98_10_94"/>
          <p:cNvSpPr txBox="1"/>
          <p:nvPr/>
        </p:nvSpPr>
        <p:spPr>
          <a:xfrm>
            <a:off x="493905" y="256032"/>
            <a:ext cx="8414671"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ko-KR" sz="2800" u="none" cap="none" strike="noStrike">
                <a:solidFill>
                  <a:srgbClr val="0F172A"/>
                </a:solidFill>
                <a:latin typeface="Calibri"/>
                <a:ea typeface="Calibri"/>
                <a:cs typeface="Calibri"/>
                <a:sym typeface="Calibri"/>
              </a:rPr>
              <a:t>BP 04.  컴파일 타임 최적화: Constant Folding</a:t>
            </a:r>
            <a:endParaRPr b="0" i="0" sz="1400" u="none" cap="none" strike="noStrike">
              <a:solidFill>
                <a:srgbClr val="000000"/>
              </a:solidFill>
              <a:latin typeface="Arial"/>
              <a:ea typeface="Arial"/>
              <a:cs typeface="Arial"/>
              <a:sym typeface="Arial"/>
            </a:endParaRPr>
          </a:p>
        </p:txBody>
      </p:sp>
      <p:sp>
        <p:nvSpPr>
          <p:cNvPr id="886" name="Google Shape;886;g3ee94320d98_10_94"/>
          <p:cNvSpPr/>
          <p:nvPr/>
        </p:nvSpPr>
        <p:spPr>
          <a:xfrm>
            <a:off x="493905" y="886968"/>
            <a:ext cx="11204318" cy="50292"/>
          </a:xfrm>
          <a:prstGeom prst="rect">
            <a:avLst/>
          </a:prstGeom>
          <a:solidFill>
            <a:srgbClr val="E2E8F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87" name="Google Shape;887;g3ee94320d98_10_94"/>
          <p:cNvSpPr txBox="1"/>
          <p:nvPr/>
        </p:nvSpPr>
        <p:spPr>
          <a:xfrm>
            <a:off x="493905" y="978408"/>
            <a:ext cx="7865888"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0" i="0" lang="ko-KR" sz="1300" u="none" cap="none" strike="noStrike">
                <a:solidFill>
                  <a:srgbClr val="64748B"/>
                </a:solidFill>
                <a:latin typeface="Calibri"/>
                <a:ea typeface="Calibri"/>
                <a:cs typeface="Calibri"/>
                <a:sym typeface="Calibri"/>
              </a:rPr>
              <a:t>ConstantFolder — 상수 표현식을 AST 변환 단계에서 미리 계산, 루프 내 반복 연산 제거</a:t>
            </a:r>
            <a:endParaRPr b="0" i="0" sz="1400" u="none" cap="none" strike="noStrike">
              <a:solidFill>
                <a:srgbClr val="000000"/>
              </a:solidFill>
              <a:latin typeface="Arial"/>
              <a:ea typeface="Arial"/>
              <a:cs typeface="Arial"/>
              <a:sym typeface="Arial"/>
            </a:endParaRPr>
          </a:p>
        </p:txBody>
      </p:sp>
      <p:sp>
        <p:nvSpPr>
          <p:cNvPr id="888" name="Google Shape;888;g3ee94320d98_10_94"/>
          <p:cNvSpPr/>
          <p:nvPr/>
        </p:nvSpPr>
        <p:spPr>
          <a:xfrm>
            <a:off x="8807966" y="566928"/>
            <a:ext cx="3018306" cy="329184"/>
          </a:xfrm>
          <a:prstGeom prst="rect">
            <a:avLst/>
          </a:prstGeom>
          <a:solidFill>
            <a:srgbClr val="1E293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89" name="Google Shape;889;g3ee94320d98_10_94"/>
          <p:cNvSpPr txBox="1"/>
          <p:nvPr/>
        </p:nvSpPr>
        <p:spPr>
          <a:xfrm>
            <a:off x="8807966" y="566928"/>
            <a:ext cx="3018306" cy="2616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ko-KR" sz="1100" u="none" cap="none" strike="noStrike">
                <a:solidFill>
                  <a:srgbClr val="FFFFFF"/>
                </a:solidFill>
                <a:latin typeface="Calibri"/>
                <a:ea typeface="Calibri"/>
                <a:cs typeface="Calibri"/>
                <a:sym typeface="Calibri"/>
              </a:rPr>
              <a:t>☆  핵심 원칙: OCP (옵티마이저 분리)</a:t>
            </a:r>
            <a:endParaRPr b="0" i="0" sz="1400" u="none" cap="none" strike="noStrike">
              <a:solidFill>
                <a:srgbClr val="000000"/>
              </a:solidFill>
              <a:latin typeface="Arial"/>
              <a:ea typeface="Arial"/>
              <a:cs typeface="Arial"/>
              <a:sym typeface="Arial"/>
            </a:endParaRPr>
          </a:p>
        </p:txBody>
      </p:sp>
      <p:sp>
        <p:nvSpPr>
          <p:cNvPr id="890" name="Google Shape;890;g3ee94320d98_10_94"/>
          <p:cNvSpPr/>
          <p:nvPr/>
        </p:nvSpPr>
        <p:spPr>
          <a:xfrm>
            <a:off x="365855" y="1325880"/>
            <a:ext cx="5579293" cy="420624"/>
          </a:xfrm>
          <a:prstGeom prst="rect">
            <a:avLst/>
          </a:prstGeom>
          <a:solidFill>
            <a:srgbClr val="DC262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91" name="Google Shape;891;g3ee94320d98_10_94"/>
          <p:cNvSpPr txBox="1"/>
          <p:nvPr/>
        </p:nvSpPr>
        <p:spPr>
          <a:xfrm>
            <a:off x="530490" y="1380744"/>
            <a:ext cx="5378073" cy="3291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1" i="0" lang="ko-KR" sz="1300" u="none" cap="none" strike="noStrike">
                <a:solidFill>
                  <a:srgbClr val="FFFFFF"/>
                </a:solidFill>
                <a:latin typeface="Calibri"/>
                <a:ea typeface="Calibri"/>
                <a:cs typeface="Calibri"/>
                <a:sym typeface="Calibri"/>
              </a:rPr>
              <a:t>✕  As-Is: 루프마다 동일한 상수 표현식 반복 계산</a:t>
            </a:r>
            <a:endParaRPr b="0" i="0" sz="1400" u="none" cap="none" strike="noStrike">
              <a:solidFill>
                <a:srgbClr val="000000"/>
              </a:solidFill>
              <a:latin typeface="Arial"/>
              <a:ea typeface="Arial"/>
              <a:cs typeface="Arial"/>
              <a:sym typeface="Arial"/>
            </a:endParaRPr>
          </a:p>
        </p:txBody>
      </p:sp>
      <p:sp>
        <p:nvSpPr>
          <p:cNvPr id="892" name="Google Shape;892;g3ee94320d98_10_94"/>
          <p:cNvSpPr/>
          <p:nvPr/>
        </p:nvSpPr>
        <p:spPr>
          <a:xfrm>
            <a:off x="365855" y="1746504"/>
            <a:ext cx="5579293" cy="2880360"/>
          </a:xfrm>
          <a:prstGeom prst="rect">
            <a:avLst/>
          </a:prstGeom>
          <a:solidFill>
            <a:srgbClr val="1E293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93" name="Google Shape;893;g3ee94320d98_10_94"/>
          <p:cNvSpPr txBox="1"/>
          <p:nvPr/>
        </p:nvSpPr>
        <p:spPr>
          <a:xfrm>
            <a:off x="530490" y="1874520"/>
            <a:ext cx="5304901" cy="26791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50"/>
              <a:buFont typeface="Arial"/>
              <a:buNone/>
            </a:pPr>
            <a:r>
              <a:rPr b="0" i="0" lang="ko-KR" sz="950" u="none" cap="none" strike="noStrike">
                <a:solidFill>
                  <a:srgbClr val="64748B"/>
                </a:solidFill>
                <a:latin typeface="Calibri"/>
                <a:ea typeface="Calibri"/>
                <a:cs typeface="Calibri"/>
                <a:sym typeface="Calibri"/>
              </a:rPr>
              <a:t>// 소스 코드</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var total = 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for (var i = 0; i &lt; 5; i = i + 1)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64748B"/>
                </a:solidFill>
                <a:latin typeface="Calibri"/>
                <a:ea typeface="Calibri"/>
                <a:cs typeface="Calibri"/>
                <a:sym typeface="Calibri"/>
              </a:rPr>
              <a:t>    // 이 표현식은 항상 5.0 이지만</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64748B"/>
                </a:solidFill>
                <a:latin typeface="Calibri"/>
                <a:ea typeface="Calibri"/>
                <a:cs typeface="Calibri"/>
                <a:sym typeface="Calibri"/>
              </a:rPr>
              <a:t>    // 매 반복마다 10회 이항 연산 실행</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    total = total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        (1-2*3*4*5/6+7+8+9) % 1000 % 30;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64748B"/>
                </a:solidFill>
                <a:latin typeface="Calibri"/>
                <a:ea typeface="Calibri"/>
                <a:cs typeface="Calibri"/>
                <a:sym typeface="Calibri"/>
              </a:rPr>
              <a:t>// OpSpy 측정 결과 (최적화 없음)</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64748B"/>
                </a:solidFill>
                <a:latin typeface="Calibri"/>
                <a:ea typeface="Calibri"/>
                <a:cs typeface="Calibri"/>
                <a:sym typeface="Calibri"/>
              </a:rPr>
              <a:t>// loop 5회 × 상수 연산 10회</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64748B"/>
                </a:solidFill>
                <a:latin typeface="Calibri"/>
                <a:ea typeface="Calibri"/>
                <a:cs typeface="Calibri"/>
                <a:sym typeface="Calibri"/>
              </a:rPr>
              <a:t>// = 총 50회 불필요한 이항 연산 실행</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64748B"/>
                </a:solidFill>
                <a:latin typeface="Calibri"/>
                <a:ea typeface="Calibri"/>
                <a:cs typeface="Calibri"/>
                <a:sym typeface="Calibri"/>
              </a:rPr>
              <a:t>// withoutFold = ~55  (루프 포함)</a:t>
            </a:r>
            <a:endParaRPr b="0" i="0" sz="1400" u="none" cap="none" strike="noStrike">
              <a:solidFill>
                <a:srgbClr val="000000"/>
              </a:solidFill>
              <a:latin typeface="Arial"/>
              <a:ea typeface="Arial"/>
              <a:cs typeface="Arial"/>
              <a:sym typeface="Arial"/>
            </a:endParaRPr>
          </a:p>
        </p:txBody>
      </p:sp>
      <p:sp>
        <p:nvSpPr>
          <p:cNvPr id="894" name="Google Shape;894;g3ee94320d98_10_94"/>
          <p:cNvSpPr txBox="1"/>
          <p:nvPr/>
        </p:nvSpPr>
        <p:spPr>
          <a:xfrm>
            <a:off x="439026" y="4663440"/>
            <a:ext cx="5469536"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ko-KR" sz="1000" u="none" cap="none" strike="noStrike">
                <a:solidFill>
                  <a:srgbClr val="B45C09"/>
                </a:solidFill>
                <a:latin typeface="Calibri"/>
                <a:ea typeface="Calibri"/>
                <a:cs typeface="Calibri"/>
                <a:sym typeface="Calibri"/>
              </a:rPr>
              <a:t>⚠ 매 반복마다 상수 서브트리를 순회하며 동일한 계산 반복 수행</a:t>
            </a:r>
            <a:endParaRPr b="0" i="0" sz="1400" u="none" cap="none" strike="noStrike">
              <a:solidFill>
                <a:srgbClr val="000000"/>
              </a:solidFill>
              <a:latin typeface="Arial"/>
              <a:ea typeface="Arial"/>
              <a:cs typeface="Arial"/>
              <a:sym typeface="Arial"/>
            </a:endParaRPr>
          </a:p>
        </p:txBody>
      </p:sp>
      <p:sp>
        <p:nvSpPr>
          <p:cNvPr id="895" name="Google Shape;895;g3ee94320d98_10_94"/>
          <p:cNvSpPr/>
          <p:nvPr/>
        </p:nvSpPr>
        <p:spPr>
          <a:xfrm>
            <a:off x="6155515" y="1325880"/>
            <a:ext cx="5579293" cy="420624"/>
          </a:xfrm>
          <a:prstGeom prst="rect">
            <a:avLst/>
          </a:prstGeom>
          <a:solidFill>
            <a:srgbClr val="16A34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96" name="Google Shape;896;g3ee94320d98_10_94"/>
          <p:cNvSpPr txBox="1"/>
          <p:nvPr/>
        </p:nvSpPr>
        <p:spPr>
          <a:xfrm>
            <a:off x="6320150" y="1380744"/>
            <a:ext cx="5378073" cy="3291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1" i="0" lang="ko-KR" sz="1300" u="none" cap="none" strike="noStrike">
                <a:solidFill>
                  <a:srgbClr val="FFFFFF"/>
                </a:solidFill>
                <a:latin typeface="Calibri"/>
                <a:ea typeface="Calibri"/>
                <a:cs typeface="Calibri"/>
                <a:sym typeface="Calibri"/>
              </a:rPr>
              <a:t>✓  To-Be: ConstantFolder가 AST를 LiteralExpr로 변환</a:t>
            </a:r>
            <a:endParaRPr b="0" i="0" sz="1400" u="none" cap="none" strike="noStrike">
              <a:solidFill>
                <a:srgbClr val="000000"/>
              </a:solidFill>
              <a:latin typeface="Arial"/>
              <a:ea typeface="Arial"/>
              <a:cs typeface="Arial"/>
              <a:sym typeface="Arial"/>
            </a:endParaRPr>
          </a:p>
        </p:txBody>
      </p:sp>
      <p:sp>
        <p:nvSpPr>
          <p:cNvPr id="897" name="Google Shape;897;g3ee94320d98_10_94"/>
          <p:cNvSpPr/>
          <p:nvPr/>
        </p:nvSpPr>
        <p:spPr>
          <a:xfrm>
            <a:off x="6155515" y="1746504"/>
            <a:ext cx="5579293" cy="2880360"/>
          </a:xfrm>
          <a:prstGeom prst="rect">
            <a:avLst/>
          </a:prstGeom>
          <a:solidFill>
            <a:srgbClr val="1E293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98" name="Google Shape;898;g3ee94320d98_10_94"/>
          <p:cNvSpPr txBox="1"/>
          <p:nvPr/>
        </p:nvSpPr>
        <p:spPr>
          <a:xfrm>
            <a:off x="6320150" y="1874520"/>
            <a:ext cx="5304901" cy="2464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50"/>
              <a:buFont typeface="Arial"/>
              <a:buNone/>
            </a:pPr>
            <a:r>
              <a:rPr b="0" i="0" lang="ko-KR" sz="950" u="none" cap="none" strike="noStrike">
                <a:solidFill>
                  <a:srgbClr val="64748B"/>
                </a:solidFill>
                <a:latin typeface="Calibri"/>
                <a:ea typeface="Calibri"/>
                <a:cs typeface="Calibri"/>
                <a:sym typeface="Calibri"/>
              </a:rPr>
              <a:t>// ConstantFolder::foldExpr() — 재귀 폴딩</a:t>
            </a:r>
            <a:endParaRPr b="0" i="0" sz="950" u="none" cap="none" strike="noStrike">
              <a:solidFill>
                <a:srgbClr val="64748B"/>
              </a:solidFill>
              <a:latin typeface="Calibri"/>
              <a:ea typeface="Calibri"/>
              <a:cs typeface="Calibri"/>
              <a:sym typeface="Calibri"/>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ExprPtr ConstantFolder::foldExpr(ExprPtr expr)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    auto* bin = dynamic_cast&lt;BinaryExpr*&gt;(expr.get());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7DD3FC"/>
                </a:solidFill>
                <a:latin typeface="Calibri"/>
                <a:ea typeface="Calibri"/>
                <a:cs typeface="Calibri"/>
                <a:sym typeface="Calibri"/>
              </a:rPr>
              <a:t>    if (!bin) return expr;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    bin-&gt;left  = foldExpr(std::move(bin-&gt;left));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    bin-&gt;right = foldExpr(std::move(bin-&gt;right));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    auto* ll = dynamic_cast&lt;LiteralExpr*&gt;(bin-&gt;left.get());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    auto* rr = dynamic_cast&lt;LiteralExpr*&gt;(bin-&gt;right.get());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7DD3FC"/>
                </a:solidFill>
                <a:latin typeface="Calibri"/>
                <a:ea typeface="Calibri"/>
                <a:cs typeface="Calibri"/>
                <a:sym typeface="Calibri"/>
              </a:rPr>
              <a:t>    if (ll &amp;&amp; rr &amp;&amp; holds_alternative&lt;double&gt;(...))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7DD3FC"/>
                </a:solidFill>
                <a:latin typeface="Calibri"/>
                <a:ea typeface="Calibri"/>
                <a:cs typeface="Calibri"/>
                <a:sym typeface="Calibri"/>
              </a:rPr>
              <a:t>        auto result = m_foldOps[bin-&gt;op.type](a, b);</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7DD3FC"/>
                </a:solidFill>
                <a:latin typeface="Calibri"/>
                <a:ea typeface="Calibri"/>
                <a:cs typeface="Calibri"/>
                <a:sym typeface="Calibri"/>
              </a:rPr>
              <a:t>        if (result)  // 0나누기 등 안전 체크</a:t>
            </a:r>
            <a:endParaRPr b="0" i="0" sz="950" u="none" cap="none" strike="noStrike">
              <a:solidFill>
                <a:srgbClr val="7DD3FC"/>
              </a:solidFill>
              <a:latin typeface="Calibri"/>
              <a:ea typeface="Calibri"/>
              <a:cs typeface="Calibri"/>
              <a:sym typeface="Calibri"/>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7DD3FC"/>
                </a:solidFill>
                <a:latin typeface="Calibri"/>
                <a:ea typeface="Calibri"/>
                <a:cs typeface="Calibri"/>
                <a:sym typeface="Calibri"/>
              </a:rPr>
              <a:t>            return make_unique&lt;LiteralExpr&gt;(*result);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7DD3FC"/>
                </a:solidFill>
                <a:latin typeface="Calibri"/>
                <a:ea typeface="Calibri"/>
                <a:cs typeface="Calibri"/>
                <a:sym typeface="Calibri"/>
              </a:rPr>
              <a:t>    return expr;  // 폴딩 불가 → 원본 유지</a:t>
            </a:r>
            <a:endParaRPr b="0" i="0" sz="950" u="none" cap="none" strike="noStrike">
              <a:solidFill>
                <a:srgbClr val="7DD3FC"/>
              </a:solidFill>
              <a:latin typeface="Calibri"/>
              <a:ea typeface="Calibri"/>
              <a:cs typeface="Calibri"/>
              <a:sym typeface="Calibri"/>
            </a:endParaRPr>
          </a:p>
          <a:p>
            <a:pPr indent="0" lvl="0" marL="0" marR="0" rtl="0" algn="l">
              <a:lnSpc>
                <a:spcPct val="100000"/>
              </a:lnSpc>
              <a:spcBef>
                <a:spcPts val="100"/>
              </a:spcBef>
              <a:spcAft>
                <a:spcPts val="0"/>
              </a:spcAft>
              <a:buClr>
                <a:srgbClr val="000000"/>
              </a:buClr>
              <a:buSzPts val="950"/>
              <a:buFont typeface="Arial"/>
              <a:buNone/>
            </a:pPr>
            <a:r>
              <a:rPr b="0" i="0" lang="ko-KR" sz="950" u="none" cap="none" strike="noStrike">
                <a:solidFill>
                  <a:srgbClr val="CBD5E1"/>
                </a:solidFill>
                <a:latin typeface="Calibri"/>
                <a:ea typeface="Calibri"/>
                <a:cs typeface="Calibri"/>
                <a:sym typeface="Calibri"/>
              </a:rPr>
              <a:t>}</a:t>
            </a:r>
            <a:endParaRPr b="0" i="0" sz="950" u="none" cap="none" strike="noStrike">
              <a:solidFill>
                <a:srgbClr val="64748B"/>
              </a:solidFill>
              <a:latin typeface="Calibri"/>
              <a:ea typeface="Calibri"/>
              <a:cs typeface="Calibri"/>
              <a:sym typeface="Calibri"/>
            </a:endParaRPr>
          </a:p>
        </p:txBody>
      </p:sp>
      <p:sp>
        <p:nvSpPr>
          <p:cNvPr id="899" name="Google Shape;899;g3ee94320d98_10_94"/>
          <p:cNvSpPr txBox="1"/>
          <p:nvPr/>
        </p:nvSpPr>
        <p:spPr>
          <a:xfrm>
            <a:off x="6228686" y="4663440"/>
            <a:ext cx="5469536"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ko-KR" sz="1000" u="none" cap="none" strike="noStrike">
                <a:solidFill>
                  <a:srgbClr val="166A34"/>
                </a:solidFill>
                <a:latin typeface="Calibri"/>
                <a:ea typeface="Calibri"/>
                <a:cs typeface="Calibri"/>
                <a:sym typeface="Calibri"/>
              </a:rPr>
              <a:t>✅ 루프 5회 × 10연산 = 50회 감소, 결과값 25는 폴딩 전후 동일</a:t>
            </a:r>
            <a:endParaRPr b="0" i="0" sz="1400" u="none" cap="none" strike="noStrike">
              <a:solidFill>
                <a:srgbClr val="000000"/>
              </a:solidFill>
              <a:latin typeface="Arial"/>
              <a:ea typeface="Arial"/>
              <a:cs typeface="Arial"/>
              <a:sym typeface="Arial"/>
            </a:endParaRPr>
          </a:p>
        </p:txBody>
      </p:sp>
      <p:sp>
        <p:nvSpPr>
          <p:cNvPr id="900" name="Google Shape;900;g3ee94320d98_10_94"/>
          <p:cNvSpPr/>
          <p:nvPr/>
        </p:nvSpPr>
        <p:spPr>
          <a:xfrm>
            <a:off x="493905" y="5029200"/>
            <a:ext cx="11204318" cy="50292"/>
          </a:xfrm>
          <a:prstGeom prst="rect">
            <a:avLst/>
          </a:prstGeom>
          <a:solidFill>
            <a:srgbClr val="E2E8F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01" name="Google Shape;901;g3ee94320d98_10_94"/>
          <p:cNvSpPr/>
          <p:nvPr/>
        </p:nvSpPr>
        <p:spPr>
          <a:xfrm>
            <a:off x="365855" y="5120640"/>
            <a:ext cx="3548796" cy="1536192"/>
          </a:xfrm>
          <a:prstGeom prst="rect">
            <a:avLst/>
          </a:prstGeom>
          <a:solidFill>
            <a:srgbClr val="FFFFFF"/>
          </a:solidFill>
          <a:ln cap="flat" cmpd="sng" w="9525">
            <a:solidFill>
              <a:srgbClr val="CBD5E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02" name="Google Shape;902;g3ee94320d98_10_94"/>
          <p:cNvSpPr/>
          <p:nvPr/>
        </p:nvSpPr>
        <p:spPr>
          <a:xfrm>
            <a:off x="365855" y="5120640"/>
            <a:ext cx="3548796" cy="50292"/>
          </a:xfrm>
          <a:prstGeom prst="rect">
            <a:avLst/>
          </a:prstGeom>
          <a:solidFill>
            <a:srgbClr val="4F46E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03" name="Google Shape;903;g3ee94320d98_10_94"/>
          <p:cNvSpPr txBox="1"/>
          <p:nvPr/>
        </p:nvSpPr>
        <p:spPr>
          <a:xfrm>
            <a:off x="503051" y="5285232"/>
            <a:ext cx="3274405" cy="32004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ko-KR" sz="1400" u="none" cap="none" strike="noStrike">
                <a:solidFill>
                  <a:srgbClr val="0F172A"/>
                </a:solidFill>
                <a:latin typeface="Calibri"/>
                <a:ea typeface="Calibri"/>
                <a:cs typeface="Calibri"/>
                <a:sym typeface="Calibri"/>
              </a:rPr>
              <a:t>50회 연산 감소</a:t>
            </a:r>
            <a:endParaRPr b="0" i="0" sz="1400" u="none" cap="none" strike="noStrike">
              <a:solidFill>
                <a:srgbClr val="000000"/>
              </a:solidFill>
              <a:latin typeface="Arial"/>
              <a:ea typeface="Arial"/>
              <a:cs typeface="Arial"/>
              <a:sym typeface="Arial"/>
            </a:endParaRPr>
          </a:p>
        </p:txBody>
      </p:sp>
      <p:sp>
        <p:nvSpPr>
          <p:cNvPr id="904" name="Google Shape;904;g3ee94320d98_10_94"/>
          <p:cNvSpPr txBox="1"/>
          <p:nvPr/>
        </p:nvSpPr>
        <p:spPr>
          <a:xfrm>
            <a:off x="503051" y="5669280"/>
            <a:ext cx="3274405" cy="86868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ko-KR" sz="1100" u="none" cap="none" strike="noStrike">
                <a:solidFill>
                  <a:srgbClr val="334155"/>
                </a:solidFill>
                <a:latin typeface="Calibri"/>
                <a:ea typeface="Calibri"/>
                <a:cs typeface="Calibri"/>
                <a:sym typeface="Calibri"/>
              </a:rPr>
              <a:t>OpSpy: withoutFold - withFold == 50</a:t>
            </a:r>
            <a:br>
              <a:rPr b="0" i="0" lang="ko-KR" sz="1100" u="none" cap="none" strike="noStrike">
                <a:solidFill>
                  <a:srgbClr val="334155"/>
                </a:solidFill>
                <a:latin typeface="Calibri"/>
                <a:ea typeface="Calibri"/>
                <a:cs typeface="Calibri"/>
                <a:sym typeface="Calibri"/>
              </a:rPr>
            </a:br>
            <a:r>
              <a:rPr b="0" i="0" lang="ko-KR" sz="1100" u="none" cap="none" strike="noStrike">
                <a:solidFill>
                  <a:srgbClr val="334155"/>
                </a:solidFill>
                <a:latin typeface="Calibri"/>
                <a:ea typeface="Calibri"/>
                <a:cs typeface="Calibri"/>
                <a:sym typeface="Calibri"/>
              </a:rPr>
              <a:t>테스트로 정확한 수치 자동 검증</a:t>
            </a:r>
            <a:endParaRPr b="0" i="0" sz="1400" u="none" cap="none" strike="noStrike">
              <a:solidFill>
                <a:srgbClr val="000000"/>
              </a:solidFill>
              <a:latin typeface="Arial"/>
              <a:ea typeface="Arial"/>
              <a:cs typeface="Arial"/>
              <a:sym typeface="Arial"/>
            </a:endParaRPr>
          </a:p>
        </p:txBody>
      </p:sp>
      <p:sp>
        <p:nvSpPr>
          <p:cNvPr id="905" name="Google Shape;905;g3ee94320d98_10_94"/>
          <p:cNvSpPr/>
          <p:nvPr/>
        </p:nvSpPr>
        <p:spPr>
          <a:xfrm>
            <a:off x="4097579" y="5120640"/>
            <a:ext cx="3548796" cy="1536192"/>
          </a:xfrm>
          <a:prstGeom prst="rect">
            <a:avLst/>
          </a:prstGeom>
          <a:solidFill>
            <a:srgbClr val="FFFFFF"/>
          </a:solidFill>
          <a:ln cap="flat" cmpd="sng" w="9525">
            <a:solidFill>
              <a:srgbClr val="CBD5E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06" name="Google Shape;906;g3ee94320d98_10_94"/>
          <p:cNvSpPr/>
          <p:nvPr/>
        </p:nvSpPr>
        <p:spPr>
          <a:xfrm>
            <a:off x="4097579" y="5120640"/>
            <a:ext cx="3548796" cy="50292"/>
          </a:xfrm>
          <a:prstGeom prst="rect">
            <a:avLst/>
          </a:prstGeom>
          <a:solidFill>
            <a:srgbClr val="4F46E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07" name="Google Shape;907;g3ee94320d98_10_94"/>
          <p:cNvSpPr txBox="1"/>
          <p:nvPr/>
        </p:nvSpPr>
        <p:spPr>
          <a:xfrm>
            <a:off x="4234775" y="5285232"/>
            <a:ext cx="3274405" cy="32004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ko-KR" sz="1400" u="none" cap="none" strike="noStrike">
                <a:solidFill>
                  <a:srgbClr val="0F172A"/>
                </a:solidFill>
                <a:latin typeface="Calibri"/>
                <a:ea typeface="Calibri"/>
                <a:cs typeface="Calibri"/>
                <a:sym typeface="Calibri"/>
              </a:rPr>
              <a:t>결과 정확성 유지</a:t>
            </a:r>
            <a:endParaRPr b="0" i="0" sz="1400" u="none" cap="none" strike="noStrike">
              <a:solidFill>
                <a:srgbClr val="000000"/>
              </a:solidFill>
              <a:latin typeface="Arial"/>
              <a:ea typeface="Arial"/>
              <a:cs typeface="Arial"/>
              <a:sym typeface="Arial"/>
            </a:endParaRPr>
          </a:p>
        </p:txBody>
      </p:sp>
      <p:sp>
        <p:nvSpPr>
          <p:cNvPr id="908" name="Google Shape;908;g3ee94320d98_10_94"/>
          <p:cNvSpPr txBox="1"/>
          <p:nvPr/>
        </p:nvSpPr>
        <p:spPr>
          <a:xfrm>
            <a:off x="4234775" y="5669280"/>
            <a:ext cx="3274405" cy="86868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ko-KR" sz="1100" u="none" cap="none" strike="noStrike">
                <a:solidFill>
                  <a:srgbClr val="334155"/>
                </a:solidFill>
                <a:latin typeface="Calibri"/>
                <a:ea typeface="Calibri"/>
                <a:cs typeface="Calibri"/>
                <a:sym typeface="Calibri"/>
              </a:rPr>
              <a:t>폴딩 전후 실행 결과 "25\n" 동일</a:t>
            </a:r>
            <a:br>
              <a:rPr b="0" i="0" lang="ko-KR" sz="1100" u="none" cap="none" strike="noStrike">
                <a:solidFill>
                  <a:srgbClr val="334155"/>
                </a:solidFill>
                <a:latin typeface="Calibri"/>
                <a:ea typeface="Calibri"/>
                <a:cs typeface="Calibri"/>
                <a:sym typeface="Calibri"/>
              </a:rPr>
            </a:br>
            <a:r>
              <a:rPr b="0" i="0" lang="ko-KR" sz="1100" u="none" cap="none" strike="noStrike">
                <a:solidFill>
                  <a:srgbClr val="334155"/>
                </a:solidFill>
                <a:latin typeface="Calibri"/>
                <a:ea typeface="Calibri"/>
                <a:cs typeface="Calibri"/>
                <a:sym typeface="Calibri"/>
              </a:rPr>
              <a:t>최적화가 의미를 바꾸지 않음을 보장</a:t>
            </a:r>
            <a:endParaRPr b="0" i="0" sz="1400" u="none" cap="none" strike="noStrike">
              <a:solidFill>
                <a:srgbClr val="000000"/>
              </a:solidFill>
              <a:latin typeface="Arial"/>
              <a:ea typeface="Arial"/>
              <a:cs typeface="Arial"/>
              <a:sym typeface="Arial"/>
            </a:endParaRPr>
          </a:p>
        </p:txBody>
      </p:sp>
      <p:sp>
        <p:nvSpPr>
          <p:cNvPr id="909" name="Google Shape;909;g3ee94320d98_10_94"/>
          <p:cNvSpPr/>
          <p:nvPr/>
        </p:nvSpPr>
        <p:spPr>
          <a:xfrm>
            <a:off x="7829303" y="5120640"/>
            <a:ext cx="3548796" cy="1536192"/>
          </a:xfrm>
          <a:prstGeom prst="rect">
            <a:avLst/>
          </a:prstGeom>
          <a:solidFill>
            <a:srgbClr val="FFFFFF"/>
          </a:solidFill>
          <a:ln cap="flat" cmpd="sng" w="9525">
            <a:solidFill>
              <a:srgbClr val="CBD5E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10" name="Google Shape;910;g3ee94320d98_10_94"/>
          <p:cNvSpPr/>
          <p:nvPr/>
        </p:nvSpPr>
        <p:spPr>
          <a:xfrm>
            <a:off x="7829303" y="5120640"/>
            <a:ext cx="3548796" cy="50292"/>
          </a:xfrm>
          <a:prstGeom prst="rect">
            <a:avLst/>
          </a:prstGeom>
          <a:solidFill>
            <a:srgbClr val="4F46E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11" name="Google Shape;911;g3ee94320d98_10_94"/>
          <p:cNvSpPr txBox="1"/>
          <p:nvPr/>
        </p:nvSpPr>
        <p:spPr>
          <a:xfrm>
            <a:off x="7966499" y="5285232"/>
            <a:ext cx="3274405" cy="32004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ko-KR" sz="1400" u="none" cap="none" strike="noStrike">
                <a:solidFill>
                  <a:srgbClr val="0F172A"/>
                </a:solidFill>
                <a:latin typeface="Calibri"/>
                <a:ea typeface="Calibri"/>
                <a:cs typeface="Calibri"/>
                <a:sym typeface="Calibri"/>
              </a:rPr>
              <a:t>파이프라인 분리</a:t>
            </a:r>
            <a:endParaRPr b="0" i="0" sz="1400" u="none" cap="none" strike="noStrike">
              <a:solidFill>
                <a:srgbClr val="000000"/>
              </a:solidFill>
              <a:latin typeface="Arial"/>
              <a:ea typeface="Arial"/>
              <a:cs typeface="Arial"/>
              <a:sym typeface="Arial"/>
            </a:endParaRPr>
          </a:p>
        </p:txBody>
      </p:sp>
      <p:sp>
        <p:nvSpPr>
          <p:cNvPr id="912" name="Google Shape;912;g3ee94320d98_10_94"/>
          <p:cNvSpPr txBox="1"/>
          <p:nvPr/>
        </p:nvSpPr>
        <p:spPr>
          <a:xfrm>
            <a:off x="7966499" y="5669280"/>
            <a:ext cx="3274405" cy="86868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ko-KR" sz="1100" u="none" cap="none" strike="noStrike">
                <a:solidFill>
                  <a:srgbClr val="334155"/>
                </a:solidFill>
                <a:latin typeface="Calibri"/>
                <a:ea typeface="Calibri"/>
                <a:cs typeface="Calibri"/>
                <a:sym typeface="Calibri"/>
              </a:rPr>
              <a:t>OCP: setOptimizer() 주입으로</a:t>
            </a:r>
            <a:br>
              <a:rPr b="0" i="0" lang="ko-KR" sz="1100" u="none" cap="none" strike="noStrike">
                <a:solidFill>
                  <a:srgbClr val="334155"/>
                </a:solidFill>
                <a:latin typeface="Calibri"/>
                <a:ea typeface="Calibri"/>
                <a:cs typeface="Calibri"/>
                <a:sym typeface="Calibri"/>
              </a:rPr>
            </a:br>
            <a:r>
              <a:rPr b="0" i="0" lang="ko-KR" sz="1100" u="none" cap="none" strike="noStrike">
                <a:solidFill>
                  <a:srgbClr val="334155"/>
                </a:solidFill>
                <a:latin typeface="Calibri"/>
                <a:ea typeface="Calibri"/>
                <a:cs typeface="Calibri"/>
                <a:sym typeface="Calibri"/>
              </a:rPr>
              <a:t>기존 파이프라인 코드 무수정 적용</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365D"/>
        </a:solidFill>
      </p:bgPr>
    </p:bg>
    <p:spTree>
      <p:nvGrpSpPr>
        <p:cNvPr id="916" name="Shape 916"/>
        <p:cNvGrpSpPr/>
        <p:nvPr/>
      </p:nvGrpSpPr>
      <p:grpSpPr>
        <a:xfrm>
          <a:off x="0" y="0"/>
          <a:ext cx="0" cy="0"/>
          <a:chOff x="0" y="0"/>
          <a:chExt cx="0" cy="0"/>
        </a:xfrm>
      </p:grpSpPr>
      <p:sp>
        <p:nvSpPr>
          <p:cNvPr id="917" name="Google Shape;917;g3ee9487a86e_1_13"/>
          <p:cNvSpPr txBox="1"/>
          <p:nvPr/>
        </p:nvSpPr>
        <p:spPr>
          <a:xfrm>
            <a:off x="3060620" y="2238375"/>
            <a:ext cx="60708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b="1" i="0" lang="ko-KR" sz="1800" u="none" cap="none" strike="noStrike">
                <a:solidFill>
                  <a:srgbClr val="FFFFFF"/>
                </a:solidFill>
                <a:latin typeface="Urbanist"/>
                <a:ea typeface="Urbanist"/>
                <a:cs typeface="Urbanist"/>
                <a:sym typeface="Urbanist"/>
              </a:rPr>
              <a:t>BEST PRACTICE</a:t>
            </a:r>
            <a:endParaRPr b="0" i="0" sz="1400" u="none" cap="none" strike="noStrike">
              <a:solidFill>
                <a:srgbClr val="000000"/>
              </a:solidFill>
              <a:latin typeface="Arial"/>
              <a:ea typeface="Arial"/>
              <a:cs typeface="Arial"/>
              <a:sym typeface="Arial"/>
            </a:endParaRPr>
          </a:p>
        </p:txBody>
      </p:sp>
      <p:sp>
        <p:nvSpPr>
          <p:cNvPr id="918" name="Google Shape;918;g3ee9487a86e_1_13"/>
          <p:cNvSpPr txBox="1"/>
          <p:nvPr/>
        </p:nvSpPr>
        <p:spPr>
          <a:xfrm>
            <a:off x="3060620" y="2705100"/>
            <a:ext cx="6070800" cy="738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4800"/>
              <a:buFont typeface="Arial"/>
              <a:buNone/>
            </a:pPr>
            <a:r>
              <a:rPr b="1" i="0" lang="ko-KR" sz="4800" u="none" cap="none" strike="noStrike">
                <a:solidFill>
                  <a:srgbClr val="FFFFFF"/>
                </a:solidFill>
                <a:latin typeface="Urbanist"/>
                <a:ea typeface="Urbanist"/>
                <a:cs typeface="Urbanist"/>
                <a:sym typeface="Urbanist"/>
              </a:rPr>
              <a:t>BP - AI 활용 사례</a:t>
            </a:r>
            <a:endParaRPr b="0" i="0" sz="1400" u="none" cap="none" strike="noStrike">
              <a:solidFill>
                <a:srgbClr val="000000"/>
              </a:solidFill>
              <a:latin typeface="Arial"/>
              <a:ea typeface="Arial"/>
              <a:cs typeface="Arial"/>
              <a:sym typeface="Arial"/>
            </a:endParaRPr>
          </a:p>
        </p:txBody>
      </p:sp>
      <p:sp>
        <p:nvSpPr>
          <p:cNvPr id="919" name="Google Shape;919;g3ee9487a86e_1_13"/>
          <p:cNvSpPr/>
          <p:nvPr/>
        </p:nvSpPr>
        <p:spPr>
          <a:xfrm>
            <a:off x="5619750" y="3819525"/>
            <a:ext cx="952500" cy="47700"/>
          </a:xfrm>
          <a:prstGeom prst="rect">
            <a:avLst/>
          </a:prstGeom>
          <a:solidFill>
            <a:srgbClr val="00808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20" name="Google Shape;920;g3ee9487a86e_1_13"/>
          <p:cNvSpPr txBox="1"/>
          <p:nvPr/>
        </p:nvSpPr>
        <p:spPr>
          <a:xfrm>
            <a:off x="2957649" y="4152900"/>
            <a:ext cx="6364800" cy="231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500"/>
              <a:buFont typeface="Arial"/>
              <a:buNone/>
            </a:pPr>
            <a:r>
              <a:rPr b="0" i="0" lang="ko-KR" sz="1500" u="none" cap="none" strike="noStrike">
                <a:solidFill>
                  <a:srgbClr val="FFFFFF"/>
                </a:solidFill>
                <a:latin typeface="Noto Sans KR"/>
                <a:ea typeface="Noto Sans KR"/>
                <a:cs typeface="Noto Sans KR"/>
                <a:sym typeface="Noto Sans KR"/>
              </a:rPr>
              <a:t>코드 리뷰 자동화 및 설계 개선 제안을 통한 팀 개발 품질 성과</a:t>
            </a:r>
            <a:endParaRPr b="0" i="0" sz="1500" u="none" cap="none" strike="noStrike">
              <a:solidFill>
                <a:srgbClr val="FFFFFF"/>
              </a:solidFill>
              <a:latin typeface="Noto Sans KR"/>
              <a:ea typeface="Noto Sans KR"/>
              <a:cs typeface="Noto Sans KR"/>
              <a:sym typeface="Noto Sans K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4" name="Shape 924"/>
        <p:cNvGrpSpPr/>
        <p:nvPr/>
      </p:nvGrpSpPr>
      <p:grpSpPr>
        <a:xfrm>
          <a:off x="0" y="0"/>
          <a:ext cx="0" cy="0"/>
          <a:chOff x="0" y="0"/>
          <a:chExt cx="0" cy="0"/>
        </a:xfrm>
      </p:grpSpPr>
      <p:sp>
        <p:nvSpPr>
          <p:cNvPr id="925" name="Google Shape;925;p29"/>
          <p:cNvSpPr txBox="1"/>
          <p:nvPr>
            <p:ph type="title"/>
          </p:nvPr>
        </p:nvSpPr>
        <p:spPr>
          <a:xfrm>
            <a:off x="838207"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Malgun Gothic"/>
              <a:buNone/>
            </a:pPr>
            <a:r>
              <a:rPr lang="ko-KR"/>
              <a:t>AI 활용 병렬 개발, 코드 리뷰 사용</a:t>
            </a:r>
            <a:endParaRPr/>
          </a:p>
        </p:txBody>
      </p:sp>
      <p:pic>
        <p:nvPicPr>
          <p:cNvPr descr="image.png" id="926" name="Google Shape;926;p29"/>
          <p:cNvPicPr preferRelativeResize="0"/>
          <p:nvPr/>
        </p:nvPicPr>
        <p:blipFill rotWithShape="1">
          <a:blip r:embed="rId3">
            <a:alphaModFix/>
          </a:blip>
          <a:srcRect b="0" l="0" r="0" t="0"/>
          <a:stretch/>
        </p:blipFill>
        <p:spPr>
          <a:xfrm>
            <a:off x="762000" y="1842875"/>
            <a:ext cx="5143500" cy="4861675"/>
          </a:xfrm>
          <a:prstGeom prst="rect">
            <a:avLst/>
          </a:prstGeom>
          <a:noFill/>
          <a:ln>
            <a:noFill/>
          </a:ln>
        </p:spPr>
      </p:pic>
      <p:pic>
        <p:nvPicPr>
          <p:cNvPr descr="image.png" id="927" name="Google Shape;927;p29"/>
          <p:cNvPicPr preferRelativeResize="0"/>
          <p:nvPr/>
        </p:nvPicPr>
        <p:blipFill rotWithShape="1">
          <a:blip r:embed="rId4">
            <a:alphaModFix/>
          </a:blip>
          <a:srcRect b="0" l="0" r="0" t="0"/>
          <a:stretch/>
        </p:blipFill>
        <p:spPr>
          <a:xfrm>
            <a:off x="6286500" y="1842875"/>
            <a:ext cx="5143500" cy="4861675"/>
          </a:xfrm>
          <a:prstGeom prst="rect">
            <a:avLst/>
          </a:prstGeom>
          <a:noFill/>
          <a:ln>
            <a:noFill/>
          </a:ln>
        </p:spPr>
      </p:pic>
      <p:sp>
        <p:nvSpPr>
          <p:cNvPr id="928" name="Google Shape;928;p29"/>
          <p:cNvSpPr txBox="1"/>
          <p:nvPr/>
        </p:nvSpPr>
        <p:spPr>
          <a:xfrm>
            <a:off x="993457" y="2763440"/>
            <a:ext cx="4680600" cy="3003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950"/>
              <a:buFont typeface="Arial"/>
              <a:buNone/>
            </a:pPr>
            <a:r>
              <a:rPr b="1" i="0" lang="ko-KR" sz="1950" u="none" cap="none" strike="noStrike">
                <a:solidFill>
                  <a:srgbClr val="1E293B"/>
                </a:solidFill>
                <a:latin typeface="Poppins"/>
                <a:ea typeface="Poppins"/>
                <a:cs typeface="Poppins"/>
                <a:sym typeface="Poppins"/>
              </a:rPr>
              <a:t>CLAUDE.MD 기반 컨벤션 통일</a:t>
            </a:r>
            <a:endParaRPr b="0" i="0" sz="1400" u="none" cap="none" strike="noStrike">
              <a:solidFill>
                <a:srgbClr val="000000"/>
              </a:solidFill>
              <a:latin typeface="Arial"/>
              <a:ea typeface="Arial"/>
              <a:cs typeface="Arial"/>
              <a:sym typeface="Arial"/>
            </a:endParaRPr>
          </a:p>
        </p:txBody>
      </p:sp>
      <p:sp>
        <p:nvSpPr>
          <p:cNvPr id="929" name="Google Shape;929;p29"/>
          <p:cNvSpPr txBox="1"/>
          <p:nvPr/>
        </p:nvSpPr>
        <p:spPr>
          <a:xfrm>
            <a:off x="6517957" y="2763440"/>
            <a:ext cx="4680600" cy="3003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950"/>
              <a:buFont typeface="Arial"/>
              <a:buNone/>
            </a:pPr>
            <a:r>
              <a:rPr b="1" i="0" lang="ko-KR" sz="1950" u="none" cap="none" strike="noStrike">
                <a:solidFill>
                  <a:srgbClr val="1E293B"/>
                </a:solidFill>
                <a:latin typeface="Poppins"/>
                <a:ea typeface="Poppins"/>
                <a:cs typeface="Poppins"/>
                <a:sym typeface="Poppins"/>
              </a:rPr>
              <a:t>AI 어시스턴트 코드 리뷰</a:t>
            </a:r>
            <a:endParaRPr b="0" i="0" sz="1400" u="none" cap="none" strike="noStrike">
              <a:solidFill>
                <a:srgbClr val="000000"/>
              </a:solidFill>
              <a:latin typeface="Arial"/>
              <a:ea typeface="Arial"/>
              <a:cs typeface="Arial"/>
              <a:sym typeface="Arial"/>
            </a:endParaRPr>
          </a:p>
        </p:txBody>
      </p:sp>
      <p:pic>
        <p:nvPicPr>
          <p:cNvPr descr="image.png" id="930" name="Google Shape;930;p29"/>
          <p:cNvPicPr preferRelativeResize="0"/>
          <p:nvPr/>
        </p:nvPicPr>
        <p:blipFill rotWithShape="1">
          <a:blip r:embed="rId5">
            <a:alphaModFix/>
          </a:blip>
          <a:srcRect b="0" l="0" r="0" t="0"/>
          <a:stretch/>
        </p:blipFill>
        <p:spPr>
          <a:xfrm>
            <a:off x="3109912" y="2106215"/>
            <a:ext cx="447675" cy="400050"/>
          </a:xfrm>
          <a:prstGeom prst="rect">
            <a:avLst/>
          </a:prstGeom>
          <a:noFill/>
          <a:ln>
            <a:noFill/>
          </a:ln>
        </p:spPr>
      </p:pic>
      <p:sp>
        <p:nvSpPr>
          <p:cNvPr id="931" name="Google Shape;931;p29"/>
          <p:cNvSpPr txBox="1"/>
          <p:nvPr/>
        </p:nvSpPr>
        <p:spPr>
          <a:xfrm>
            <a:off x="1409700" y="3214505"/>
            <a:ext cx="4152900" cy="12051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350"/>
              <a:buFont typeface="Arial"/>
              <a:buNone/>
            </a:pPr>
            <a:r>
              <a:rPr b="1" i="0" lang="ko-KR" sz="1350" u="none" cap="none" strike="noStrike">
                <a:solidFill>
                  <a:srgbClr val="334155"/>
                </a:solidFill>
                <a:latin typeface="Noto Sans KR"/>
                <a:ea typeface="Noto Sans KR"/>
                <a:cs typeface="Noto Sans KR"/>
                <a:sym typeface="Noto Sans KR"/>
              </a:rPr>
              <a:t>C++ 코드 스타일 강제:</a:t>
            </a:r>
            <a:r>
              <a:rPr b="0" i="0" lang="ko-KR" sz="1350" u="none" cap="none" strike="noStrike">
                <a:solidFill>
                  <a:srgbClr val="475569"/>
                </a:solidFill>
                <a:latin typeface="Noto Sans KR"/>
                <a:ea typeface="Noto Sans KR"/>
                <a:cs typeface="Noto Sans KR"/>
                <a:sym typeface="Noto Sans KR"/>
              </a:rPr>
              <a:t> 멤버 변수 m_ 접두사, 스마트 포인터 사용 등 프로젝트 고유의 컨벤션을 AI 프롬프트(CLAUDE.MD)에 명시하여 통일성을 확보했습니다.</a:t>
            </a:r>
            <a:endParaRPr b="0" i="0" sz="1400" u="none" cap="none" strike="noStrike">
              <a:solidFill>
                <a:srgbClr val="000000"/>
              </a:solidFill>
              <a:latin typeface="Arial"/>
              <a:ea typeface="Arial"/>
              <a:cs typeface="Arial"/>
              <a:sym typeface="Arial"/>
            </a:endParaRPr>
          </a:p>
        </p:txBody>
      </p:sp>
      <p:sp>
        <p:nvSpPr>
          <p:cNvPr id="932" name="Google Shape;932;p29"/>
          <p:cNvSpPr txBox="1"/>
          <p:nvPr/>
        </p:nvSpPr>
        <p:spPr>
          <a:xfrm>
            <a:off x="1409700" y="4441626"/>
            <a:ext cx="4152900" cy="8727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350"/>
              <a:buFont typeface="Arial"/>
              <a:buNone/>
            </a:pPr>
            <a:r>
              <a:rPr b="1" i="0" lang="ko-KR" sz="1350" u="none" cap="none" strike="noStrike">
                <a:solidFill>
                  <a:srgbClr val="334155"/>
                </a:solidFill>
                <a:latin typeface="Noto Sans KR"/>
                <a:ea typeface="Noto Sans KR"/>
                <a:cs typeface="Noto Sans KR"/>
                <a:sym typeface="Noto Sans KR"/>
              </a:rPr>
              <a:t>커밋 메시지 규격화:</a:t>
            </a:r>
            <a:r>
              <a:rPr b="0" i="0" lang="ko-KR" sz="1350" u="none" cap="none" strike="noStrike">
                <a:solidFill>
                  <a:srgbClr val="475569"/>
                </a:solidFill>
                <a:latin typeface="Noto Sans KR"/>
                <a:ea typeface="Noto Sans KR"/>
                <a:cs typeface="Noto Sans KR"/>
                <a:sym typeface="Noto Sans KR"/>
              </a:rPr>
              <a:t> [feature], [fix], [refactoring] 3가지 타입으로 커밋을 제한하여 Git 히스토리의 가독성을 높였습니다.</a:t>
            </a:r>
            <a:endParaRPr b="0" i="0" sz="1400" u="none" cap="none" strike="noStrike">
              <a:solidFill>
                <a:srgbClr val="000000"/>
              </a:solidFill>
              <a:latin typeface="Arial"/>
              <a:ea typeface="Arial"/>
              <a:cs typeface="Arial"/>
              <a:sym typeface="Arial"/>
            </a:endParaRPr>
          </a:p>
        </p:txBody>
      </p:sp>
      <p:sp>
        <p:nvSpPr>
          <p:cNvPr id="933" name="Google Shape;933;p29"/>
          <p:cNvSpPr txBox="1"/>
          <p:nvPr/>
        </p:nvSpPr>
        <p:spPr>
          <a:xfrm>
            <a:off x="1409700" y="5491162"/>
            <a:ext cx="4152900" cy="8727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350"/>
              <a:buFont typeface="Arial"/>
              <a:buNone/>
            </a:pPr>
            <a:r>
              <a:rPr b="1" i="0" lang="ko-KR" sz="1350" u="none" cap="none" strike="noStrike">
                <a:solidFill>
                  <a:srgbClr val="334155"/>
                </a:solidFill>
                <a:latin typeface="Noto Sans KR"/>
                <a:ea typeface="Noto Sans KR"/>
                <a:cs typeface="Noto Sans KR"/>
                <a:sym typeface="Noto Sans KR"/>
              </a:rPr>
              <a:t>병목 없는 톤앤매너:</a:t>
            </a:r>
            <a:r>
              <a:rPr b="0" i="0" lang="ko-KR" sz="1350" u="none" cap="none" strike="noStrike">
                <a:solidFill>
                  <a:srgbClr val="475569"/>
                </a:solidFill>
                <a:latin typeface="Noto Sans KR"/>
                <a:ea typeface="Noto Sans KR"/>
                <a:cs typeface="Noto Sans KR"/>
                <a:sym typeface="Noto Sans KR"/>
              </a:rPr>
              <a:t> 4명이 각자 파트를 개발하더라도 AI가 동일한 룰셋을 적용하여, 마치 한 사람이 짠 것 같은 일관된 코드베이스를 구축했습니다.</a:t>
            </a:r>
            <a:endParaRPr b="0" i="0" sz="1400" u="none" cap="none" strike="noStrike">
              <a:solidFill>
                <a:srgbClr val="000000"/>
              </a:solidFill>
              <a:latin typeface="Arial"/>
              <a:ea typeface="Arial"/>
              <a:cs typeface="Arial"/>
              <a:sym typeface="Arial"/>
            </a:endParaRPr>
          </a:p>
        </p:txBody>
      </p:sp>
      <p:pic>
        <p:nvPicPr>
          <p:cNvPr descr="image.png" id="934" name="Google Shape;934;p29"/>
          <p:cNvPicPr preferRelativeResize="0"/>
          <p:nvPr/>
        </p:nvPicPr>
        <p:blipFill rotWithShape="1">
          <a:blip r:embed="rId6">
            <a:alphaModFix/>
          </a:blip>
          <a:srcRect b="0" l="0" r="0" t="0"/>
          <a:stretch/>
        </p:blipFill>
        <p:spPr>
          <a:xfrm>
            <a:off x="8605837" y="2106215"/>
            <a:ext cx="504825" cy="400050"/>
          </a:xfrm>
          <a:prstGeom prst="rect">
            <a:avLst/>
          </a:prstGeom>
          <a:noFill/>
          <a:ln>
            <a:noFill/>
          </a:ln>
        </p:spPr>
      </p:pic>
      <p:sp>
        <p:nvSpPr>
          <p:cNvPr id="935" name="Google Shape;935;p29"/>
          <p:cNvSpPr txBox="1"/>
          <p:nvPr/>
        </p:nvSpPr>
        <p:spPr>
          <a:xfrm>
            <a:off x="6934200" y="3392090"/>
            <a:ext cx="4152900" cy="8727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350"/>
              <a:buFont typeface="Arial"/>
              <a:buNone/>
            </a:pPr>
            <a:r>
              <a:rPr b="1" i="0" lang="ko-KR" sz="1350" u="none" cap="none" strike="noStrike">
                <a:solidFill>
                  <a:srgbClr val="334155"/>
                </a:solidFill>
                <a:latin typeface="Noto Sans KR"/>
                <a:ea typeface="Noto Sans KR"/>
                <a:cs typeface="Noto Sans KR"/>
                <a:sym typeface="Noto Sans KR"/>
              </a:rPr>
              <a:t>객체지향 및 아키텍처 검증:</a:t>
            </a:r>
            <a:r>
              <a:rPr b="0" i="0" lang="ko-KR" sz="1350" u="none" cap="none" strike="noStrike">
                <a:solidFill>
                  <a:srgbClr val="475569"/>
                </a:solidFill>
                <a:latin typeface="Noto Sans KR"/>
                <a:ea typeface="Noto Sans KR"/>
                <a:cs typeface="Noto Sans KR"/>
                <a:sym typeface="Noto Sans KR"/>
              </a:rPr>
              <a:t> 디자인  패턴 적용이나 인터페이스 통신 규칙이 올바르게 설계되었는지 AI를 통해 1차 구조 검증을 진행했습니다.</a:t>
            </a:r>
            <a:endParaRPr b="0" i="0" sz="1400" u="none" cap="none" strike="noStrike">
              <a:solidFill>
                <a:srgbClr val="000000"/>
              </a:solidFill>
              <a:latin typeface="Arial"/>
              <a:ea typeface="Arial"/>
              <a:cs typeface="Arial"/>
              <a:sym typeface="Arial"/>
            </a:endParaRPr>
          </a:p>
        </p:txBody>
      </p:sp>
      <p:sp>
        <p:nvSpPr>
          <p:cNvPr id="936" name="Google Shape;936;p29"/>
          <p:cNvSpPr txBox="1"/>
          <p:nvPr/>
        </p:nvSpPr>
        <p:spPr>
          <a:xfrm>
            <a:off x="6934200" y="4424511"/>
            <a:ext cx="4152900" cy="8727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350"/>
              <a:buFont typeface="Arial"/>
              <a:buNone/>
            </a:pPr>
            <a:r>
              <a:rPr b="1" i="0" lang="ko-KR" sz="1350" u="none" cap="none" strike="noStrike">
                <a:solidFill>
                  <a:srgbClr val="334155"/>
                </a:solidFill>
                <a:latin typeface="Noto Sans KR"/>
                <a:ea typeface="Noto Sans KR"/>
                <a:cs typeface="Noto Sans KR"/>
                <a:sym typeface="Noto Sans KR"/>
              </a:rPr>
              <a:t>잠재적 결함 사전 차단:</a:t>
            </a:r>
            <a:r>
              <a:rPr b="0" i="0" lang="ko-KR" sz="1350" u="none" cap="none" strike="noStrike">
                <a:solidFill>
                  <a:srgbClr val="475569"/>
                </a:solidFill>
                <a:latin typeface="Noto Sans KR"/>
                <a:ea typeface="Noto Sans KR"/>
                <a:cs typeface="Noto Sans KR"/>
                <a:sym typeface="Noto Sans KR"/>
              </a:rPr>
              <a:t> 메모리 관리 오류나 C++ 특유의 예외 처리 누락 등 사람이 놓치기 쉬운 휴먼 에러를 사전에 찾아냈습니다.</a:t>
            </a:r>
            <a:endParaRPr b="0" i="0" sz="1400" u="none" cap="none" strike="noStrike">
              <a:solidFill>
                <a:srgbClr val="000000"/>
              </a:solidFill>
              <a:latin typeface="Arial"/>
              <a:ea typeface="Arial"/>
              <a:cs typeface="Arial"/>
              <a:sym typeface="Arial"/>
            </a:endParaRPr>
          </a:p>
        </p:txBody>
      </p:sp>
      <p:sp>
        <p:nvSpPr>
          <p:cNvPr id="937" name="Google Shape;937;p29"/>
          <p:cNvSpPr txBox="1"/>
          <p:nvPr/>
        </p:nvSpPr>
        <p:spPr>
          <a:xfrm>
            <a:off x="6934200" y="5456932"/>
            <a:ext cx="4152900" cy="8727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350"/>
              <a:buFont typeface="Arial"/>
              <a:buNone/>
            </a:pPr>
            <a:r>
              <a:rPr b="1" i="0" lang="ko-KR" sz="1350" u="none" cap="none" strike="noStrike">
                <a:solidFill>
                  <a:srgbClr val="334155"/>
                </a:solidFill>
                <a:latin typeface="Noto Sans KR"/>
                <a:ea typeface="Noto Sans KR"/>
                <a:cs typeface="Noto Sans KR"/>
                <a:sym typeface="Noto Sans KR"/>
              </a:rPr>
              <a:t>코드 리뷰 리소스 절감:</a:t>
            </a:r>
            <a:r>
              <a:rPr b="0" i="0" lang="ko-KR" sz="1350" u="none" cap="none" strike="noStrike">
                <a:solidFill>
                  <a:srgbClr val="475569"/>
                </a:solidFill>
                <a:latin typeface="Noto Sans KR"/>
                <a:ea typeface="Noto Sans KR"/>
                <a:cs typeface="Noto Sans KR"/>
                <a:sym typeface="Noto Sans KR"/>
              </a:rPr>
              <a:t> AI가 짚어주는 개선 포인트를 기반으로 동료 리뷰를 진행하여, 리뷰 소요 시간을 획기적으로 단축하고 퀄리티를 높였습니다.</a:t>
            </a:r>
            <a:endParaRPr b="0" i="0" sz="1400" u="none" cap="none" strike="noStrike">
              <a:solidFill>
                <a:srgbClr val="000000"/>
              </a:solidFill>
              <a:latin typeface="Arial"/>
              <a:ea typeface="Arial"/>
              <a:cs typeface="Arial"/>
              <a:sym typeface="Arial"/>
            </a:endParaRPr>
          </a:p>
        </p:txBody>
      </p:sp>
      <p:sp>
        <p:nvSpPr>
          <p:cNvPr id="938" name="Google Shape;938;p29"/>
          <p:cNvSpPr txBox="1"/>
          <p:nvPr/>
        </p:nvSpPr>
        <p:spPr>
          <a:xfrm>
            <a:off x="762000" y="1459815"/>
            <a:ext cx="10668000" cy="23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0" i="0" lang="ko-KR" sz="1500" u="none" cap="none" strike="noStrike">
                <a:solidFill>
                  <a:srgbClr val="64748B"/>
                </a:solidFill>
                <a:latin typeface="Noto Sans KR"/>
                <a:ea typeface="Noto Sans KR"/>
                <a:cs typeface="Noto Sans KR"/>
                <a:sym typeface="Noto Sans KR"/>
              </a:rPr>
              <a:t>4인 병렬 개발 환경에서 일관성을 유지하고 휴먼 에러를 방지하기 위해 AI를 적극 활용했습니다.</a:t>
            </a:r>
            <a:endParaRPr b="0" i="0" sz="1400" u="none" cap="none" strike="noStrike">
              <a:solidFill>
                <a:srgbClr val="000000"/>
              </a:solidFill>
              <a:latin typeface="Arial"/>
              <a:ea typeface="Arial"/>
              <a:cs typeface="Arial"/>
              <a:sym typeface="Arial"/>
            </a:endParaRPr>
          </a:p>
        </p:txBody>
      </p:sp>
      <p:pic>
        <p:nvPicPr>
          <p:cNvPr descr="image.png" id="939" name="Google Shape;939;p29"/>
          <p:cNvPicPr preferRelativeResize="0"/>
          <p:nvPr/>
        </p:nvPicPr>
        <p:blipFill rotWithShape="1">
          <a:blip r:embed="rId7">
            <a:alphaModFix/>
          </a:blip>
          <a:srcRect b="0" l="0" r="0" t="0"/>
          <a:stretch/>
        </p:blipFill>
        <p:spPr>
          <a:xfrm>
            <a:off x="1104900" y="3281987"/>
            <a:ext cx="133350" cy="152400"/>
          </a:xfrm>
          <a:prstGeom prst="rect">
            <a:avLst/>
          </a:prstGeom>
          <a:noFill/>
          <a:ln>
            <a:noFill/>
          </a:ln>
        </p:spPr>
      </p:pic>
      <p:pic>
        <p:nvPicPr>
          <p:cNvPr descr="image.png" id="940" name="Google Shape;940;p29"/>
          <p:cNvPicPr preferRelativeResize="0"/>
          <p:nvPr/>
        </p:nvPicPr>
        <p:blipFill rotWithShape="1">
          <a:blip r:embed="rId7">
            <a:alphaModFix/>
          </a:blip>
          <a:srcRect b="0" l="0" r="0" t="0"/>
          <a:stretch/>
        </p:blipFill>
        <p:spPr>
          <a:xfrm>
            <a:off x="1104900" y="4460676"/>
            <a:ext cx="133350" cy="152400"/>
          </a:xfrm>
          <a:prstGeom prst="rect">
            <a:avLst/>
          </a:prstGeom>
          <a:noFill/>
          <a:ln>
            <a:noFill/>
          </a:ln>
        </p:spPr>
      </p:pic>
      <p:pic>
        <p:nvPicPr>
          <p:cNvPr descr="image.png" id="941" name="Google Shape;941;p29"/>
          <p:cNvPicPr preferRelativeResize="0"/>
          <p:nvPr/>
        </p:nvPicPr>
        <p:blipFill rotWithShape="1">
          <a:blip r:embed="rId7">
            <a:alphaModFix/>
          </a:blip>
          <a:srcRect b="0" l="0" r="0" t="0"/>
          <a:stretch/>
        </p:blipFill>
        <p:spPr>
          <a:xfrm>
            <a:off x="1104900" y="5510212"/>
            <a:ext cx="133350" cy="152400"/>
          </a:xfrm>
          <a:prstGeom prst="rect">
            <a:avLst/>
          </a:prstGeom>
          <a:noFill/>
          <a:ln>
            <a:noFill/>
          </a:ln>
        </p:spPr>
      </p:pic>
      <p:pic>
        <p:nvPicPr>
          <p:cNvPr descr="image.png" id="942" name="Google Shape;942;p29"/>
          <p:cNvPicPr preferRelativeResize="0"/>
          <p:nvPr/>
        </p:nvPicPr>
        <p:blipFill rotWithShape="1">
          <a:blip r:embed="rId8">
            <a:alphaModFix/>
          </a:blip>
          <a:srcRect b="0" l="0" r="0" t="0"/>
          <a:stretch/>
        </p:blipFill>
        <p:spPr>
          <a:xfrm>
            <a:off x="6629400" y="3411140"/>
            <a:ext cx="133350" cy="152400"/>
          </a:xfrm>
          <a:prstGeom prst="rect">
            <a:avLst/>
          </a:prstGeom>
          <a:noFill/>
          <a:ln>
            <a:noFill/>
          </a:ln>
        </p:spPr>
      </p:pic>
      <p:pic>
        <p:nvPicPr>
          <p:cNvPr descr="image.png" id="943" name="Google Shape;943;p29"/>
          <p:cNvPicPr preferRelativeResize="0"/>
          <p:nvPr/>
        </p:nvPicPr>
        <p:blipFill rotWithShape="1">
          <a:blip r:embed="rId8">
            <a:alphaModFix/>
          </a:blip>
          <a:srcRect b="0" l="0" r="0" t="0"/>
          <a:stretch/>
        </p:blipFill>
        <p:spPr>
          <a:xfrm>
            <a:off x="6629400" y="4443561"/>
            <a:ext cx="133350" cy="152400"/>
          </a:xfrm>
          <a:prstGeom prst="rect">
            <a:avLst/>
          </a:prstGeom>
          <a:noFill/>
          <a:ln>
            <a:noFill/>
          </a:ln>
        </p:spPr>
      </p:pic>
      <p:pic>
        <p:nvPicPr>
          <p:cNvPr descr="image.png" id="944" name="Google Shape;944;p29"/>
          <p:cNvPicPr preferRelativeResize="0"/>
          <p:nvPr/>
        </p:nvPicPr>
        <p:blipFill rotWithShape="1">
          <a:blip r:embed="rId8">
            <a:alphaModFix/>
          </a:blip>
          <a:srcRect b="0" l="0" r="0" t="0"/>
          <a:stretch/>
        </p:blipFill>
        <p:spPr>
          <a:xfrm>
            <a:off x="6629400" y="5475982"/>
            <a:ext cx="133350" cy="1524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365D"/>
        </a:solidFill>
      </p:bgPr>
    </p:bg>
    <p:spTree>
      <p:nvGrpSpPr>
        <p:cNvPr id="948" name="Shape 948"/>
        <p:cNvGrpSpPr/>
        <p:nvPr/>
      </p:nvGrpSpPr>
      <p:grpSpPr>
        <a:xfrm>
          <a:off x="0" y="0"/>
          <a:ext cx="0" cy="0"/>
          <a:chOff x="0" y="0"/>
          <a:chExt cx="0" cy="0"/>
        </a:xfrm>
      </p:grpSpPr>
      <p:sp>
        <p:nvSpPr>
          <p:cNvPr id="949" name="Google Shape;949;g3ee94320d98_11_282"/>
          <p:cNvSpPr txBox="1"/>
          <p:nvPr/>
        </p:nvSpPr>
        <p:spPr>
          <a:xfrm>
            <a:off x="3060620" y="2238375"/>
            <a:ext cx="60708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b="1" i="0" lang="ko-KR" sz="1800" u="none" cap="none" strike="noStrike">
                <a:solidFill>
                  <a:srgbClr val="FFFFFF"/>
                </a:solidFill>
                <a:latin typeface="Urbanist"/>
                <a:ea typeface="Urbanist"/>
                <a:cs typeface="Urbanist"/>
                <a:sym typeface="Urbanist"/>
              </a:rPr>
              <a:t>BEST PRACTICE</a:t>
            </a:r>
            <a:endParaRPr b="0" i="0" sz="1400" u="none" cap="none" strike="noStrike">
              <a:solidFill>
                <a:srgbClr val="000000"/>
              </a:solidFill>
              <a:latin typeface="Arial"/>
              <a:ea typeface="Arial"/>
              <a:cs typeface="Arial"/>
              <a:sym typeface="Arial"/>
            </a:endParaRPr>
          </a:p>
        </p:txBody>
      </p:sp>
      <p:sp>
        <p:nvSpPr>
          <p:cNvPr id="950" name="Google Shape;950;g3ee94320d98_11_282"/>
          <p:cNvSpPr txBox="1"/>
          <p:nvPr/>
        </p:nvSpPr>
        <p:spPr>
          <a:xfrm>
            <a:off x="3060620" y="2705100"/>
            <a:ext cx="6070800" cy="738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4800"/>
              <a:buFont typeface="Arial"/>
              <a:buNone/>
            </a:pPr>
            <a:r>
              <a:rPr b="1" i="0" lang="ko-KR" sz="4800" u="none" cap="none" strike="noStrike">
                <a:solidFill>
                  <a:srgbClr val="FFFFFF"/>
                </a:solidFill>
                <a:latin typeface="Urbanist"/>
                <a:ea typeface="Urbanist"/>
                <a:cs typeface="Urbanist"/>
                <a:sym typeface="Urbanist"/>
              </a:rPr>
              <a:t>BP - TDD 사례</a:t>
            </a:r>
            <a:endParaRPr b="0" i="0" sz="1400" u="none" cap="none" strike="noStrike">
              <a:solidFill>
                <a:srgbClr val="000000"/>
              </a:solidFill>
              <a:latin typeface="Arial"/>
              <a:ea typeface="Arial"/>
              <a:cs typeface="Arial"/>
              <a:sym typeface="Arial"/>
            </a:endParaRPr>
          </a:p>
        </p:txBody>
      </p:sp>
      <p:sp>
        <p:nvSpPr>
          <p:cNvPr id="951" name="Google Shape;951;g3ee94320d98_11_282"/>
          <p:cNvSpPr/>
          <p:nvPr/>
        </p:nvSpPr>
        <p:spPr>
          <a:xfrm>
            <a:off x="5619750" y="3819525"/>
            <a:ext cx="952500" cy="47700"/>
          </a:xfrm>
          <a:prstGeom prst="rect">
            <a:avLst/>
          </a:prstGeom>
          <a:solidFill>
            <a:srgbClr val="00808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52" name="Google Shape;952;g3ee94320d98_11_282"/>
          <p:cNvSpPr txBox="1"/>
          <p:nvPr/>
        </p:nvSpPr>
        <p:spPr>
          <a:xfrm>
            <a:off x="2957649" y="4152900"/>
            <a:ext cx="6364800" cy="231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500"/>
              <a:buFont typeface="Arial"/>
              <a:buNone/>
            </a:pPr>
            <a:r>
              <a:rPr b="0" i="0" lang="ko-KR" sz="1500" u="none" cap="none" strike="noStrike">
                <a:solidFill>
                  <a:srgbClr val="FFFFFF"/>
                </a:solidFill>
                <a:latin typeface="Noto Sans KR"/>
                <a:ea typeface="Noto Sans KR"/>
                <a:cs typeface="Noto Sans KR"/>
                <a:sym typeface="Noto Sans KR"/>
              </a:rPr>
              <a:t>교과서적인 TDD Red-Green-Refactor 사이클의 실제 커밋과 코드 흐름 분석</a:t>
            </a:r>
            <a:endParaRPr b="0" i="0" sz="1500" u="none" cap="none" strike="noStrike">
              <a:solidFill>
                <a:srgbClr val="FFFFFF"/>
              </a:solidFill>
              <a:latin typeface="Noto Sans KR"/>
              <a:ea typeface="Noto Sans KR"/>
              <a:cs typeface="Noto Sans KR"/>
              <a:sym typeface="Noto Sans K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56" name="Shape 956"/>
        <p:cNvGrpSpPr/>
        <p:nvPr/>
      </p:nvGrpSpPr>
      <p:grpSpPr>
        <a:xfrm>
          <a:off x="0" y="0"/>
          <a:ext cx="0" cy="0"/>
          <a:chOff x="0" y="0"/>
          <a:chExt cx="0" cy="0"/>
        </a:xfrm>
      </p:grpSpPr>
      <p:pic>
        <p:nvPicPr>
          <p:cNvPr descr="image.png" id="957" name="Google Shape;957;g3ee94320d98_11_42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958" name="Google Shape;958;g3ee94320d98_11_424"/>
          <p:cNvSpPr txBox="1"/>
          <p:nvPr/>
        </p:nvSpPr>
        <p:spPr>
          <a:xfrm>
            <a:off x="771525" y="581025"/>
            <a:ext cx="5590800" cy="4155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700"/>
              <a:buFont typeface="Arial"/>
              <a:buNone/>
            </a:pPr>
            <a:r>
              <a:rPr b="1" i="0" lang="ko-KR" sz="2700" u="none" cap="none" strike="noStrike">
                <a:solidFill>
                  <a:srgbClr val="0F172A"/>
                </a:solidFill>
                <a:latin typeface="Inter"/>
                <a:ea typeface="Inter"/>
                <a:cs typeface="Inter"/>
                <a:sym typeface="Inter"/>
              </a:rPr>
              <a:t>TDD 핵심 3단계 사이클</a:t>
            </a:r>
            <a:endParaRPr b="0" i="0" sz="1400" u="none" cap="none" strike="noStrike">
              <a:solidFill>
                <a:srgbClr val="000000"/>
              </a:solidFill>
              <a:latin typeface="Arial"/>
              <a:ea typeface="Arial"/>
              <a:cs typeface="Arial"/>
              <a:sym typeface="Arial"/>
            </a:endParaRPr>
          </a:p>
        </p:txBody>
      </p:sp>
      <p:pic>
        <p:nvPicPr>
          <p:cNvPr descr="image.png" id="959" name="Google Shape;959;g3ee94320d98_11_424"/>
          <p:cNvPicPr preferRelativeResize="0"/>
          <p:nvPr/>
        </p:nvPicPr>
        <p:blipFill rotWithShape="1">
          <a:blip r:embed="rId4">
            <a:alphaModFix/>
          </a:blip>
          <a:srcRect b="0" l="0" r="0" t="0"/>
          <a:stretch/>
        </p:blipFill>
        <p:spPr>
          <a:xfrm>
            <a:off x="6096000" y="9525"/>
            <a:ext cx="6086475" cy="6858000"/>
          </a:xfrm>
          <a:prstGeom prst="rect">
            <a:avLst/>
          </a:prstGeom>
          <a:noFill/>
          <a:ln>
            <a:noFill/>
          </a:ln>
        </p:spPr>
      </p:pic>
      <p:sp>
        <p:nvSpPr>
          <p:cNvPr id="960" name="Google Shape;960;g3ee94320d98_11_424"/>
          <p:cNvSpPr txBox="1"/>
          <p:nvPr/>
        </p:nvSpPr>
        <p:spPr>
          <a:xfrm>
            <a:off x="771525" y="1447800"/>
            <a:ext cx="5038800" cy="510000"/>
          </a:xfrm>
          <a:prstGeom prst="rect">
            <a:avLst/>
          </a:prstGeom>
          <a:noFill/>
          <a:ln>
            <a:noFill/>
          </a:ln>
        </p:spPr>
        <p:txBody>
          <a:bodyPr anchorCtr="0" anchor="t" bIns="0" lIns="0" spcFirstLastPara="1" rIns="0" wrap="square" tIns="0">
            <a:spAutoFit/>
          </a:bodyPr>
          <a:lstStyle/>
          <a:p>
            <a:pPr indent="0" lvl="0" marL="0" marR="0" rtl="0" algn="l">
              <a:lnSpc>
                <a:spcPct val="159921"/>
              </a:lnSpc>
              <a:spcBef>
                <a:spcPts val="0"/>
              </a:spcBef>
              <a:spcAft>
                <a:spcPts val="0"/>
              </a:spcAft>
              <a:buClr>
                <a:srgbClr val="000000"/>
              </a:buClr>
              <a:buSzPts val="1275"/>
              <a:buFont typeface="Arial"/>
              <a:buNone/>
            </a:pPr>
            <a:r>
              <a:rPr b="0" i="0" lang="ko-KR" sz="1275" u="none" cap="none" strike="noStrike">
                <a:solidFill>
                  <a:srgbClr val="475569"/>
                </a:solidFill>
                <a:latin typeface="Inter"/>
                <a:ea typeface="Inter"/>
                <a:cs typeface="Inter"/>
                <a:sym typeface="Inter"/>
              </a:rPr>
              <a:t>초기 기능 개발 시에는 복잡한 설계를 먼저 고민하지 않고, 점진적 성장을 만들어내는 RGR 개발 루프를 따릅니다.</a:t>
            </a:r>
            <a:endParaRPr b="0" i="0" sz="1400" u="none" cap="none" strike="noStrike">
              <a:solidFill>
                <a:srgbClr val="000000"/>
              </a:solidFill>
              <a:latin typeface="Arial"/>
              <a:ea typeface="Arial"/>
              <a:cs typeface="Arial"/>
              <a:sym typeface="Arial"/>
            </a:endParaRPr>
          </a:p>
        </p:txBody>
      </p:sp>
      <p:sp>
        <p:nvSpPr>
          <p:cNvPr id="961" name="Google Shape;961;g3ee94320d98_11_424"/>
          <p:cNvSpPr txBox="1"/>
          <p:nvPr/>
        </p:nvSpPr>
        <p:spPr>
          <a:xfrm>
            <a:off x="1038225" y="2280046"/>
            <a:ext cx="4772100" cy="196200"/>
          </a:xfrm>
          <a:prstGeom prst="rect">
            <a:avLst/>
          </a:prstGeom>
          <a:noFill/>
          <a:ln>
            <a:noFill/>
          </a:ln>
        </p:spPr>
        <p:txBody>
          <a:bodyPr anchorCtr="0" anchor="t" bIns="0" lIns="0" spcFirstLastPara="1" rIns="0" wrap="square" tIns="0">
            <a:spAutoFit/>
          </a:bodyPr>
          <a:lstStyle/>
          <a:p>
            <a:pPr indent="0" lvl="0" marL="0" marR="0" rtl="0" algn="l">
              <a:lnSpc>
                <a:spcPct val="159921"/>
              </a:lnSpc>
              <a:spcBef>
                <a:spcPts val="0"/>
              </a:spcBef>
              <a:spcAft>
                <a:spcPts val="0"/>
              </a:spcAft>
              <a:buClr>
                <a:srgbClr val="000000"/>
              </a:buClr>
              <a:buSzPts val="1275"/>
              <a:buFont typeface="Arial"/>
              <a:buNone/>
            </a:pPr>
            <a:r>
              <a:rPr b="1" i="0" lang="ko-KR" sz="1275" u="none" cap="none" strike="noStrike">
                <a:solidFill>
                  <a:schemeClr val="dk1"/>
                </a:solidFill>
                <a:latin typeface="Inter"/>
                <a:ea typeface="Inter"/>
                <a:cs typeface="Inter"/>
                <a:sym typeface="Inter"/>
              </a:rPr>
              <a:t>[RED]</a:t>
            </a:r>
            <a:r>
              <a:rPr b="0" i="0" lang="ko-KR" sz="1275" u="none" cap="none" strike="noStrike">
                <a:solidFill>
                  <a:srgbClr val="475569"/>
                </a:solidFill>
                <a:latin typeface="Inter"/>
                <a:ea typeface="Inter"/>
                <a:cs typeface="Inter"/>
                <a:sym typeface="Inter"/>
              </a:rPr>
              <a:t> 요구사항을 TC로 정의하여 컴파일 에러나 실패를 발생시킵니다.</a:t>
            </a:r>
            <a:endParaRPr b="0" i="0" sz="1400" u="none" cap="none" strike="noStrike">
              <a:solidFill>
                <a:srgbClr val="000000"/>
              </a:solidFill>
              <a:latin typeface="Arial"/>
              <a:ea typeface="Arial"/>
              <a:cs typeface="Arial"/>
              <a:sym typeface="Arial"/>
            </a:endParaRPr>
          </a:p>
        </p:txBody>
      </p:sp>
      <p:sp>
        <p:nvSpPr>
          <p:cNvPr id="962" name="Google Shape;962;g3ee94320d98_11_424"/>
          <p:cNvSpPr txBox="1"/>
          <p:nvPr/>
        </p:nvSpPr>
        <p:spPr>
          <a:xfrm>
            <a:off x="1038225" y="2912268"/>
            <a:ext cx="4772100" cy="510000"/>
          </a:xfrm>
          <a:prstGeom prst="rect">
            <a:avLst/>
          </a:prstGeom>
          <a:noFill/>
          <a:ln>
            <a:noFill/>
          </a:ln>
        </p:spPr>
        <p:txBody>
          <a:bodyPr anchorCtr="0" anchor="t" bIns="0" lIns="0" spcFirstLastPara="1" rIns="0" wrap="square" tIns="0">
            <a:spAutoFit/>
          </a:bodyPr>
          <a:lstStyle/>
          <a:p>
            <a:pPr indent="0" lvl="0" marL="0" marR="0" rtl="0" algn="l">
              <a:lnSpc>
                <a:spcPct val="159921"/>
              </a:lnSpc>
              <a:spcBef>
                <a:spcPts val="0"/>
              </a:spcBef>
              <a:spcAft>
                <a:spcPts val="0"/>
              </a:spcAft>
              <a:buClr>
                <a:srgbClr val="000000"/>
              </a:buClr>
              <a:buSzPts val="1275"/>
              <a:buFont typeface="Arial"/>
              <a:buNone/>
            </a:pPr>
            <a:r>
              <a:rPr b="1" i="0" lang="ko-KR" sz="1275" u="none" cap="none" strike="noStrike">
                <a:solidFill>
                  <a:schemeClr val="dk1"/>
                </a:solidFill>
                <a:latin typeface="Inter"/>
                <a:ea typeface="Inter"/>
                <a:cs typeface="Inter"/>
                <a:sym typeface="Inter"/>
              </a:rPr>
              <a:t>[GREEN]</a:t>
            </a:r>
            <a:r>
              <a:rPr b="0" i="0" lang="ko-KR" sz="1275" u="none" cap="none" strike="noStrike">
                <a:solidFill>
                  <a:srgbClr val="475569"/>
                </a:solidFill>
                <a:latin typeface="Inter"/>
                <a:ea typeface="Inter"/>
                <a:cs typeface="Inter"/>
                <a:sym typeface="Inter"/>
              </a:rPr>
              <a:t> 편법을 포함해 테스트를 빠르게 통과하는 최소 코드를 작성합니다.</a:t>
            </a:r>
            <a:endParaRPr b="0" i="0" sz="1400" u="none" cap="none" strike="noStrike">
              <a:solidFill>
                <a:srgbClr val="000000"/>
              </a:solidFill>
              <a:latin typeface="Arial"/>
              <a:ea typeface="Arial"/>
              <a:cs typeface="Arial"/>
              <a:sym typeface="Arial"/>
            </a:endParaRPr>
          </a:p>
        </p:txBody>
      </p:sp>
      <p:sp>
        <p:nvSpPr>
          <p:cNvPr id="963" name="Google Shape;963;g3ee94320d98_11_424"/>
          <p:cNvSpPr txBox="1"/>
          <p:nvPr/>
        </p:nvSpPr>
        <p:spPr>
          <a:xfrm>
            <a:off x="1038225" y="3544490"/>
            <a:ext cx="4772100" cy="510000"/>
          </a:xfrm>
          <a:prstGeom prst="rect">
            <a:avLst/>
          </a:prstGeom>
          <a:noFill/>
          <a:ln>
            <a:noFill/>
          </a:ln>
        </p:spPr>
        <p:txBody>
          <a:bodyPr anchorCtr="0" anchor="t" bIns="0" lIns="0" spcFirstLastPara="1" rIns="0" wrap="square" tIns="0">
            <a:spAutoFit/>
          </a:bodyPr>
          <a:lstStyle/>
          <a:p>
            <a:pPr indent="0" lvl="0" marL="0" marR="0" rtl="0" algn="l">
              <a:lnSpc>
                <a:spcPct val="159921"/>
              </a:lnSpc>
              <a:spcBef>
                <a:spcPts val="0"/>
              </a:spcBef>
              <a:spcAft>
                <a:spcPts val="0"/>
              </a:spcAft>
              <a:buClr>
                <a:srgbClr val="000000"/>
              </a:buClr>
              <a:buSzPts val="1275"/>
              <a:buFont typeface="Arial"/>
              <a:buNone/>
            </a:pPr>
            <a:r>
              <a:rPr b="1" i="0" lang="ko-KR" sz="1275" u="none" cap="none" strike="noStrike">
                <a:solidFill>
                  <a:schemeClr val="dk1"/>
                </a:solidFill>
                <a:latin typeface="Inter"/>
                <a:ea typeface="Inter"/>
                <a:cs typeface="Inter"/>
                <a:sym typeface="Inter"/>
              </a:rPr>
              <a:t>[REFACTOR]</a:t>
            </a:r>
            <a:r>
              <a:rPr b="0" i="0" lang="ko-KR" sz="1275" u="none" cap="none" strike="noStrike">
                <a:solidFill>
                  <a:srgbClr val="475569"/>
                </a:solidFill>
                <a:latin typeface="Inter"/>
                <a:ea typeface="Inter"/>
                <a:cs typeface="Inter"/>
                <a:sym typeface="Inter"/>
              </a:rPr>
              <a:t> 안전망 속에서 중복과 나쁜 설계를 지속적으로 개선합니다.</a:t>
            </a:r>
            <a:endParaRPr b="0" i="0" sz="1400" u="none" cap="none" strike="noStrike">
              <a:solidFill>
                <a:srgbClr val="000000"/>
              </a:solidFill>
              <a:latin typeface="Arial"/>
              <a:ea typeface="Arial"/>
              <a:cs typeface="Arial"/>
              <a:sym typeface="Arial"/>
            </a:endParaRPr>
          </a:p>
        </p:txBody>
      </p:sp>
      <p:sp>
        <p:nvSpPr>
          <p:cNvPr id="964" name="Google Shape;964;g3ee94320d98_11_424"/>
          <p:cNvSpPr txBox="1"/>
          <p:nvPr/>
        </p:nvSpPr>
        <p:spPr>
          <a:xfrm>
            <a:off x="771525" y="2280046"/>
            <a:ext cx="162000" cy="196200"/>
          </a:xfrm>
          <a:prstGeom prst="rect">
            <a:avLst/>
          </a:prstGeom>
          <a:noFill/>
          <a:ln>
            <a:noFill/>
          </a:ln>
        </p:spPr>
        <p:txBody>
          <a:bodyPr anchorCtr="0" anchor="t" bIns="0" lIns="0" spcFirstLastPara="1" rIns="0" wrap="square" tIns="0">
            <a:spAutoFit/>
          </a:bodyPr>
          <a:lstStyle/>
          <a:p>
            <a:pPr indent="0" lvl="0" marL="0" marR="0" rtl="0" algn="l">
              <a:lnSpc>
                <a:spcPct val="159921"/>
              </a:lnSpc>
              <a:spcBef>
                <a:spcPts val="0"/>
              </a:spcBef>
              <a:spcAft>
                <a:spcPts val="0"/>
              </a:spcAft>
              <a:buClr>
                <a:srgbClr val="000000"/>
              </a:buClr>
              <a:buSzPts val="1275"/>
              <a:buFont typeface="Arial"/>
              <a:buNone/>
            </a:pPr>
            <a:r>
              <a:rPr b="1" i="0" lang="ko-KR" sz="1275" u="none" cap="none" strike="noStrike">
                <a:solidFill>
                  <a:srgbClr val="7C3AED"/>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965" name="Google Shape;965;g3ee94320d98_11_424"/>
          <p:cNvSpPr txBox="1"/>
          <p:nvPr/>
        </p:nvSpPr>
        <p:spPr>
          <a:xfrm>
            <a:off x="771525" y="2912268"/>
            <a:ext cx="162000" cy="196200"/>
          </a:xfrm>
          <a:prstGeom prst="rect">
            <a:avLst/>
          </a:prstGeom>
          <a:noFill/>
          <a:ln>
            <a:noFill/>
          </a:ln>
        </p:spPr>
        <p:txBody>
          <a:bodyPr anchorCtr="0" anchor="t" bIns="0" lIns="0" spcFirstLastPara="1" rIns="0" wrap="square" tIns="0">
            <a:spAutoFit/>
          </a:bodyPr>
          <a:lstStyle/>
          <a:p>
            <a:pPr indent="0" lvl="0" marL="0" marR="0" rtl="0" algn="l">
              <a:lnSpc>
                <a:spcPct val="159921"/>
              </a:lnSpc>
              <a:spcBef>
                <a:spcPts val="0"/>
              </a:spcBef>
              <a:spcAft>
                <a:spcPts val="0"/>
              </a:spcAft>
              <a:buClr>
                <a:srgbClr val="000000"/>
              </a:buClr>
              <a:buSzPts val="1275"/>
              <a:buFont typeface="Arial"/>
              <a:buNone/>
            </a:pPr>
            <a:r>
              <a:rPr b="1" i="0" lang="ko-KR" sz="1275" u="none" cap="none" strike="noStrike">
                <a:solidFill>
                  <a:srgbClr val="7C3AED"/>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966" name="Google Shape;966;g3ee94320d98_11_424"/>
          <p:cNvSpPr txBox="1"/>
          <p:nvPr/>
        </p:nvSpPr>
        <p:spPr>
          <a:xfrm>
            <a:off x="771525" y="3544490"/>
            <a:ext cx="162000" cy="196200"/>
          </a:xfrm>
          <a:prstGeom prst="rect">
            <a:avLst/>
          </a:prstGeom>
          <a:noFill/>
          <a:ln>
            <a:noFill/>
          </a:ln>
        </p:spPr>
        <p:txBody>
          <a:bodyPr anchorCtr="0" anchor="t" bIns="0" lIns="0" spcFirstLastPara="1" rIns="0" wrap="square" tIns="0">
            <a:spAutoFit/>
          </a:bodyPr>
          <a:lstStyle/>
          <a:p>
            <a:pPr indent="0" lvl="0" marL="0" marR="0" rtl="0" algn="l">
              <a:lnSpc>
                <a:spcPct val="159921"/>
              </a:lnSpc>
              <a:spcBef>
                <a:spcPts val="0"/>
              </a:spcBef>
              <a:spcAft>
                <a:spcPts val="0"/>
              </a:spcAft>
              <a:buClr>
                <a:srgbClr val="000000"/>
              </a:buClr>
              <a:buSzPts val="1275"/>
              <a:buFont typeface="Arial"/>
              <a:buNone/>
            </a:pPr>
            <a:r>
              <a:rPr b="1" i="0" lang="ko-KR" sz="1275" u="none" cap="none" strike="noStrike">
                <a:solidFill>
                  <a:srgbClr val="7C3AED"/>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70" name="Shape 970"/>
        <p:cNvGrpSpPr/>
        <p:nvPr/>
      </p:nvGrpSpPr>
      <p:grpSpPr>
        <a:xfrm>
          <a:off x="0" y="0"/>
          <a:ext cx="0" cy="0"/>
          <a:chOff x="0" y="0"/>
          <a:chExt cx="0" cy="0"/>
        </a:xfrm>
      </p:grpSpPr>
      <p:pic>
        <p:nvPicPr>
          <p:cNvPr descr="image.png" id="971" name="Google Shape;971;g3ee94320d98_11_512"/>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972" name="Google Shape;972;g3ee94320d98_11_512"/>
          <p:cNvPicPr preferRelativeResize="0"/>
          <p:nvPr/>
        </p:nvPicPr>
        <p:blipFill rotWithShape="1">
          <a:blip r:embed="rId4">
            <a:alphaModFix/>
          </a:blip>
          <a:srcRect b="0" l="0" r="0" t="0"/>
          <a:stretch/>
        </p:blipFill>
        <p:spPr>
          <a:xfrm>
            <a:off x="6286500" y="2381250"/>
            <a:ext cx="5133974" cy="2800350"/>
          </a:xfrm>
          <a:prstGeom prst="rect">
            <a:avLst/>
          </a:prstGeom>
          <a:noFill/>
          <a:ln>
            <a:noFill/>
          </a:ln>
        </p:spPr>
      </p:pic>
      <p:pic>
        <p:nvPicPr>
          <p:cNvPr descr="image.png" id="973" name="Google Shape;973;g3ee94320d98_11_512"/>
          <p:cNvPicPr preferRelativeResize="0"/>
          <p:nvPr/>
        </p:nvPicPr>
        <p:blipFill rotWithShape="1">
          <a:blip r:embed="rId5">
            <a:alphaModFix/>
          </a:blip>
          <a:srcRect b="0" l="0" r="0" t="0"/>
          <a:stretch/>
        </p:blipFill>
        <p:spPr>
          <a:xfrm>
            <a:off x="6296025" y="2390775"/>
            <a:ext cx="5114925" cy="400050"/>
          </a:xfrm>
          <a:prstGeom prst="rect">
            <a:avLst/>
          </a:prstGeom>
          <a:noFill/>
          <a:ln>
            <a:noFill/>
          </a:ln>
        </p:spPr>
      </p:pic>
      <p:sp>
        <p:nvSpPr>
          <p:cNvPr id="974" name="Google Shape;974;g3ee94320d98_11_512"/>
          <p:cNvSpPr txBox="1"/>
          <p:nvPr/>
        </p:nvSpPr>
        <p:spPr>
          <a:xfrm>
            <a:off x="771525" y="2698551"/>
            <a:ext cx="5390700" cy="2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650"/>
              <a:buFont typeface="Arial"/>
              <a:buNone/>
            </a:pPr>
            <a:r>
              <a:rPr b="0" i="0" lang="ko-KR" sz="1650" u="none" cap="none" strike="noStrike">
                <a:solidFill>
                  <a:srgbClr val="1E293B"/>
                </a:solidFill>
                <a:latin typeface="Inter SemiBold"/>
                <a:ea typeface="Inter SemiBold"/>
                <a:cs typeface="Inter SemiBold"/>
                <a:sym typeface="Inter SemiBold"/>
              </a:rPr>
              <a:t>요구사항을 TC로 명세화</a:t>
            </a:r>
            <a:endParaRPr b="0" i="0" sz="1400" u="none" cap="none" strike="noStrike">
              <a:solidFill>
                <a:srgbClr val="000000"/>
              </a:solidFill>
              <a:latin typeface="Arial"/>
              <a:ea typeface="Arial"/>
              <a:cs typeface="Arial"/>
              <a:sym typeface="Arial"/>
            </a:endParaRPr>
          </a:p>
        </p:txBody>
      </p:sp>
      <p:sp>
        <p:nvSpPr>
          <p:cNvPr id="975" name="Google Shape;975;g3ee94320d98_11_512"/>
          <p:cNvSpPr txBox="1"/>
          <p:nvPr/>
        </p:nvSpPr>
        <p:spPr>
          <a:xfrm>
            <a:off x="771525" y="3346251"/>
            <a:ext cx="5133900" cy="510000"/>
          </a:xfrm>
          <a:prstGeom prst="rect">
            <a:avLst/>
          </a:prstGeom>
          <a:noFill/>
          <a:ln>
            <a:noFill/>
          </a:ln>
        </p:spPr>
        <p:txBody>
          <a:bodyPr anchorCtr="0" anchor="t" bIns="0" lIns="0" spcFirstLastPara="1" rIns="0" wrap="square" tIns="0">
            <a:spAutoFit/>
          </a:bodyPr>
          <a:lstStyle/>
          <a:p>
            <a:pPr indent="0" lvl="0" marL="0" marR="0" rtl="0" algn="l">
              <a:lnSpc>
                <a:spcPct val="159921"/>
              </a:lnSpc>
              <a:spcBef>
                <a:spcPts val="0"/>
              </a:spcBef>
              <a:spcAft>
                <a:spcPts val="0"/>
              </a:spcAft>
              <a:buClr>
                <a:srgbClr val="000000"/>
              </a:buClr>
              <a:buSzPts val="1275"/>
              <a:buFont typeface="Arial"/>
              <a:buNone/>
            </a:pPr>
            <a:r>
              <a:rPr b="0" i="0" lang="ko-KR" sz="1275" u="none" cap="none" strike="noStrike">
                <a:solidFill>
                  <a:srgbClr val="475569"/>
                </a:solidFill>
                <a:latin typeface="Inter"/>
                <a:ea typeface="Inter"/>
                <a:cs typeface="Inter"/>
                <a:sym typeface="Inter"/>
              </a:rPr>
              <a:t>구현을 작성하기 전, 빈 문자열("")을 넣더라도 구문 분석의 마침표 역할을 하는 </a:t>
            </a:r>
            <a:r>
              <a:rPr b="1" i="0" lang="ko-KR" sz="1275" u="none" cap="none" strike="noStrike">
                <a:solidFill>
                  <a:srgbClr val="475569"/>
                </a:solidFill>
                <a:latin typeface="Inter"/>
                <a:ea typeface="Inter"/>
                <a:cs typeface="Inter"/>
                <a:sym typeface="Inter"/>
              </a:rPr>
              <a:t>EOF 토큰은 항상 포함</a:t>
            </a:r>
            <a:r>
              <a:rPr b="0" i="0" lang="ko-KR" sz="1275" u="none" cap="none" strike="noStrike">
                <a:solidFill>
                  <a:srgbClr val="475569"/>
                </a:solidFill>
                <a:latin typeface="Inter"/>
                <a:ea typeface="Inter"/>
                <a:cs typeface="Inter"/>
                <a:sym typeface="Inter"/>
              </a:rPr>
              <a:t>되어야 한다는 규칙을 선언합니다.</a:t>
            </a:r>
            <a:endParaRPr b="0" i="0" sz="1400" u="none" cap="none" strike="noStrike">
              <a:solidFill>
                <a:srgbClr val="000000"/>
              </a:solidFill>
              <a:latin typeface="Arial"/>
              <a:ea typeface="Arial"/>
              <a:cs typeface="Arial"/>
              <a:sym typeface="Arial"/>
            </a:endParaRPr>
          </a:p>
        </p:txBody>
      </p:sp>
      <p:sp>
        <p:nvSpPr>
          <p:cNvPr id="976" name="Google Shape;976;g3ee94320d98_11_512"/>
          <p:cNvSpPr txBox="1"/>
          <p:nvPr/>
        </p:nvSpPr>
        <p:spPr>
          <a:xfrm>
            <a:off x="6467475" y="2505075"/>
            <a:ext cx="990600" cy="150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75"/>
              <a:buFont typeface="Arial"/>
              <a:buNone/>
            </a:pPr>
            <a:r>
              <a:rPr b="0" i="0" lang="ko-KR" sz="975" u="none" cap="none" strike="noStrike">
                <a:solidFill>
                  <a:srgbClr val="64748B"/>
                </a:solidFill>
                <a:latin typeface="JetBrains Mono"/>
                <a:ea typeface="JetBrains Mono"/>
                <a:cs typeface="JetBrains Mono"/>
                <a:sym typeface="JetBrains Mono"/>
              </a:rPr>
              <a:t>LexerTest.cpp</a:t>
            </a:r>
            <a:endParaRPr b="0" i="0" sz="1400" u="none" cap="none" strike="noStrike">
              <a:solidFill>
                <a:srgbClr val="000000"/>
              </a:solidFill>
              <a:latin typeface="Arial"/>
              <a:ea typeface="Arial"/>
              <a:cs typeface="Arial"/>
              <a:sym typeface="Arial"/>
            </a:endParaRPr>
          </a:p>
        </p:txBody>
      </p:sp>
      <p:sp>
        <p:nvSpPr>
          <p:cNvPr id="977" name="Google Shape;977;g3ee94320d98_11_512"/>
          <p:cNvSpPr txBox="1"/>
          <p:nvPr/>
        </p:nvSpPr>
        <p:spPr>
          <a:xfrm>
            <a:off x="771525" y="581025"/>
            <a:ext cx="4067100" cy="4155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700"/>
              <a:buFont typeface="Arial"/>
              <a:buNone/>
            </a:pPr>
            <a:r>
              <a:rPr b="1" i="0" lang="ko-KR" sz="2700" u="none" cap="none" strike="noStrike">
                <a:solidFill>
                  <a:srgbClr val="0F172A"/>
                </a:solidFill>
                <a:latin typeface="Inter"/>
                <a:ea typeface="Inter"/>
                <a:cs typeface="Inter"/>
                <a:sym typeface="Inter"/>
              </a:rPr>
              <a:t>사이클 1 — EOF 검증</a:t>
            </a:r>
            <a:endParaRPr b="0" i="0" sz="1400" u="none" cap="none" strike="noStrike">
              <a:solidFill>
                <a:srgbClr val="000000"/>
              </a:solidFill>
              <a:latin typeface="Arial"/>
              <a:ea typeface="Arial"/>
              <a:cs typeface="Arial"/>
              <a:sym typeface="Arial"/>
            </a:endParaRPr>
          </a:p>
        </p:txBody>
      </p:sp>
      <p:pic>
        <p:nvPicPr>
          <p:cNvPr descr="image.png" id="978" name="Google Shape;978;g3ee94320d98_11_512"/>
          <p:cNvPicPr preferRelativeResize="0"/>
          <p:nvPr/>
        </p:nvPicPr>
        <p:blipFill rotWithShape="1">
          <a:blip r:embed="rId6">
            <a:alphaModFix/>
          </a:blip>
          <a:srcRect b="0" l="0" r="0" t="0"/>
          <a:stretch/>
        </p:blipFill>
        <p:spPr>
          <a:xfrm>
            <a:off x="4127275" y="664962"/>
            <a:ext cx="461962" cy="2476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82" name="Shape 982"/>
        <p:cNvGrpSpPr/>
        <p:nvPr/>
      </p:nvGrpSpPr>
      <p:grpSpPr>
        <a:xfrm>
          <a:off x="0" y="0"/>
          <a:ext cx="0" cy="0"/>
          <a:chOff x="0" y="0"/>
          <a:chExt cx="0" cy="0"/>
        </a:xfrm>
      </p:grpSpPr>
      <p:pic>
        <p:nvPicPr>
          <p:cNvPr descr="image.png" id="983" name="Google Shape;983;g3ee94320d98_11_52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984" name="Google Shape;984;g3ee94320d98_11_525"/>
          <p:cNvPicPr preferRelativeResize="0"/>
          <p:nvPr/>
        </p:nvPicPr>
        <p:blipFill rotWithShape="1">
          <a:blip r:embed="rId4">
            <a:alphaModFix/>
          </a:blip>
          <a:srcRect b="0" l="0" r="0" t="0"/>
          <a:stretch/>
        </p:blipFill>
        <p:spPr>
          <a:xfrm>
            <a:off x="771525" y="2381250"/>
            <a:ext cx="5133974" cy="2800350"/>
          </a:xfrm>
          <a:prstGeom prst="rect">
            <a:avLst/>
          </a:prstGeom>
          <a:noFill/>
          <a:ln>
            <a:noFill/>
          </a:ln>
        </p:spPr>
      </p:pic>
      <p:pic>
        <p:nvPicPr>
          <p:cNvPr descr="image.png" id="985" name="Google Shape;985;g3ee94320d98_11_525"/>
          <p:cNvPicPr preferRelativeResize="0"/>
          <p:nvPr/>
        </p:nvPicPr>
        <p:blipFill rotWithShape="1">
          <a:blip r:embed="rId5">
            <a:alphaModFix/>
          </a:blip>
          <a:srcRect b="0" l="0" r="0" t="0"/>
          <a:stretch/>
        </p:blipFill>
        <p:spPr>
          <a:xfrm>
            <a:off x="781050" y="2390775"/>
            <a:ext cx="5114925" cy="400050"/>
          </a:xfrm>
          <a:prstGeom prst="rect">
            <a:avLst/>
          </a:prstGeom>
          <a:noFill/>
          <a:ln>
            <a:noFill/>
          </a:ln>
        </p:spPr>
      </p:pic>
      <p:sp>
        <p:nvSpPr>
          <p:cNvPr id="986" name="Google Shape;986;g3ee94320d98_11_525"/>
          <p:cNvSpPr txBox="1"/>
          <p:nvPr/>
        </p:nvSpPr>
        <p:spPr>
          <a:xfrm>
            <a:off x="6286500" y="2481560"/>
            <a:ext cx="5390700" cy="2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650"/>
              <a:buFont typeface="Arial"/>
              <a:buNone/>
            </a:pPr>
            <a:r>
              <a:rPr b="0" i="0" lang="ko-KR" sz="1650" u="none" cap="none" strike="noStrike">
                <a:solidFill>
                  <a:srgbClr val="1E293B"/>
                </a:solidFill>
                <a:latin typeface="Inter SemiBold"/>
                <a:ea typeface="Inter SemiBold"/>
                <a:cs typeface="Inter SemiBold"/>
                <a:sym typeface="Inter SemiBold"/>
              </a:rPr>
              <a:t>빠른 피드백 순환 확보</a:t>
            </a:r>
            <a:endParaRPr b="0" i="0" sz="1400" u="none" cap="none" strike="noStrike">
              <a:solidFill>
                <a:srgbClr val="000000"/>
              </a:solidFill>
              <a:latin typeface="Arial"/>
              <a:ea typeface="Arial"/>
              <a:cs typeface="Arial"/>
              <a:sym typeface="Arial"/>
            </a:endParaRPr>
          </a:p>
        </p:txBody>
      </p:sp>
      <p:sp>
        <p:nvSpPr>
          <p:cNvPr id="987" name="Google Shape;987;g3ee94320d98_11_525"/>
          <p:cNvSpPr txBox="1"/>
          <p:nvPr/>
        </p:nvSpPr>
        <p:spPr>
          <a:xfrm>
            <a:off x="6286500" y="3129260"/>
            <a:ext cx="5133900" cy="510000"/>
          </a:xfrm>
          <a:prstGeom prst="rect">
            <a:avLst/>
          </a:prstGeom>
          <a:noFill/>
          <a:ln>
            <a:noFill/>
          </a:ln>
        </p:spPr>
        <p:txBody>
          <a:bodyPr anchorCtr="0" anchor="t" bIns="0" lIns="0" spcFirstLastPara="1" rIns="0" wrap="square" tIns="0">
            <a:spAutoFit/>
          </a:bodyPr>
          <a:lstStyle/>
          <a:p>
            <a:pPr indent="0" lvl="0" marL="0" marR="0" rtl="0" algn="l">
              <a:lnSpc>
                <a:spcPct val="159921"/>
              </a:lnSpc>
              <a:spcBef>
                <a:spcPts val="0"/>
              </a:spcBef>
              <a:spcAft>
                <a:spcPts val="0"/>
              </a:spcAft>
              <a:buClr>
                <a:srgbClr val="000000"/>
              </a:buClr>
              <a:buSzPts val="1275"/>
              <a:buFont typeface="Arial"/>
              <a:buNone/>
            </a:pPr>
            <a:r>
              <a:rPr b="0" i="0" lang="ko-KR" sz="1275" u="none" cap="none" strike="noStrike">
                <a:solidFill>
                  <a:srgbClr val="475569"/>
                </a:solidFill>
                <a:latin typeface="Inter"/>
                <a:ea typeface="Inter"/>
                <a:cs typeface="Inter"/>
                <a:sym typeface="Inter"/>
              </a:rPr>
              <a:t>성급하게 파서 아키텍처를 처음부터 설계하려고 하지 않습니다. 일단 성공하는 녹색(Green) 빌드를 보는 것이 개발 자신감을 향상시킵니다.</a:t>
            </a:r>
            <a:endParaRPr b="0" i="0" sz="1400" u="none" cap="none" strike="noStrike">
              <a:solidFill>
                <a:srgbClr val="000000"/>
              </a:solidFill>
              <a:latin typeface="Arial"/>
              <a:ea typeface="Arial"/>
              <a:cs typeface="Arial"/>
              <a:sym typeface="Arial"/>
            </a:endParaRPr>
          </a:p>
        </p:txBody>
      </p:sp>
      <p:sp>
        <p:nvSpPr>
          <p:cNvPr id="988" name="Google Shape;988;g3ee94320d98_11_525"/>
          <p:cNvSpPr txBox="1"/>
          <p:nvPr/>
        </p:nvSpPr>
        <p:spPr>
          <a:xfrm>
            <a:off x="952500" y="2505075"/>
            <a:ext cx="685800" cy="150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75"/>
              <a:buFont typeface="Arial"/>
              <a:buNone/>
            </a:pPr>
            <a:r>
              <a:rPr b="0" i="0" lang="ko-KR" sz="975" u="none" cap="none" strike="noStrike">
                <a:solidFill>
                  <a:srgbClr val="64748B"/>
                </a:solidFill>
                <a:latin typeface="JetBrains Mono"/>
                <a:ea typeface="JetBrains Mono"/>
                <a:cs typeface="JetBrains Mono"/>
                <a:sym typeface="JetBrains Mono"/>
              </a:rPr>
              <a:t>Lexer.cpp</a:t>
            </a:r>
            <a:endParaRPr b="0" i="0" sz="1400" u="none" cap="none" strike="noStrike">
              <a:solidFill>
                <a:srgbClr val="000000"/>
              </a:solidFill>
              <a:latin typeface="Arial"/>
              <a:ea typeface="Arial"/>
              <a:cs typeface="Arial"/>
              <a:sym typeface="Arial"/>
            </a:endParaRPr>
          </a:p>
        </p:txBody>
      </p:sp>
      <p:sp>
        <p:nvSpPr>
          <p:cNvPr id="989" name="Google Shape;989;g3ee94320d98_11_525"/>
          <p:cNvSpPr txBox="1"/>
          <p:nvPr/>
        </p:nvSpPr>
        <p:spPr>
          <a:xfrm>
            <a:off x="6553200" y="3961507"/>
            <a:ext cx="4867200" cy="196200"/>
          </a:xfrm>
          <a:prstGeom prst="rect">
            <a:avLst/>
          </a:prstGeom>
          <a:noFill/>
          <a:ln>
            <a:noFill/>
          </a:ln>
        </p:spPr>
        <p:txBody>
          <a:bodyPr anchorCtr="0" anchor="t" bIns="0" lIns="0" spcFirstLastPara="1" rIns="0" wrap="square" tIns="0">
            <a:spAutoFit/>
          </a:bodyPr>
          <a:lstStyle/>
          <a:p>
            <a:pPr indent="0" lvl="0" marL="0" marR="0" rtl="0" algn="l">
              <a:lnSpc>
                <a:spcPct val="159921"/>
              </a:lnSpc>
              <a:spcBef>
                <a:spcPts val="0"/>
              </a:spcBef>
              <a:spcAft>
                <a:spcPts val="0"/>
              </a:spcAft>
              <a:buClr>
                <a:srgbClr val="000000"/>
              </a:buClr>
              <a:buSzPts val="1275"/>
              <a:buFont typeface="Arial"/>
              <a:buNone/>
            </a:pPr>
            <a:r>
              <a:rPr b="0" i="0" lang="ko-KR" sz="1275" u="none" cap="none" strike="noStrike">
                <a:solidFill>
                  <a:srgbClr val="475569"/>
                </a:solidFill>
                <a:latin typeface="Inter"/>
                <a:ea typeface="Inter"/>
                <a:cs typeface="Inter"/>
                <a:sym typeface="Inter"/>
              </a:rPr>
              <a:t>하드코딩 줄 번호(1)의 일시적 허용</a:t>
            </a:r>
            <a:endParaRPr b="0" i="0" sz="1400" u="none" cap="none" strike="noStrike">
              <a:solidFill>
                <a:srgbClr val="000000"/>
              </a:solidFill>
              <a:latin typeface="Arial"/>
              <a:ea typeface="Arial"/>
              <a:cs typeface="Arial"/>
              <a:sym typeface="Arial"/>
            </a:endParaRPr>
          </a:p>
        </p:txBody>
      </p:sp>
      <p:sp>
        <p:nvSpPr>
          <p:cNvPr id="990" name="Google Shape;990;g3ee94320d98_11_525"/>
          <p:cNvSpPr txBox="1"/>
          <p:nvPr/>
        </p:nvSpPr>
        <p:spPr>
          <a:xfrm>
            <a:off x="6553200" y="4334767"/>
            <a:ext cx="4867200" cy="196200"/>
          </a:xfrm>
          <a:prstGeom prst="rect">
            <a:avLst/>
          </a:prstGeom>
          <a:noFill/>
          <a:ln>
            <a:noFill/>
          </a:ln>
        </p:spPr>
        <p:txBody>
          <a:bodyPr anchorCtr="0" anchor="t" bIns="0" lIns="0" spcFirstLastPara="1" rIns="0" wrap="square" tIns="0">
            <a:spAutoFit/>
          </a:bodyPr>
          <a:lstStyle/>
          <a:p>
            <a:pPr indent="0" lvl="0" marL="0" marR="0" rtl="0" algn="l">
              <a:lnSpc>
                <a:spcPct val="159921"/>
              </a:lnSpc>
              <a:spcBef>
                <a:spcPts val="0"/>
              </a:spcBef>
              <a:spcAft>
                <a:spcPts val="0"/>
              </a:spcAft>
              <a:buClr>
                <a:srgbClr val="000000"/>
              </a:buClr>
              <a:buSzPts val="1275"/>
              <a:buFont typeface="Arial"/>
              <a:buNone/>
            </a:pPr>
            <a:r>
              <a:rPr b="0" i="0" lang="ko-KR" sz="1275" u="none" cap="none" strike="noStrike">
                <a:solidFill>
                  <a:srgbClr val="475569"/>
                </a:solidFill>
                <a:latin typeface="Inter"/>
                <a:ea typeface="Inter"/>
                <a:cs typeface="Inter"/>
                <a:sym typeface="Inter"/>
              </a:rPr>
              <a:t>불필요한 파싱 분석 루프 최소화</a:t>
            </a:r>
            <a:endParaRPr b="0" i="0" sz="1400" u="none" cap="none" strike="noStrike">
              <a:solidFill>
                <a:srgbClr val="000000"/>
              </a:solidFill>
              <a:latin typeface="Arial"/>
              <a:ea typeface="Arial"/>
              <a:cs typeface="Arial"/>
              <a:sym typeface="Arial"/>
            </a:endParaRPr>
          </a:p>
        </p:txBody>
      </p:sp>
      <p:sp>
        <p:nvSpPr>
          <p:cNvPr id="991" name="Google Shape;991;g3ee94320d98_11_525"/>
          <p:cNvSpPr txBox="1"/>
          <p:nvPr/>
        </p:nvSpPr>
        <p:spPr>
          <a:xfrm>
            <a:off x="6553200" y="4708028"/>
            <a:ext cx="4867200" cy="196200"/>
          </a:xfrm>
          <a:prstGeom prst="rect">
            <a:avLst/>
          </a:prstGeom>
          <a:noFill/>
          <a:ln>
            <a:noFill/>
          </a:ln>
        </p:spPr>
        <p:txBody>
          <a:bodyPr anchorCtr="0" anchor="t" bIns="0" lIns="0" spcFirstLastPara="1" rIns="0" wrap="square" tIns="0">
            <a:spAutoFit/>
          </a:bodyPr>
          <a:lstStyle/>
          <a:p>
            <a:pPr indent="0" lvl="0" marL="0" marR="0" rtl="0" algn="l">
              <a:lnSpc>
                <a:spcPct val="159921"/>
              </a:lnSpc>
              <a:spcBef>
                <a:spcPts val="0"/>
              </a:spcBef>
              <a:spcAft>
                <a:spcPts val="0"/>
              </a:spcAft>
              <a:buClr>
                <a:srgbClr val="000000"/>
              </a:buClr>
              <a:buSzPts val="1275"/>
              <a:buFont typeface="Arial"/>
              <a:buNone/>
            </a:pPr>
            <a:r>
              <a:rPr b="0" i="0" lang="ko-KR" sz="1275" u="none" cap="none" strike="noStrike">
                <a:solidFill>
                  <a:srgbClr val="475569"/>
                </a:solidFill>
                <a:latin typeface="Inter"/>
                <a:ea typeface="Inter"/>
                <a:cs typeface="Inter"/>
                <a:sym typeface="Inter"/>
              </a:rPr>
              <a:t>기본 빌드 및 성공 여부에 따른 점진적 스텝 전개</a:t>
            </a:r>
            <a:endParaRPr b="0" i="0" sz="1400" u="none" cap="none" strike="noStrike">
              <a:solidFill>
                <a:srgbClr val="000000"/>
              </a:solidFill>
              <a:latin typeface="Arial"/>
              <a:ea typeface="Arial"/>
              <a:cs typeface="Arial"/>
              <a:sym typeface="Arial"/>
            </a:endParaRPr>
          </a:p>
        </p:txBody>
      </p:sp>
      <p:sp>
        <p:nvSpPr>
          <p:cNvPr id="992" name="Google Shape;992;g3ee94320d98_11_525"/>
          <p:cNvSpPr txBox="1"/>
          <p:nvPr/>
        </p:nvSpPr>
        <p:spPr>
          <a:xfrm>
            <a:off x="6286500" y="3961507"/>
            <a:ext cx="162000" cy="196200"/>
          </a:xfrm>
          <a:prstGeom prst="rect">
            <a:avLst/>
          </a:prstGeom>
          <a:noFill/>
          <a:ln>
            <a:noFill/>
          </a:ln>
        </p:spPr>
        <p:txBody>
          <a:bodyPr anchorCtr="0" anchor="t" bIns="0" lIns="0" spcFirstLastPara="1" rIns="0" wrap="square" tIns="0">
            <a:spAutoFit/>
          </a:bodyPr>
          <a:lstStyle/>
          <a:p>
            <a:pPr indent="0" lvl="0" marL="0" marR="0" rtl="0" algn="l">
              <a:lnSpc>
                <a:spcPct val="159921"/>
              </a:lnSpc>
              <a:spcBef>
                <a:spcPts val="0"/>
              </a:spcBef>
              <a:spcAft>
                <a:spcPts val="0"/>
              </a:spcAft>
              <a:buClr>
                <a:srgbClr val="000000"/>
              </a:buClr>
              <a:buSzPts val="1275"/>
              <a:buFont typeface="Arial"/>
              <a:buNone/>
            </a:pPr>
            <a:r>
              <a:rPr b="1" i="0" lang="ko-KR" sz="1275" u="none" cap="none" strike="noStrike">
                <a:solidFill>
                  <a:srgbClr val="7C3AED"/>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993" name="Google Shape;993;g3ee94320d98_11_525"/>
          <p:cNvSpPr txBox="1"/>
          <p:nvPr/>
        </p:nvSpPr>
        <p:spPr>
          <a:xfrm>
            <a:off x="6286500" y="4334767"/>
            <a:ext cx="162000" cy="196200"/>
          </a:xfrm>
          <a:prstGeom prst="rect">
            <a:avLst/>
          </a:prstGeom>
          <a:noFill/>
          <a:ln>
            <a:noFill/>
          </a:ln>
        </p:spPr>
        <p:txBody>
          <a:bodyPr anchorCtr="0" anchor="t" bIns="0" lIns="0" spcFirstLastPara="1" rIns="0" wrap="square" tIns="0">
            <a:spAutoFit/>
          </a:bodyPr>
          <a:lstStyle/>
          <a:p>
            <a:pPr indent="0" lvl="0" marL="0" marR="0" rtl="0" algn="l">
              <a:lnSpc>
                <a:spcPct val="159921"/>
              </a:lnSpc>
              <a:spcBef>
                <a:spcPts val="0"/>
              </a:spcBef>
              <a:spcAft>
                <a:spcPts val="0"/>
              </a:spcAft>
              <a:buClr>
                <a:srgbClr val="000000"/>
              </a:buClr>
              <a:buSzPts val="1275"/>
              <a:buFont typeface="Arial"/>
              <a:buNone/>
            </a:pPr>
            <a:r>
              <a:rPr b="1" i="0" lang="ko-KR" sz="1275" u="none" cap="none" strike="noStrike">
                <a:solidFill>
                  <a:srgbClr val="7C3AED"/>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994" name="Google Shape;994;g3ee94320d98_11_525"/>
          <p:cNvSpPr txBox="1"/>
          <p:nvPr/>
        </p:nvSpPr>
        <p:spPr>
          <a:xfrm>
            <a:off x="6286500" y="4708028"/>
            <a:ext cx="162000" cy="196200"/>
          </a:xfrm>
          <a:prstGeom prst="rect">
            <a:avLst/>
          </a:prstGeom>
          <a:noFill/>
          <a:ln>
            <a:noFill/>
          </a:ln>
        </p:spPr>
        <p:txBody>
          <a:bodyPr anchorCtr="0" anchor="t" bIns="0" lIns="0" spcFirstLastPara="1" rIns="0" wrap="square" tIns="0">
            <a:spAutoFit/>
          </a:bodyPr>
          <a:lstStyle/>
          <a:p>
            <a:pPr indent="0" lvl="0" marL="0" marR="0" rtl="0" algn="l">
              <a:lnSpc>
                <a:spcPct val="159921"/>
              </a:lnSpc>
              <a:spcBef>
                <a:spcPts val="0"/>
              </a:spcBef>
              <a:spcAft>
                <a:spcPts val="0"/>
              </a:spcAft>
              <a:buClr>
                <a:srgbClr val="000000"/>
              </a:buClr>
              <a:buSzPts val="1275"/>
              <a:buFont typeface="Arial"/>
              <a:buNone/>
            </a:pPr>
            <a:r>
              <a:rPr b="1" i="0" lang="ko-KR" sz="1275" u="none" cap="none" strike="noStrike">
                <a:solidFill>
                  <a:srgbClr val="7C3AED"/>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995" name="Google Shape;995;g3ee94320d98_11_525"/>
          <p:cNvSpPr txBox="1"/>
          <p:nvPr/>
        </p:nvSpPr>
        <p:spPr>
          <a:xfrm>
            <a:off x="771525" y="581025"/>
            <a:ext cx="4536000" cy="4155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700"/>
              <a:buFont typeface="Arial"/>
              <a:buNone/>
            </a:pPr>
            <a:r>
              <a:rPr b="1" i="0" lang="ko-KR" sz="2700" u="none" cap="none" strike="noStrike">
                <a:solidFill>
                  <a:srgbClr val="0F172A"/>
                </a:solidFill>
                <a:latin typeface="Inter"/>
                <a:ea typeface="Inter"/>
                <a:cs typeface="Inter"/>
                <a:sym typeface="Inter"/>
              </a:rPr>
              <a:t>사이클 1 — 최소 구현</a:t>
            </a:r>
            <a:endParaRPr b="0" i="0" sz="1400" u="none" cap="none" strike="noStrike">
              <a:solidFill>
                <a:srgbClr val="000000"/>
              </a:solidFill>
              <a:latin typeface="Arial"/>
              <a:ea typeface="Arial"/>
              <a:cs typeface="Arial"/>
              <a:sym typeface="Arial"/>
            </a:endParaRPr>
          </a:p>
        </p:txBody>
      </p:sp>
      <p:pic>
        <p:nvPicPr>
          <p:cNvPr descr="image.png" id="996" name="Google Shape;996;g3ee94320d98_11_525"/>
          <p:cNvPicPr preferRelativeResize="0"/>
          <p:nvPr/>
        </p:nvPicPr>
        <p:blipFill rotWithShape="1">
          <a:blip r:embed="rId6">
            <a:alphaModFix/>
          </a:blip>
          <a:srcRect b="0" l="0" r="0" t="0"/>
          <a:stretch/>
        </p:blipFill>
        <p:spPr>
          <a:xfrm>
            <a:off x="4129450" y="664962"/>
            <a:ext cx="652462" cy="2476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00" name="Shape 1000"/>
        <p:cNvGrpSpPr/>
        <p:nvPr/>
      </p:nvGrpSpPr>
      <p:grpSpPr>
        <a:xfrm>
          <a:off x="0" y="0"/>
          <a:ext cx="0" cy="0"/>
          <a:chOff x="0" y="0"/>
          <a:chExt cx="0" cy="0"/>
        </a:xfrm>
      </p:grpSpPr>
      <p:pic>
        <p:nvPicPr>
          <p:cNvPr descr="image.png" id="1001" name="Google Shape;1001;g3ee94320d98_11_79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002" name="Google Shape;1002;g3ee94320d98_11_796"/>
          <p:cNvPicPr preferRelativeResize="0"/>
          <p:nvPr/>
        </p:nvPicPr>
        <p:blipFill rotWithShape="1">
          <a:blip r:embed="rId4">
            <a:alphaModFix/>
          </a:blip>
          <a:srcRect b="0" l="0" r="0" t="0"/>
          <a:stretch/>
        </p:blipFill>
        <p:spPr>
          <a:xfrm>
            <a:off x="6296025" y="2272090"/>
            <a:ext cx="5133974" cy="2667000"/>
          </a:xfrm>
          <a:prstGeom prst="rect">
            <a:avLst/>
          </a:prstGeom>
          <a:noFill/>
          <a:ln>
            <a:noFill/>
          </a:ln>
        </p:spPr>
      </p:pic>
      <p:pic>
        <p:nvPicPr>
          <p:cNvPr descr="image.png" id="1003" name="Google Shape;1003;g3ee94320d98_11_796"/>
          <p:cNvPicPr preferRelativeResize="0"/>
          <p:nvPr/>
        </p:nvPicPr>
        <p:blipFill rotWithShape="1">
          <a:blip r:embed="rId5">
            <a:alphaModFix/>
          </a:blip>
          <a:srcRect b="0" l="0" r="0" t="0"/>
          <a:stretch/>
        </p:blipFill>
        <p:spPr>
          <a:xfrm>
            <a:off x="6305550" y="2281615"/>
            <a:ext cx="5114925" cy="409575"/>
          </a:xfrm>
          <a:prstGeom prst="rect">
            <a:avLst/>
          </a:prstGeom>
          <a:noFill/>
          <a:ln>
            <a:noFill/>
          </a:ln>
        </p:spPr>
      </p:pic>
      <p:sp>
        <p:nvSpPr>
          <p:cNvPr id="1004" name="Google Shape;1004;g3ee94320d98_11_796"/>
          <p:cNvSpPr txBox="1"/>
          <p:nvPr/>
        </p:nvSpPr>
        <p:spPr>
          <a:xfrm>
            <a:off x="6477000" y="2395915"/>
            <a:ext cx="2171700" cy="150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75"/>
              <a:buFont typeface="Arial"/>
              <a:buNone/>
            </a:pPr>
            <a:r>
              <a:rPr b="0" i="0" lang="ko-KR" sz="975" u="none" cap="none" strike="noStrike">
                <a:solidFill>
                  <a:srgbClr val="64748B"/>
                </a:solidFill>
                <a:latin typeface="JetBrains Mono"/>
                <a:ea typeface="JetBrains Mono"/>
                <a:cs typeface="JetBrains Mono"/>
                <a:sym typeface="JetBrains Mono"/>
              </a:rPr>
              <a:t>LexerTest.cpp (RED: 실패 명세)</a:t>
            </a:r>
            <a:endParaRPr b="0" i="0" sz="1400" u="none" cap="none" strike="noStrike">
              <a:solidFill>
                <a:srgbClr val="000000"/>
              </a:solidFill>
              <a:latin typeface="Arial"/>
              <a:ea typeface="Arial"/>
              <a:cs typeface="Arial"/>
              <a:sym typeface="Arial"/>
            </a:endParaRPr>
          </a:p>
        </p:txBody>
      </p:sp>
      <p:sp>
        <p:nvSpPr>
          <p:cNvPr id="1005" name="Google Shape;1005;g3ee94320d98_11_796"/>
          <p:cNvSpPr txBox="1"/>
          <p:nvPr/>
        </p:nvSpPr>
        <p:spPr>
          <a:xfrm>
            <a:off x="771525" y="581025"/>
            <a:ext cx="4331100" cy="4155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700"/>
              <a:buFont typeface="Arial"/>
              <a:buNone/>
            </a:pPr>
            <a:r>
              <a:rPr b="1" i="0" lang="ko-KR" sz="2700" u="none" cap="none" strike="noStrike">
                <a:solidFill>
                  <a:srgbClr val="0F172A"/>
                </a:solidFill>
                <a:latin typeface="Inter"/>
                <a:ea typeface="Inter"/>
                <a:cs typeface="Inter"/>
                <a:sym typeface="Inter"/>
              </a:rPr>
              <a:t>사이클 2 — 괄호 검증</a:t>
            </a:r>
            <a:endParaRPr b="0" i="0" sz="1400" u="none" cap="none" strike="noStrike">
              <a:solidFill>
                <a:srgbClr val="000000"/>
              </a:solidFill>
              <a:latin typeface="Arial"/>
              <a:ea typeface="Arial"/>
              <a:cs typeface="Arial"/>
              <a:sym typeface="Arial"/>
            </a:endParaRPr>
          </a:p>
        </p:txBody>
      </p:sp>
      <p:sp>
        <p:nvSpPr>
          <p:cNvPr id="1006" name="Google Shape;1006;g3ee94320d98_11_796"/>
          <p:cNvSpPr txBox="1"/>
          <p:nvPr/>
        </p:nvSpPr>
        <p:spPr>
          <a:xfrm>
            <a:off x="771525" y="2569071"/>
            <a:ext cx="5390700" cy="2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650"/>
              <a:buFont typeface="Arial"/>
              <a:buNone/>
            </a:pPr>
            <a:r>
              <a:rPr b="0" i="0" lang="ko-KR" sz="1650" u="none" cap="none" strike="noStrike">
                <a:solidFill>
                  <a:srgbClr val="1E293B"/>
                </a:solidFill>
                <a:latin typeface="Inter SemiBold"/>
                <a:ea typeface="Inter SemiBold"/>
                <a:cs typeface="Inter SemiBold"/>
                <a:sym typeface="Inter SemiBold"/>
              </a:rPr>
              <a:t>점진적인 요구사항 반영</a:t>
            </a:r>
            <a:endParaRPr b="0" i="0" sz="1400" u="none" cap="none" strike="noStrike">
              <a:solidFill>
                <a:srgbClr val="000000"/>
              </a:solidFill>
              <a:latin typeface="Arial"/>
              <a:ea typeface="Arial"/>
              <a:cs typeface="Arial"/>
              <a:sym typeface="Arial"/>
            </a:endParaRPr>
          </a:p>
        </p:txBody>
      </p:sp>
      <p:sp>
        <p:nvSpPr>
          <p:cNvPr id="1007" name="Google Shape;1007;g3ee94320d98_11_796"/>
          <p:cNvSpPr txBox="1"/>
          <p:nvPr/>
        </p:nvSpPr>
        <p:spPr>
          <a:xfrm>
            <a:off x="771525" y="3216771"/>
            <a:ext cx="5133900" cy="510000"/>
          </a:xfrm>
          <a:prstGeom prst="rect">
            <a:avLst/>
          </a:prstGeom>
          <a:noFill/>
          <a:ln>
            <a:noFill/>
          </a:ln>
        </p:spPr>
        <p:txBody>
          <a:bodyPr anchorCtr="0" anchor="t" bIns="0" lIns="0" spcFirstLastPara="1" rIns="0" wrap="square" tIns="0">
            <a:spAutoFit/>
          </a:bodyPr>
          <a:lstStyle/>
          <a:p>
            <a:pPr indent="0" lvl="0" marL="0" marR="0" rtl="0" algn="l">
              <a:lnSpc>
                <a:spcPct val="159921"/>
              </a:lnSpc>
              <a:spcBef>
                <a:spcPts val="0"/>
              </a:spcBef>
              <a:spcAft>
                <a:spcPts val="0"/>
              </a:spcAft>
              <a:buClr>
                <a:srgbClr val="000000"/>
              </a:buClr>
              <a:buSzPts val="1275"/>
              <a:buFont typeface="Arial"/>
              <a:buNone/>
            </a:pPr>
            <a:r>
              <a:rPr b="0" i="0" lang="ko-KR" sz="1275" u="none" cap="none" strike="noStrike">
                <a:solidFill>
                  <a:srgbClr val="475569"/>
                </a:solidFill>
                <a:latin typeface="Inter"/>
                <a:ea typeface="Inter"/>
                <a:cs typeface="Inter"/>
                <a:sym typeface="Inter"/>
              </a:rPr>
              <a:t>두 번째로 여는 괄호 '(' 문자 스캔 기능이 요구됩니다. 기존 EOF 검증을 깨지 않으면서, 단 한 가닥의 분기 코드 추가로 안전하게 녹색 빌드를 유도합니다.</a:t>
            </a:r>
            <a:endParaRPr b="0" i="0" sz="1400" u="none" cap="none" strike="noStrike">
              <a:solidFill>
                <a:srgbClr val="000000"/>
              </a:solidFill>
              <a:latin typeface="Arial"/>
              <a:ea typeface="Arial"/>
              <a:cs typeface="Arial"/>
              <a:sym typeface="Arial"/>
            </a:endParaRPr>
          </a:p>
        </p:txBody>
      </p:sp>
      <p:pic>
        <p:nvPicPr>
          <p:cNvPr descr="image.png" id="1008" name="Google Shape;1008;g3ee94320d98_11_796"/>
          <p:cNvPicPr preferRelativeResize="0"/>
          <p:nvPr/>
        </p:nvPicPr>
        <p:blipFill rotWithShape="1">
          <a:blip r:embed="rId6">
            <a:alphaModFix/>
          </a:blip>
          <a:srcRect b="0" l="0" r="0" t="0"/>
          <a:stretch/>
        </p:blipFill>
        <p:spPr>
          <a:xfrm>
            <a:off x="4202002" y="664962"/>
            <a:ext cx="485328" cy="2476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12" name="Shape 1012"/>
        <p:cNvGrpSpPr/>
        <p:nvPr/>
      </p:nvGrpSpPr>
      <p:grpSpPr>
        <a:xfrm>
          <a:off x="0" y="0"/>
          <a:ext cx="0" cy="0"/>
          <a:chOff x="0" y="0"/>
          <a:chExt cx="0" cy="0"/>
        </a:xfrm>
      </p:grpSpPr>
      <p:pic>
        <p:nvPicPr>
          <p:cNvPr descr="image.png" id="1013" name="Google Shape;1013;g3ee94320d98_11_542"/>
          <p:cNvPicPr preferRelativeResize="0"/>
          <p:nvPr/>
        </p:nvPicPr>
        <p:blipFill rotWithShape="1">
          <a:blip r:embed="rId3">
            <a:alphaModFix/>
          </a:blip>
          <a:srcRect b="0" l="0" r="0" t="0"/>
          <a:stretch/>
        </p:blipFill>
        <p:spPr>
          <a:xfrm>
            <a:off x="0" y="-4931"/>
            <a:ext cx="12192000" cy="6858000"/>
          </a:xfrm>
          <a:prstGeom prst="rect">
            <a:avLst/>
          </a:prstGeom>
          <a:noFill/>
          <a:ln>
            <a:noFill/>
          </a:ln>
        </p:spPr>
      </p:pic>
      <p:sp>
        <p:nvSpPr>
          <p:cNvPr id="1014" name="Google Shape;1014;g3ee94320d98_11_542"/>
          <p:cNvSpPr txBox="1"/>
          <p:nvPr/>
        </p:nvSpPr>
        <p:spPr>
          <a:xfrm>
            <a:off x="771525" y="581025"/>
            <a:ext cx="4404300" cy="4155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700"/>
              <a:buFont typeface="Arial"/>
              <a:buNone/>
            </a:pPr>
            <a:r>
              <a:rPr b="1" i="0" lang="ko-KR" sz="2700" u="none" cap="none" strike="noStrike">
                <a:solidFill>
                  <a:srgbClr val="0F172A"/>
                </a:solidFill>
                <a:latin typeface="Inter"/>
                <a:ea typeface="Inter"/>
                <a:cs typeface="Inter"/>
                <a:sym typeface="Inter"/>
              </a:rPr>
              <a:t>사이클 2 — 최소 구현</a:t>
            </a:r>
            <a:endParaRPr b="0" i="0" sz="1400" u="none" cap="none" strike="noStrike">
              <a:solidFill>
                <a:srgbClr val="000000"/>
              </a:solidFill>
              <a:latin typeface="Arial"/>
              <a:ea typeface="Arial"/>
              <a:cs typeface="Arial"/>
              <a:sym typeface="Arial"/>
            </a:endParaRPr>
          </a:p>
        </p:txBody>
      </p:sp>
      <p:pic>
        <p:nvPicPr>
          <p:cNvPr descr="image.png" id="1015" name="Google Shape;1015;g3ee94320d98_11_542"/>
          <p:cNvPicPr preferRelativeResize="0"/>
          <p:nvPr/>
        </p:nvPicPr>
        <p:blipFill rotWithShape="1">
          <a:blip r:embed="rId4">
            <a:alphaModFix/>
          </a:blip>
          <a:srcRect b="0" l="0" r="0" t="0"/>
          <a:stretch/>
        </p:blipFill>
        <p:spPr>
          <a:xfrm>
            <a:off x="771525" y="2462575"/>
            <a:ext cx="5133974" cy="2667000"/>
          </a:xfrm>
          <a:prstGeom prst="rect">
            <a:avLst/>
          </a:prstGeom>
          <a:noFill/>
          <a:ln>
            <a:noFill/>
          </a:ln>
        </p:spPr>
      </p:pic>
      <p:pic>
        <p:nvPicPr>
          <p:cNvPr descr="image.png" id="1016" name="Google Shape;1016;g3ee94320d98_11_542"/>
          <p:cNvPicPr preferRelativeResize="0"/>
          <p:nvPr/>
        </p:nvPicPr>
        <p:blipFill rotWithShape="1">
          <a:blip r:embed="rId5">
            <a:alphaModFix/>
          </a:blip>
          <a:srcRect b="0" l="0" r="0" t="0"/>
          <a:stretch/>
        </p:blipFill>
        <p:spPr>
          <a:xfrm>
            <a:off x="781050" y="2472100"/>
            <a:ext cx="5114925" cy="409575"/>
          </a:xfrm>
          <a:prstGeom prst="rect">
            <a:avLst/>
          </a:prstGeom>
          <a:noFill/>
          <a:ln>
            <a:noFill/>
          </a:ln>
        </p:spPr>
      </p:pic>
      <p:sp>
        <p:nvSpPr>
          <p:cNvPr id="1017" name="Google Shape;1017;g3ee94320d98_11_542"/>
          <p:cNvSpPr txBox="1"/>
          <p:nvPr/>
        </p:nvSpPr>
        <p:spPr>
          <a:xfrm>
            <a:off x="952500" y="2586400"/>
            <a:ext cx="2019300" cy="150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75"/>
              <a:buFont typeface="Arial"/>
              <a:buNone/>
            </a:pPr>
            <a:r>
              <a:rPr b="0" i="0" lang="ko-KR" sz="975" u="none" cap="none" strike="noStrike">
                <a:solidFill>
                  <a:srgbClr val="64748B"/>
                </a:solidFill>
                <a:latin typeface="JetBrains Mono"/>
                <a:ea typeface="JetBrains Mono"/>
                <a:cs typeface="JetBrains Mono"/>
                <a:sym typeface="JetBrains Mono"/>
              </a:rPr>
              <a:t>Lexer.cpp (GREEN: 분기 구현)</a:t>
            </a:r>
            <a:endParaRPr b="0" i="0" sz="1400" u="none" cap="none" strike="noStrike">
              <a:solidFill>
                <a:srgbClr val="000000"/>
              </a:solidFill>
              <a:latin typeface="Arial"/>
              <a:ea typeface="Arial"/>
              <a:cs typeface="Arial"/>
              <a:sym typeface="Arial"/>
            </a:endParaRPr>
          </a:p>
        </p:txBody>
      </p:sp>
      <p:pic>
        <p:nvPicPr>
          <p:cNvPr descr="image.png" id="1018" name="Google Shape;1018;g3ee94320d98_11_542"/>
          <p:cNvPicPr preferRelativeResize="0"/>
          <p:nvPr/>
        </p:nvPicPr>
        <p:blipFill rotWithShape="1">
          <a:blip r:embed="rId6">
            <a:alphaModFix/>
          </a:blip>
          <a:srcRect b="0" l="0" r="0" t="0"/>
          <a:stretch/>
        </p:blipFill>
        <p:spPr>
          <a:xfrm>
            <a:off x="4196140" y="664962"/>
            <a:ext cx="652462" cy="247650"/>
          </a:xfrm>
          <a:prstGeom prst="rect">
            <a:avLst/>
          </a:prstGeom>
          <a:noFill/>
          <a:ln>
            <a:noFill/>
          </a:ln>
        </p:spPr>
      </p:pic>
      <p:sp>
        <p:nvSpPr>
          <p:cNvPr id="1019" name="Google Shape;1019;g3ee94320d98_11_542"/>
          <p:cNvSpPr txBox="1"/>
          <p:nvPr/>
        </p:nvSpPr>
        <p:spPr>
          <a:xfrm>
            <a:off x="6286500" y="2481560"/>
            <a:ext cx="5390700" cy="2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650"/>
              <a:buFont typeface="Arial"/>
              <a:buNone/>
            </a:pPr>
            <a:r>
              <a:rPr b="0" i="0" lang="ko-KR" sz="1650" u="none" cap="none" strike="noStrike">
                <a:solidFill>
                  <a:srgbClr val="1E293B"/>
                </a:solidFill>
                <a:latin typeface="Inter SemiBold"/>
                <a:ea typeface="Inter SemiBold"/>
                <a:cs typeface="Inter SemiBold"/>
                <a:sym typeface="Inter SemiBold"/>
              </a:rPr>
              <a:t>가장 빠른 요구사항 충족</a:t>
            </a:r>
            <a:endParaRPr b="0" i="0" sz="1650" u="none" cap="none" strike="noStrike">
              <a:solidFill>
                <a:srgbClr val="1E293B"/>
              </a:solidFill>
              <a:latin typeface="Inter SemiBold"/>
              <a:ea typeface="Inter SemiBold"/>
              <a:cs typeface="Inter SemiBold"/>
              <a:sym typeface="Inter SemiBold"/>
            </a:endParaRPr>
          </a:p>
        </p:txBody>
      </p:sp>
      <p:sp>
        <p:nvSpPr>
          <p:cNvPr id="1020" name="Google Shape;1020;g3ee94320d98_11_542"/>
          <p:cNvSpPr txBox="1"/>
          <p:nvPr/>
        </p:nvSpPr>
        <p:spPr>
          <a:xfrm>
            <a:off x="6286500" y="3012029"/>
            <a:ext cx="5133900" cy="824100"/>
          </a:xfrm>
          <a:prstGeom prst="rect">
            <a:avLst/>
          </a:prstGeom>
          <a:noFill/>
          <a:ln>
            <a:noFill/>
          </a:ln>
        </p:spPr>
        <p:txBody>
          <a:bodyPr anchorCtr="0" anchor="t" bIns="0" lIns="0" spcFirstLastPara="1" rIns="0" wrap="square" tIns="0">
            <a:spAutoFit/>
          </a:bodyPr>
          <a:lstStyle/>
          <a:p>
            <a:pPr indent="0" lvl="0" marL="0" marR="0" rtl="0" algn="l">
              <a:lnSpc>
                <a:spcPct val="159921"/>
              </a:lnSpc>
              <a:spcBef>
                <a:spcPts val="0"/>
              </a:spcBef>
              <a:spcAft>
                <a:spcPts val="0"/>
              </a:spcAft>
              <a:buClr>
                <a:srgbClr val="000000"/>
              </a:buClr>
              <a:buSzPts val="1275"/>
              <a:buFont typeface="Arial"/>
              <a:buNone/>
            </a:pPr>
            <a:r>
              <a:rPr b="0" i="0" lang="ko-KR" sz="1275" u="none" cap="none" strike="noStrike">
                <a:solidFill>
                  <a:srgbClr val="475569"/>
                </a:solidFill>
                <a:latin typeface="Inter"/>
                <a:ea typeface="Inter"/>
                <a:cs typeface="Inter"/>
                <a:sym typeface="Inter"/>
              </a:rPr>
              <a:t>새로운 토큰을 인식하기 위해 거대한 파싱 루프나 복잡한 구조를 먼저 설계하지 않습니다. 오직 현재 테스트 케이스를 통과시키는 것에만 집중하여 가장 단순한 코드로 녹색 빌드를 확보합니다.</a:t>
            </a:r>
            <a:endParaRPr b="0" i="0" sz="1275" u="none" cap="none" strike="noStrike">
              <a:solidFill>
                <a:srgbClr val="475569"/>
              </a:solidFill>
              <a:latin typeface="Inter"/>
              <a:ea typeface="Inter"/>
              <a:cs typeface="Inter"/>
              <a:sym typeface="Inter"/>
            </a:endParaRPr>
          </a:p>
        </p:txBody>
      </p:sp>
      <p:sp>
        <p:nvSpPr>
          <p:cNvPr id="1021" name="Google Shape;1021;g3ee94320d98_11_542"/>
          <p:cNvSpPr txBox="1"/>
          <p:nvPr/>
        </p:nvSpPr>
        <p:spPr>
          <a:xfrm>
            <a:off x="6553200" y="4108045"/>
            <a:ext cx="4867200" cy="196200"/>
          </a:xfrm>
          <a:prstGeom prst="rect">
            <a:avLst/>
          </a:prstGeom>
          <a:noFill/>
          <a:ln>
            <a:noFill/>
          </a:ln>
        </p:spPr>
        <p:txBody>
          <a:bodyPr anchorCtr="0" anchor="t" bIns="0" lIns="0" spcFirstLastPara="1" rIns="0" wrap="square" tIns="0">
            <a:spAutoFit/>
          </a:bodyPr>
          <a:lstStyle/>
          <a:p>
            <a:pPr indent="0" lvl="0" marL="0" marR="0" rtl="0" algn="l">
              <a:lnSpc>
                <a:spcPct val="159921"/>
              </a:lnSpc>
              <a:spcBef>
                <a:spcPts val="0"/>
              </a:spcBef>
              <a:spcAft>
                <a:spcPts val="0"/>
              </a:spcAft>
              <a:buClr>
                <a:srgbClr val="000000"/>
              </a:buClr>
              <a:buSzPts val="1275"/>
              <a:buFont typeface="Arial"/>
              <a:buNone/>
            </a:pPr>
            <a:r>
              <a:rPr b="0" i="0" lang="ko-KR" sz="1275" u="none" cap="none" strike="noStrike">
                <a:solidFill>
                  <a:srgbClr val="475569"/>
                </a:solidFill>
                <a:latin typeface="Inter"/>
                <a:ea typeface="Inter"/>
                <a:cs typeface="Inter"/>
                <a:sym typeface="Inter"/>
              </a:rPr>
              <a:t>source[0] == '(' 형태의 가장 단순한 인덱스 기반 조건문 우선 적용</a:t>
            </a:r>
            <a:endParaRPr b="0" i="0" sz="1275" u="none" cap="none" strike="noStrike">
              <a:solidFill>
                <a:srgbClr val="475569"/>
              </a:solidFill>
              <a:latin typeface="Inter"/>
              <a:ea typeface="Inter"/>
              <a:cs typeface="Inter"/>
              <a:sym typeface="Inter"/>
            </a:endParaRPr>
          </a:p>
        </p:txBody>
      </p:sp>
      <p:sp>
        <p:nvSpPr>
          <p:cNvPr id="1022" name="Google Shape;1022;g3ee94320d98_11_542"/>
          <p:cNvSpPr txBox="1"/>
          <p:nvPr/>
        </p:nvSpPr>
        <p:spPr>
          <a:xfrm>
            <a:off x="6553200" y="4481305"/>
            <a:ext cx="4867200" cy="196200"/>
          </a:xfrm>
          <a:prstGeom prst="rect">
            <a:avLst/>
          </a:prstGeom>
          <a:noFill/>
          <a:ln>
            <a:noFill/>
          </a:ln>
        </p:spPr>
        <p:txBody>
          <a:bodyPr anchorCtr="0" anchor="t" bIns="0" lIns="0" spcFirstLastPara="1" rIns="0" wrap="square" tIns="0">
            <a:spAutoFit/>
          </a:bodyPr>
          <a:lstStyle/>
          <a:p>
            <a:pPr indent="0" lvl="0" marL="0" marR="0" rtl="0" algn="l">
              <a:lnSpc>
                <a:spcPct val="159921"/>
              </a:lnSpc>
              <a:spcBef>
                <a:spcPts val="0"/>
              </a:spcBef>
              <a:spcAft>
                <a:spcPts val="0"/>
              </a:spcAft>
              <a:buClr>
                <a:srgbClr val="000000"/>
              </a:buClr>
              <a:buSzPts val="1275"/>
              <a:buFont typeface="Arial"/>
              <a:buNone/>
            </a:pPr>
            <a:r>
              <a:rPr b="0" i="0" lang="ko-KR" sz="1275" u="none" cap="none" strike="noStrike">
                <a:solidFill>
                  <a:srgbClr val="475569"/>
                </a:solidFill>
                <a:latin typeface="Inter"/>
                <a:ea typeface="Inter"/>
                <a:cs typeface="Inter"/>
                <a:sym typeface="Inter"/>
              </a:rPr>
              <a:t>기존 EOF 생성 로직을 해치지 않는 직관적인 분기 추가</a:t>
            </a:r>
            <a:endParaRPr b="0" i="0" sz="1400" u="none" cap="none" strike="noStrike">
              <a:solidFill>
                <a:srgbClr val="000000"/>
              </a:solidFill>
              <a:latin typeface="Arial"/>
              <a:ea typeface="Arial"/>
              <a:cs typeface="Arial"/>
              <a:sym typeface="Arial"/>
            </a:endParaRPr>
          </a:p>
        </p:txBody>
      </p:sp>
      <p:sp>
        <p:nvSpPr>
          <p:cNvPr id="1023" name="Google Shape;1023;g3ee94320d98_11_542"/>
          <p:cNvSpPr txBox="1"/>
          <p:nvPr/>
        </p:nvSpPr>
        <p:spPr>
          <a:xfrm>
            <a:off x="6553200" y="4854574"/>
            <a:ext cx="4791900" cy="510000"/>
          </a:xfrm>
          <a:prstGeom prst="rect">
            <a:avLst/>
          </a:prstGeom>
          <a:noFill/>
          <a:ln>
            <a:noFill/>
          </a:ln>
        </p:spPr>
        <p:txBody>
          <a:bodyPr anchorCtr="0" anchor="t" bIns="0" lIns="0" spcFirstLastPara="1" rIns="0" wrap="square" tIns="0">
            <a:spAutoFit/>
          </a:bodyPr>
          <a:lstStyle/>
          <a:p>
            <a:pPr indent="0" lvl="0" marL="0" marR="0" rtl="0" algn="l">
              <a:lnSpc>
                <a:spcPct val="159921"/>
              </a:lnSpc>
              <a:spcBef>
                <a:spcPts val="0"/>
              </a:spcBef>
              <a:spcAft>
                <a:spcPts val="0"/>
              </a:spcAft>
              <a:buClr>
                <a:srgbClr val="000000"/>
              </a:buClr>
              <a:buSzPts val="1275"/>
              <a:buFont typeface="Arial"/>
              <a:buNone/>
            </a:pPr>
            <a:r>
              <a:rPr b="0" i="0" lang="ko-KR" sz="1275" u="none" cap="none" strike="noStrike">
                <a:solidFill>
                  <a:srgbClr val="475569"/>
                </a:solidFill>
                <a:latin typeface="Inter"/>
                <a:ea typeface="Inter"/>
                <a:cs typeface="Inter"/>
                <a:sym typeface="Inter"/>
              </a:rPr>
              <a:t>범용 루프 구조 설계를 뒤로 미루고, 단 하나의 토큰(LEFT_PAREN) 인식에만 집중</a:t>
            </a:r>
            <a:endParaRPr b="0" i="0" sz="1400" u="none" cap="none" strike="noStrike">
              <a:solidFill>
                <a:srgbClr val="000000"/>
              </a:solidFill>
              <a:latin typeface="Arial"/>
              <a:ea typeface="Arial"/>
              <a:cs typeface="Arial"/>
              <a:sym typeface="Arial"/>
            </a:endParaRPr>
          </a:p>
        </p:txBody>
      </p:sp>
      <p:sp>
        <p:nvSpPr>
          <p:cNvPr id="1024" name="Google Shape;1024;g3ee94320d98_11_542"/>
          <p:cNvSpPr txBox="1"/>
          <p:nvPr/>
        </p:nvSpPr>
        <p:spPr>
          <a:xfrm>
            <a:off x="6286500" y="4108045"/>
            <a:ext cx="162000" cy="196200"/>
          </a:xfrm>
          <a:prstGeom prst="rect">
            <a:avLst/>
          </a:prstGeom>
          <a:noFill/>
          <a:ln>
            <a:noFill/>
          </a:ln>
        </p:spPr>
        <p:txBody>
          <a:bodyPr anchorCtr="0" anchor="t" bIns="0" lIns="0" spcFirstLastPara="1" rIns="0" wrap="square" tIns="0">
            <a:spAutoFit/>
          </a:bodyPr>
          <a:lstStyle/>
          <a:p>
            <a:pPr indent="0" lvl="0" marL="0" marR="0" rtl="0" algn="l">
              <a:lnSpc>
                <a:spcPct val="159921"/>
              </a:lnSpc>
              <a:spcBef>
                <a:spcPts val="0"/>
              </a:spcBef>
              <a:spcAft>
                <a:spcPts val="0"/>
              </a:spcAft>
              <a:buClr>
                <a:srgbClr val="000000"/>
              </a:buClr>
              <a:buSzPts val="1275"/>
              <a:buFont typeface="Arial"/>
              <a:buNone/>
            </a:pPr>
            <a:r>
              <a:rPr b="1" i="0" lang="ko-KR" sz="1275" u="none" cap="none" strike="noStrike">
                <a:solidFill>
                  <a:srgbClr val="7C3AED"/>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1025" name="Google Shape;1025;g3ee94320d98_11_542"/>
          <p:cNvSpPr txBox="1"/>
          <p:nvPr/>
        </p:nvSpPr>
        <p:spPr>
          <a:xfrm>
            <a:off x="6286500" y="4481305"/>
            <a:ext cx="162000" cy="196200"/>
          </a:xfrm>
          <a:prstGeom prst="rect">
            <a:avLst/>
          </a:prstGeom>
          <a:noFill/>
          <a:ln>
            <a:noFill/>
          </a:ln>
        </p:spPr>
        <p:txBody>
          <a:bodyPr anchorCtr="0" anchor="t" bIns="0" lIns="0" spcFirstLastPara="1" rIns="0" wrap="square" tIns="0">
            <a:spAutoFit/>
          </a:bodyPr>
          <a:lstStyle/>
          <a:p>
            <a:pPr indent="0" lvl="0" marL="0" marR="0" rtl="0" algn="l">
              <a:lnSpc>
                <a:spcPct val="159921"/>
              </a:lnSpc>
              <a:spcBef>
                <a:spcPts val="0"/>
              </a:spcBef>
              <a:spcAft>
                <a:spcPts val="0"/>
              </a:spcAft>
              <a:buClr>
                <a:srgbClr val="000000"/>
              </a:buClr>
              <a:buSzPts val="1275"/>
              <a:buFont typeface="Arial"/>
              <a:buNone/>
            </a:pPr>
            <a:r>
              <a:rPr b="1" i="0" lang="ko-KR" sz="1275" u="none" cap="none" strike="noStrike">
                <a:solidFill>
                  <a:srgbClr val="7C3AED"/>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1026" name="Google Shape;1026;g3ee94320d98_11_542"/>
          <p:cNvSpPr txBox="1"/>
          <p:nvPr/>
        </p:nvSpPr>
        <p:spPr>
          <a:xfrm>
            <a:off x="6286500" y="4854566"/>
            <a:ext cx="162000" cy="196200"/>
          </a:xfrm>
          <a:prstGeom prst="rect">
            <a:avLst/>
          </a:prstGeom>
          <a:noFill/>
          <a:ln>
            <a:noFill/>
          </a:ln>
        </p:spPr>
        <p:txBody>
          <a:bodyPr anchorCtr="0" anchor="t" bIns="0" lIns="0" spcFirstLastPara="1" rIns="0" wrap="square" tIns="0">
            <a:spAutoFit/>
          </a:bodyPr>
          <a:lstStyle/>
          <a:p>
            <a:pPr indent="0" lvl="0" marL="0" marR="0" rtl="0" algn="l">
              <a:lnSpc>
                <a:spcPct val="159921"/>
              </a:lnSpc>
              <a:spcBef>
                <a:spcPts val="0"/>
              </a:spcBef>
              <a:spcAft>
                <a:spcPts val="0"/>
              </a:spcAft>
              <a:buClr>
                <a:srgbClr val="000000"/>
              </a:buClr>
              <a:buSzPts val="1275"/>
              <a:buFont typeface="Arial"/>
              <a:buNone/>
            </a:pPr>
            <a:r>
              <a:rPr b="1" i="0" lang="ko-KR" sz="1275" u="none" cap="none" strike="noStrike">
                <a:solidFill>
                  <a:srgbClr val="7C3AED"/>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30" name="Shape 1030"/>
        <p:cNvGrpSpPr/>
        <p:nvPr/>
      </p:nvGrpSpPr>
      <p:grpSpPr>
        <a:xfrm>
          <a:off x="0" y="0"/>
          <a:ext cx="0" cy="0"/>
          <a:chOff x="0" y="0"/>
          <a:chExt cx="0" cy="0"/>
        </a:xfrm>
      </p:grpSpPr>
      <p:pic>
        <p:nvPicPr>
          <p:cNvPr descr="image.png" id="1031" name="Google Shape;1031;g3ee94320d98_11_55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032" name="Google Shape;1032;g3ee94320d98_11_555"/>
          <p:cNvSpPr txBox="1"/>
          <p:nvPr/>
        </p:nvSpPr>
        <p:spPr>
          <a:xfrm>
            <a:off x="771525" y="581025"/>
            <a:ext cx="4550700" cy="4155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700"/>
              <a:buFont typeface="Arial"/>
              <a:buNone/>
            </a:pPr>
            <a:r>
              <a:rPr b="1" i="0" lang="ko-KR" sz="2700" u="none" cap="none" strike="noStrike">
                <a:solidFill>
                  <a:srgbClr val="0F172A"/>
                </a:solidFill>
                <a:latin typeface="Inter"/>
                <a:ea typeface="Inter"/>
                <a:cs typeface="Inter"/>
                <a:sym typeface="Inter"/>
              </a:rPr>
              <a:t>사이클 2 — 헬퍼</a:t>
            </a:r>
            <a:endParaRPr b="0" i="0" sz="1400" u="none" cap="none" strike="noStrike">
              <a:solidFill>
                <a:srgbClr val="000000"/>
              </a:solidFill>
              <a:latin typeface="Arial"/>
              <a:ea typeface="Arial"/>
              <a:cs typeface="Arial"/>
              <a:sym typeface="Arial"/>
            </a:endParaRPr>
          </a:p>
        </p:txBody>
      </p:sp>
      <p:pic>
        <p:nvPicPr>
          <p:cNvPr descr="image.png" id="1033" name="Google Shape;1033;g3ee94320d98_11_555"/>
          <p:cNvPicPr preferRelativeResize="0"/>
          <p:nvPr/>
        </p:nvPicPr>
        <p:blipFill rotWithShape="1">
          <a:blip r:embed="rId4">
            <a:alphaModFix/>
          </a:blip>
          <a:srcRect b="0" l="0" r="0" t="0"/>
          <a:stretch/>
        </p:blipFill>
        <p:spPr>
          <a:xfrm>
            <a:off x="6286500" y="2184587"/>
            <a:ext cx="5133974" cy="3400425"/>
          </a:xfrm>
          <a:prstGeom prst="rect">
            <a:avLst/>
          </a:prstGeom>
          <a:noFill/>
          <a:ln>
            <a:noFill/>
          </a:ln>
        </p:spPr>
      </p:pic>
      <p:pic>
        <p:nvPicPr>
          <p:cNvPr descr="image.png" id="1034" name="Google Shape;1034;g3ee94320d98_11_555"/>
          <p:cNvPicPr preferRelativeResize="0"/>
          <p:nvPr/>
        </p:nvPicPr>
        <p:blipFill rotWithShape="1">
          <a:blip r:embed="rId5">
            <a:alphaModFix/>
          </a:blip>
          <a:srcRect b="0" l="0" r="0" t="0"/>
          <a:stretch/>
        </p:blipFill>
        <p:spPr>
          <a:xfrm>
            <a:off x="771525" y="3729037"/>
            <a:ext cx="5133974" cy="685800"/>
          </a:xfrm>
          <a:prstGeom prst="rect">
            <a:avLst/>
          </a:prstGeom>
          <a:noFill/>
          <a:ln>
            <a:noFill/>
          </a:ln>
        </p:spPr>
      </p:pic>
      <p:pic>
        <p:nvPicPr>
          <p:cNvPr descr="image.png" id="1035" name="Google Shape;1035;g3ee94320d98_11_555"/>
          <p:cNvPicPr preferRelativeResize="0"/>
          <p:nvPr/>
        </p:nvPicPr>
        <p:blipFill rotWithShape="1">
          <a:blip r:embed="rId6">
            <a:alphaModFix/>
          </a:blip>
          <a:srcRect b="0" l="0" r="0" t="0"/>
          <a:stretch/>
        </p:blipFill>
        <p:spPr>
          <a:xfrm>
            <a:off x="6296025" y="2194112"/>
            <a:ext cx="5114925" cy="400050"/>
          </a:xfrm>
          <a:prstGeom prst="rect">
            <a:avLst/>
          </a:prstGeom>
          <a:noFill/>
          <a:ln>
            <a:noFill/>
          </a:ln>
        </p:spPr>
      </p:pic>
      <p:sp>
        <p:nvSpPr>
          <p:cNvPr id="1036" name="Google Shape;1036;g3ee94320d98_11_555"/>
          <p:cNvSpPr txBox="1"/>
          <p:nvPr/>
        </p:nvSpPr>
        <p:spPr>
          <a:xfrm>
            <a:off x="771525" y="2249090"/>
            <a:ext cx="5390700" cy="2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650"/>
              <a:buFont typeface="Arial"/>
              <a:buNone/>
            </a:pPr>
            <a:r>
              <a:rPr b="1" i="0" lang="ko-KR" sz="1650" u="none" cap="none" strike="noStrike">
                <a:solidFill>
                  <a:srgbClr val="1E293B"/>
                </a:solidFill>
                <a:latin typeface="Times"/>
                <a:ea typeface="Times"/>
                <a:cs typeface="Times"/>
                <a:sym typeface="Times"/>
              </a:rPr>
              <a:t>중복 제거와 단일 책임 원칙</a:t>
            </a:r>
            <a:endParaRPr b="1" i="0" sz="1400" u="none" cap="none" strike="noStrike">
              <a:solidFill>
                <a:srgbClr val="000000"/>
              </a:solidFill>
              <a:latin typeface="Arial"/>
              <a:ea typeface="Arial"/>
              <a:cs typeface="Arial"/>
              <a:sym typeface="Arial"/>
            </a:endParaRPr>
          </a:p>
        </p:txBody>
      </p:sp>
      <p:sp>
        <p:nvSpPr>
          <p:cNvPr id="1037" name="Google Shape;1037;g3ee94320d98_11_555"/>
          <p:cNvSpPr txBox="1"/>
          <p:nvPr/>
        </p:nvSpPr>
        <p:spPr>
          <a:xfrm>
            <a:off x="771525" y="2896790"/>
            <a:ext cx="5133900" cy="510000"/>
          </a:xfrm>
          <a:prstGeom prst="rect">
            <a:avLst/>
          </a:prstGeom>
          <a:noFill/>
          <a:ln>
            <a:noFill/>
          </a:ln>
        </p:spPr>
        <p:txBody>
          <a:bodyPr anchorCtr="0" anchor="t" bIns="0" lIns="0" spcFirstLastPara="1" rIns="0" wrap="square" tIns="0">
            <a:spAutoFit/>
          </a:bodyPr>
          <a:lstStyle/>
          <a:p>
            <a:pPr indent="0" lvl="0" marL="0" marR="0" rtl="0" algn="l">
              <a:lnSpc>
                <a:spcPct val="159921"/>
              </a:lnSpc>
              <a:spcBef>
                <a:spcPts val="0"/>
              </a:spcBef>
              <a:spcAft>
                <a:spcPts val="0"/>
              </a:spcAft>
              <a:buClr>
                <a:srgbClr val="000000"/>
              </a:buClr>
              <a:buSzPts val="1275"/>
              <a:buFont typeface="Arial"/>
              <a:buNone/>
            </a:pPr>
            <a:r>
              <a:rPr b="0" i="0" lang="ko-KR" sz="1275" u="none" cap="none" strike="noStrike">
                <a:solidFill>
                  <a:srgbClr val="475569"/>
                </a:solidFill>
                <a:latin typeface="Times New Roman"/>
                <a:ea typeface="Times New Roman"/>
                <a:cs typeface="Times New Roman"/>
                <a:sym typeface="Times New Roman"/>
              </a:rPr>
              <a:t>토큰을 삽입하는 emplace_back 중복 호출이 생겼습니다. 기존 테스트가 통과되는 상태를 유지하며 코드를 캡슐화합니다.</a:t>
            </a:r>
            <a:endParaRPr b="0" i="0" sz="1400" u="none" cap="none" strike="noStrike">
              <a:solidFill>
                <a:srgbClr val="000000"/>
              </a:solidFill>
              <a:latin typeface="Arial"/>
              <a:ea typeface="Arial"/>
              <a:cs typeface="Arial"/>
              <a:sym typeface="Arial"/>
            </a:endParaRPr>
          </a:p>
        </p:txBody>
      </p:sp>
      <p:sp>
        <p:nvSpPr>
          <p:cNvPr id="1038" name="Google Shape;1038;g3ee94320d98_11_555"/>
          <p:cNvSpPr txBox="1"/>
          <p:nvPr/>
        </p:nvSpPr>
        <p:spPr>
          <a:xfrm>
            <a:off x="962025" y="3843337"/>
            <a:ext cx="4791000" cy="45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125"/>
              <a:buFont typeface="Arial"/>
              <a:buNone/>
            </a:pPr>
            <a:r>
              <a:rPr b="0" i="0" lang="ko-KR" sz="1125" u="none" cap="none" strike="noStrike">
                <a:solidFill>
                  <a:srgbClr val="1E293B"/>
                </a:solidFill>
                <a:latin typeface="Times New Roman"/>
                <a:ea typeface="Times New Roman"/>
                <a:cs typeface="Times New Roman"/>
                <a:sym typeface="Times New Roman"/>
              </a:rPr>
              <a:t>커밋 2eb6172 — 테스트는 녹색 빌드를 그대로 유지하고, 내부 토큰 삽입 책임을 헬퍼 메소드로 이관합니다.</a:t>
            </a:r>
            <a:endParaRPr b="0" i="0" sz="1400" u="none" cap="none" strike="noStrike">
              <a:solidFill>
                <a:srgbClr val="000000"/>
              </a:solidFill>
              <a:latin typeface="Arial"/>
              <a:ea typeface="Arial"/>
              <a:cs typeface="Arial"/>
              <a:sym typeface="Arial"/>
            </a:endParaRPr>
          </a:p>
        </p:txBody>
      </p:sp>
      <p:sp>
        <p:nvSpPr>
          <p:cNvPr id="1039" name="Google Shape;1039;g3ee94320d98_11_555"/>
          <p:cNvSpPr txBox="1"/>
          <p:nvPr/>
        </p:nvSpPr>
        <p:spPr>
          <a:xfrm>
            <a:off x="1038225" y="4567237"/>
            <a:ext cx="4867200" cy="196200"/>
          </a:xfrm>
          <a:prstGeom prst="rect">
            <a:avLst/>
          </a:prstGeom>
          <a:noFill/>
          <a:ln>
            <a:noFill/>
          </a:ln>
        </p:spPr>
        <p:txBody>
          <a:bodyPr anchorCtr="0" anchor="t" bIns="0" lIns="0" spcFirstLastPara="1" rIns="0" wrap="square" tIns="0">
            <a:spAutoFit/>
          </a:bodyPr>
          <a:lstStyle/>
          <a:p>
            <a:pPr indent="0" lvl="0" marL="0" marR="0" rtl="0" algn="l">
              <a:lnSpc>
                <a:spcPct val="159921"/>
              </a:lnSpc>
              <a:spcBef>
                <a:spcPts val="0"/>
              </a:spcBef>
              <a:spcAft>
                <a:spcPts val="0"/>
              </a:spcAft>
              <a:buClr>
                <a:srgbClr val="000000"/>
              </a:buClr>
              <a:buSzPts val="1275"/>
              <a:buFont typeface="Arial"/>
              <a:buNone/>
            </a:pPr>
            <a:r>
              <a:rPr b="0" i="0" lang="ko-KR" sz="1275" u="none" cap="none" strike="noStrike">
                <a:solidFill>
                  <a:srgbClr val="475569"/>
                </a:solidFill>
                <a:latin typeface="Times New Roman"/>
                <a:ea typeface="Times New Roman"/>
                <a:cs typeface="Times New Roman"/>
                <a:sym typeface="Times New Roman"/>
              </a:rPr>
              <a:t>`emplace_back` 호출 중복을 헬퍼로 제거</a:t>
            </a:r>
            <a:endParaRPr b="0" i="0" sz="1400" u="none" cap="none" strike="noStrike">
              <a:solidFill>
                <a:srgbClr val="000000"/>
              </a:solidFill>
              <a:latin typeface="Arial"/>
              <a:ea typeface="Arial"/>
              <a:cs typeface="Arial"/>
              <a:sym typeface="Arial"/>
            </a:endParaRPr>
          </a:p>
        </p:txBody>
      </p:sp>
      <p:sp>
        <p:nvSpPr>
          <p:cNvPr id="1040" name="Google Shape;1040;g3ee94320d98_11_555"/>
          <p:cNvSpPr txBox="1"/>
          <p:nvPr/>
        </p:nvSpPr>
        <p:spPr>
          <a:xfrm>
            <a:off x="1038225" y="4940498"/>
            <a:ext cx="4867200" cy="196200"/>
          </a:xfrm>
          <a:prstGeom prst="rect">
            <a:avLst/>
          </a:prstGeom>
          <a:noFill/>
          <a:ln>
            <a:noFill/>
          </a:ln>
        </p:spPr>
        <p:txBody>
          <a:bodyPr anchorCtr="0" anchor="t" bIns="0" lIns="0" spcFirstLastPara="1" rIns="0" wrap="square" tIns="0">
            <a:spAutoFit/>
          </a:bodyPr>
          <a:lstStyle/>
          <a:p>
            <a:pPr indent="0" lvl="0" marL="0" marR="0" rtl="0" algn="l">
              <a:lnSpc>
                <a:spcPct val="159921"/>
              </a:lnSpc>
              <a:spcBef>
                <a:spcPts val="0"/>
              </a:spcBef>
              <a:spcAft>
                <a:spcPts val="0"/>
              </a:spcAft>
              <a:buClr>
                <a:srgbClr val="000000"/>
              </a:buClr>
              <a:buSzPts val="1275"/>
              <a:buFont typeface="Arial"/>
              <a:buNone/>
            </a:pPr>
            <a:r>
              <a:rPr b="0" i="0" lang="ko-KR" sz="1275" u="none" cap="none" strike="noStrike">
                <a:solidFill>
                  <a:srgbClr val="475569"/>
                </a:solidFill>
                <a:latin typeface="Times New Roman"/>
                <a:ea typeface="Times New Roman"/>
                <a:cs typeface="Times New Roman"/>
                <a:sym typeface="Times New Roman"/>
              </a:rPr>
              <a:t>토큰을 담는 세부 변수 생성 방식을 집중 관리</a:t>
            </a:r>
            <a:endParaRPr b="0" i="0" sz="1400" u="none" cap="none" strike="noStrike">
              <a:solidFill>
                <a:srgbClr val="000000"/>
              </a:solidFill>
              <a:latin typeface="Arial"/>
              <a:ea typeface="Arial"/>
              <a:cs typeface="Arial"/>
              <a:sym typeface="Arial"/>
            </a:endParaRPr>
          </a:p>
        </p:txBody>
      </p:sp>
      <p:sp>
        <p:nvSpPr>
          <p:cNvPr id="1041" name="Google Shape;1041;g3ee94320d98_11_555"/>
          <p:cNvSpPr txBox="1"/>
          <p:nvPr/>
        </p:nvSpPr>
        <p:spPr>
          <a:xfrm>
            <a:off x="6467475" y="2308412"/>
            <a:ext cx="2057400" cy="150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75"/>
              <a:buFont typeface="Arial"/>
              <a:buNone/>
            </a:pPr>
            <a:r>
              <a:rPr b="0" i="0" lang="ko-KR" sz="975" u="none" cap="none" strike="noStrike">
                <a:solidFill>
                  <a:srgbClr val="64748B"/>
                </a:solidFill>
                <a:latin typeface="JetBrains Mono"/>
                <a:ea typeface="JetBrains Mono"/>
                <a:cs typeface="JetBrains Mono"/>
                <a:sym typeface="JetBrains Mono"/>
              </a:rPr>
              <a:t>Lexer.cpp (Refactored Code)</a:t>
            </a:r>
            <a:endParaRPr b="0" i="0" sz="1400" u="none" cap="none" strike="noStrike">
              <a:solidFill>
                <a:srgbClr val="000000"/>
              </a:solidFill>
              <a:latin typeface="Arial"/>
              <a:ea typeface="Arial"/>
              <a:cs typeface="Arial"/>
              <a:sym typeface="Arial"/>
            </a:endParaRPr>
          </a:p>
        </p:txBody>
      </p:sp>
      <p:sp>
        <p:nvSpPr>
          <p:cNvPr id="1042" name="Google Shape;1042;g3ee94320d98_11_555"/>
          <p:cNvSpPr txBox="1"/>
          <p:nvPr/>
        </p:nvSpPr>
        <p:spPr>
          <a:xfrm>
            <a:off x="771525" y="4567237"/>
            <a:ext cx="162000" cy="196200"/>
          </a:xfrm>
          <a:prstGeom prst="rect">
            <a:avLst/>
          </a:prstGeom>
          <a:noFill/>
          <a:ln>
            <a:noFill/>
          </a:ln>
        </p:spPr>
        <p:txBody>
          <a:bodyPr anchorCtr="0" anchor="t" bIns="0" lIns="0" spcFirstLastPara="1" rIns="0" wrap="square" tIns="0">
            <a:spAutoFit/>
          </a:bodyPr>
          <a:lstStyle/>
          <a:p>
            <a:pPr indent="0" lvl="0" marL="0" marR="0" rtl="0" algn="l">
              <a:lnSpc>
                <a:spcPct val="159921"/>
              </a:lnSpc>
              <a:spcBef>
                <a:spcPts val="0"/>
              </a:spcBef>
              <a:spcAft>
                <a:spcPts val="0"/>
              </a:spcAft>
              <a:buClr>
                <a:srgbClr val="000000"/>
              </a:buClr>
              <a:buSzPts val="1275"/>
              <a:buFont typeface="Arial"/>
              <a:buNone/>
            </a:pPr>
            <a:r>
              <a:rPr b="1" i="0" lang="ko-KR" sz="1275" u="none" cap="none" strike="noStrike">
                <a:solidFill>
                  <a:srgbClr val="7C3AED"/>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p:txBody>
      </p:sp>
      <p:sp>
        <p:nvSpPr>
          <p:cNvPr id="1043" name="Google Shape;1043;g3ee94320d98_11_555"/>
          <p:cNvSpPr txBox="1"/>
          <p:nvPr/>
        </p:nvSpPr>
        <p:spPr>
          <a:xfrm>
            <a:off x="771525" y="4940498"/>
            <a:ext cx="162000" cy="196200"/>
          </a:xfrm>
          <a:prstGeom prst="rect">
            <a:avLst/>
          </a:prstGeom>
          <a:noFill/>
          <a:ln>
            <a:noFill/>
          </a:ln>
        </p:spPr>
        <p:txBody>
          <a:bodyPr anchorCtr="0" anchor="t" bIns="0" lIns="0" spcFirstLastPara="1" rIns="0" wrap="square" tIns="0">
            <a:spAutoFit/>
          </a:bodyPr>
          <a:lstStyle/>
          <a:p>
            <a:pPr indent="0" lvl="0" marL="0" marR="0" rtl="0" algn="l">
              <a:lnSpc>
                <a:spcPct val="159921"/>
              </a:lnSpc>
              <a:spcBef>
                <a:spcPts val="0"/>
              </a:spcBef>
              <a:spcAft>
                <a:spcPts val="0"/>
              </a:spcAft>
              <a:buClr>
                <a:srgbClr val="000000"/>
              </a:buClr>
              <a:buSzPts val="1275"/>
              <a:buFont typeface="Arial"/>
              <a:buNone/>
            </a:pPr>
            <a:r>
              <a:rPr b="1" i="0" lang="ko-KR" sz="1275" u="none" cap="none" strike="noStrike">
                <a:solidFill>
                  <a:srgbClr val="7C3AED"/>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p:txBody>
      </p:sp>
      <p:pic>
        <p:nvPicPr>
          <p:cNvPr descr="image.png" id="1044" name="Google Shape;1044;g3ee94320d98_11_555"/>
          <p:cNvPicPr preferRelativeResize="0"/>
          <p:nvPr/>
        </p:nvPicPr>
        <p:blipFill rotWithShape="1">
          <a:blip r:embed="rId7">
            <a:alphaModFix/>
          </a:blip>
          <a:srcRect b="0" l="0" r="0" t="0"/>
          <a:stretch/>
        </p:blipFill>
        <p:spPr>
          <a:xfrm>
            <a:off x="3466350" y="661337"/>
            <a:ext cx="895350" cy="24765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48" name="Shape 1048"/>
        <p:cNvGrpSpPr/>
        <p:nvPr/>
      </p:nvGrpSpPr>
      <p:grpSpPr>
        <a:xfrm>
          <a:off x="0" y="0"/>
          <a:ext cx="0" cy="0"/>
          <a:chOff x="0" y="0"/>
          <a:chExt cx="0" cy="0"/>
        </a:xfrm>
      </p:grpSpPr>
      <p:pic>
        <p:nvPicPr>
          <p:cNvPr descr="image.png" id="1049" name="Google Shape;1049;g3ee94320d98_11_572"/>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050" name="Google Shape;1050;g3ee94320d98_11_572"/>
          <p:cNvPicPr preferRelativeResize="0"/>
          <p:nvPr/>
        </p:nvPicPr>
        <p:blipFill rotWithShape="1">
          <a:blip r:embed="rId4">
            <a:alphaModFix/>
          </a:blip>
          <a:srcRect b="0" l="0" r="0" t="0"/>
          <a:stretch/>
        </p:blipFill>
        <p:spPr>
          <a:xfrm>
            <a:off x="6357925" y="3548812"/>
            <a:ext cx="5133974" cy="2809875"/>
          </a:xfrm>
          <a:prstGeom prst="rect">
            <a:avLst/>
          </a:prstGeom>
          <a:noFill/>
          <a:ln>
            <a:noFill/>
          </a:ln>
        </p:spPr>
      </p:pic>
      <p:pic>
        <p:nvPicPr>
          <p:cNvPr descr="image.png" id="1051" name="Google Shape;1051;g3ee94320d98_11_572"/>
          <p:cNvPicPr preferRelativeResize="0"/>
          <p:nvPr/>
        </p:nvPicPr>
        <p:blipFill rotWithShape="1">
          <a:blip r:embed="rId5">
            <a:alphaModFix/>
          </a:blip>
          <a:srcRect b="0" l="0" r="0" t="0"/>
          <a:stretch/>
        </p:blipFill>
        <p:spPr>
          <a:xfrm>
            <a:off x="6367450" y="3558337"/>
            <a:ext cx="5114925" cy="409575"/>
          </a:xfrm>
          <a:prstGeom prst="rect">
            <a:avLst/>
          </a:prstGeom>
          <a:noFill/>
          <a:ln>
            <a:noFill/>
          </a:ln>
        </p:spPr>
      </p:pic>
      <p:sp>
        <p:nvSpPr>
          <p:cNvPr id="1052" name="Google Shape;1052;g3ee94320d98_11_572"/>
          <p:cNvSpPr txBox="1"/>
          <p:nvPr/>
        </p:nvSpPr>
        <p:spPr>
          <a:xfrm>
            <a:off x="771525" y="2481560"/>
            <a:ext cx="5390700" cy="2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650"/>
              <a:buFont typeface="Arial"/>
              <a:buNone/>
            </a:pPr>
            <a:r>
              <a:rPr b="0" i="0" lang="ko-KR" sz="1650" u="none" cap="none" strike="noStrike">
                <a:solidFill>
                  <a:srgbClr val="1E293B"/>
                </a:solidFill>
                <a:latin typeface="Inter SemiBold"/>
                <a:ea typeface="Inter SemiBold"/>
                <a:cs typeface="Inter SemiBold"/>
                <a:sym typeface="Inter SemiBold"/>
              </a:rPr>
              <a:t>범위 기반 루프 및 switch 확장</a:t>
            </a:r>
            <a:endParaRPr b="0" i="0" sz="1400" u="none" cap="none" strike="noStrike">
              <a:solidFill>
                <a:srgbClr val="000000"/>
              </a:solidFill>
              <a:latin typeface="Arial"/>
              <a:ea typeface="Arial"/>
              <a:cs typeface="Arial"/>
              <a:sym typeface="Arial"/>
            </a:endParaRPr>
          </a:p>
        </p:txBody>
      </p:sp>
      <p:sp>
        <p:nvSpPr>
          <p:cNvPr id="1053" name="Google Shape;1053;g3ee94320d98_11_572"/>
          <p:cNvSpPr txBox="1"/>
          <p:nvPr/>
        </p:nvSpPr>
        <p:spPr>
          <a:xfrm>
            <a:off x="771525" y="3129260"/>
            <a:ext cx="5133900" cy="510000"/>
          </a:xfrm>
          <a:prstGeom prst="rect">
            <a:avLst/>
          </a:prstGeom>
          <a:noFill/>
          <a:ln>
            <a:noFill/>
          </a:ln>
        </p:spPr>
        <p:txBody>
          <a:bodyPr anchorCtr="0" anchor="t" bIns="0" lIns="0" spcFirstLastPara="1" rIns="0" wrap="square" tIns="0">
            <a:spAutoFit/>
          </a:bodyPr>
          <a:lstStyle/>
          <a:p>
            <a:pPr indent="0" lvl="0" marL="0" marR="0" rtl="0" algn="l">
              <a:lnSpc>
                <a:spcPct val="159921"/>
              </a:lnSpc>
              <a:spcBef>
                <a:spcPts val="0"/>
              </a:spcBef>
              <a:spcAft>
                <a:spcPts val="0"/>
              </a:spcAft>
              <a:buClr>
                <a:srgbClr val="000000"/>
              </a:buClr>
              <a:buSzPts val="1275"/>
              <a:buFont typeface="Arial"/>
              <a:buNone/>
            </a:pPr>
            <a:r>
              <a:rPr b="0" i="0" lang="ko-KR" sz="1275" u="none" cap="none" strike="noStrike">
                <a:solidFill>
                  <a:srgbClr val="475569"/>
                </a:solidFill>
                <a:latin typeface="Inter"/>
                <a:ea typeface="Inter"/>
                <a:cs typeface="Inter"/>
                <a:sym typeface="Inter"/>
              </a:rPr>
              <a:t>구문 분해를 위한 () {} ; 등 한 글자로 이루어진 문자 토큰 스펙을 종합적으로 대응할 수 있도록 확장합니다.</a:t>
            </a:r>
            <a:endParaRPr b="0" i="0" sz="1400" u="none" cap="none" strike="noStrike">
              <a:solidFill>
                <a:srgbClr val="000000"/>
              </a:solidFill>
              <a:latin typeface="Arial"/>
              <a:ea typeface="Arial"/>
              <a:cs typeface="Arial"/>
              <a:sym typeface="Arial"/>
            </a:endParaRPr>
          </a:p>
        </p:txBody>
      </p:sp>
      <p:sp>
        <p:nvSpPr>
          <p:cNvPr id="1054" name="Google Shape;1054;g3ee94320d98_11_572"/>
          <p:cNvSpPr txBox="1"/>
          <p:nvPr/>
        </p:nvSpPr>
        <p:spPr>
          <a:xfrm>
            <a:off x="1038225" y="3961507"/>
            <a:ext cx="4867200" cy="196200"/>
          </a:xfrm>
          <a:prstGeom prst="rect">
            <a:avLst/>
          </a:prstGeom>
          <a:noFill/>
          <a:ln>
            <a:noFill/>
          </a:ln>
        </p:spPr>
        <p:txBody>
          <a:bodyPr anchorCtr="0" anchor="t" bIns="0" lIns="0" spcFirstLastPara="1" rIns="0" wrap="square" tIns="0">
            <a:spAutoFit/>
          </a:bodyPr>
          <a:lstStyle/>
          <a:p>
            <a:pPr indent="0" lvl="0" marL="0" marR="0" rtl="0" algn="l">
              <a:lnSpc>
                <a:spcPct val="159921"/>
              </a:lnSpc>
              <a:spcBef>
                <a:spcPts val="0"/>
              </a:spcBef>
              <a:spcAft>
                <a:spcPts val="0"/>
              </a:spcAft>
              <a:buClr>
                <a:srgbClr val="000000"/>
              </a:buClr>
              <a:buSzPts val="1275"/>
              <a:buFont typeface="Arial"/>
              <a:buNone/>
            </a:pPr>
            <a:r>
              <a:rPr b="0" i="0" lang="ko-KR" sz="1275" u="none" cap="none" strike="noStrike">
                <a:solidFill>
                  <a:srgbClr val="475569"/>
                </a:solidFill>
                <a:latin typeface="Inter"/>
                <a:ea typeface="Inter"/>
                <a:cs typeface="Inter"/>
                <a:sym typeface="Inter"/>
              </a:rPr>
              <a:t>range-for 루프를 통한 문자 전체 순회</a:t>
            </a:r>
            <a:endParaRPr b="0" i="0" sz="1400" u="none" cap="none" strike="noStrike">
              <a:solidFill>
                <a:srgbClr val="000000"/>
              </a:solidFill>
              <a:latin typeface="Arial"/>
              <a:ea typeface="Arial"/>
              <a:cs typeface="Arial"/>
              <a:sym typeface="Arial"/>
            </a:endParaRPr>
          </a:p>
        </p:txBody>
      </p:sp>
      <p:sp>
        <p:nvSpPr>
          <p:cNvPr id="1055" name="Google Shape;1055;g3ee94320d98_11_572"/>
          <p:cNvSpPr txBox="1"/>
          <p:nvPr/>
        </p:nvSpPr>
        <p:spPr>
          <a:xfrm>
            <a:off x="1038225" y="4334767"/>
            <a:ext cx="4867200" cy="196200"/>
          </a:xfrm>
          <a:prstGeom prst="rect">
            <a:avLst/>
          </a:prstGeom>
          <a:noFill/>
          <a:ln>
            <a:noFill/>
          </a:ln>
        </p:spPr>
        <p:txBody>
          <a:bodyPr anchorCtr="0" anchor="t" bIns="0" lIns="0" spcFirstLastPara="1" rIns="0" wrap="square" tIns="0">
            <a:spAutoFit/>
          </a:bodyPr>
          <a:lstStyle/>
          <a:p>
            <a:pPr indent="0" lvl="0" marL="0" marR="0" rtl="0" algn="l">
              <a:lnSpc>
                <a:spcPct val="159921"/>
              </a:lnSpc>
              <a:spcBef>
                <a:spcPts val="0"/>
              </a:spcBef>
              <a:spcAft>
                <a:spcPts val="0"/>
              </a:spcAft>
              <a:buClr>
                <a:srgbClr val="000000"/>
              </a:buClr>
              <a:buSzPts val="1275"/>
              <a:buFont typeface="Arial"/>
              <a:buNone/>
            </a:pPr>
            <a:r>
              <a:rPr b="0" i="0" lang="ko-KR" sz="1275" u="none" cap="none" strike="noStrike">
                <a:solidFill>
                  <a:srgbClr val="475569"/>
                </a:solidFill>
                <a:latin typeface="Inter"/>
                <a:ea typeface="Inter"/>
                <a:cs typeface="Inter"/>
                <a:sym typeface="Inter"/>
              </a:rPr>
              <a:t>switch-case 조건 분기 적용</a:t>
            </a:r>
            <a:endParaRPr b="0" i="0" sz="1400" u="none" cap="none" strike="noStrike">
              <a:solidFill>
                <a:srgbClr val="000000"/>
              </a:solidFill>
              <a:latin typeface="Arial"/>
              <a:ea typeface="Arial"/>
              <a:cs typeface="Arial"/>
              <a:sym typeface="Arial"/>
            </a:endParaRPr>
          </a:p>
        </p:txBody>
      </p:sp>
      <p:sp>
        <p:nvSpPr>
          <p:cNvPr id="1056" name="Google Shape;1056;g3ee94320d98_11_572"/>
          <p:cNvSpPr txBox="1"/>
          <p:nvPr/>
        </p:nvSpPr>
        <p:spPr>
          <a:xfrm>
            <a:off x="1038225" y="4708028"/>
            <a:ext cx="4867200" cy="196200"/>
          </a:xfrm>
          <a:prstGeom prst="rect">
            <a:avLst/>
          </a:prstGeom>
          <a:noFill/>
          <a:ln>
            <a:noFill/>
          </a:ln>
        </p:spPr>
        <p:txBody>
          <a:bodyPr anchorCtr="0" anchor="t" bIns="0" lIns="0" spcFirstLastPara="1" rIns="0" wrap="square" tIns="0">
            <a:spAutoFit/>
          </a:bodyPr>
          <a:lstStyle/>
          <a:p>
            <a:pPr indent="0" lvl="0" marL="0" marR="0" rtl="0" algn="l">
              <a:lnSpc>
                <a:spcPct val="159921"/>
              </a:lnSpc>
              <a:spcBef>
                <a:spcPts val="0"/>
              </a:spcBef>
              <a:spcAft>
                <a:spcPts val="0"/>
              </a:spcAft>
              <a:buClr>
                <a:srgbClr val="000000"/>
              </a:buClr>
              <a:buSzPts val="1275"/>
              <a:buFont typeface="Arial"/>
              <a:buNone/>
            </a:pPr>
            <a:r>
              <a:rPr b="0" i="0" lang="ko-KR" sz="1275" u="none" cap="none" strike="noStrike">
                <a:solidFill>
                  <a:srgbClr val="475569"/>
                </a:solidFill>
                <a:latin typeface="Inter"/>
                <a:ea typeface="Inter"/>
                <a:cs typeface="Inter"/>
                <a:sym typeface="Inter"/>
              </a:rPr>
              <a:t>5개의 단일 문자 토큰을 연속 스캔하는 다중 검증 TC 추가</a:t>
            </a:r>
            <a:endParaRPr b="0" i="0" sz="1400" u="none" cap="none" strike="noStrike">
              <a:solidFill>
                <a:srgbClr val="000000"/>
              </a:solidFill>
              <a:latin typeface="Arial"/>
              <a:ea typeface="Arial"/>
              <a:cs typeface="Arial"/>
              <a:sym typeface="Arial"/>
            </a:endParaRPr>
          </a:p>
        </p:txBody>
      </p:sp>
      <p:sp>
        <p:nvSpPr>
          <p:cNvPr id="1057" name="Google Shape;1057;g3ee94320d98_11_572"/>
          <p:cNvSpPr txBox="1"/>
          <p:nvPr/>
        </p:nvSpPr>
        <p:spPr>
          <a:xfrm>
            <a:off x="6538900" y="3672637"/>
            <a:ext cx="1771800" cy="150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75"/>
              <a:buFont typeface="Arial"/>
              <a:buNone/>
            </a:pPr>
            <a:r>
              <a:rPr b="0" i="0" lang="ko-KR" sz="975" u="none" cap="none" strike="noStrike">
                <a:solidFill>
                  <a:srgbClr val="64748B"/>
                </a:solidFill>
                <a:latin typeface="JetBrains Mono"/>
                <a:ea typeface="JetBrains Mono"/>
                <a:cs typeface="JetBrains Mono"/>
                <a:sym typeface="JetBrains Mono"/>
              </a:rPr>
              <a:t>Lexer.cpp (커밋 f45b172)</a:t>
            </a:r>
            <a:endParaRPr b="0" i="0" sz="1400" u="none" cap="none" strike="noStrike">
              <a:solidFill>
                <a:srgbClr val="000000"/>
              </a:solidFill>
              <a:latin typeface="Arial"/>
              <a:ea typeface="Arial"/>
              <a:cs typeface="Arial"/>
              <a:sym typeface="Arial"/>
            </a:endParaRPr>
          </a:p>
        </p:txBody>
      </p:sp>
      <p:sp>
        <p:nvSpPr>
          <p:cNvPr id="1058" name="Google Shape;1058;g3ee94320d98_11_572"/>
          <p:cNvSpPr txBox="1"/>
          <p:nvPr/>
        </p:nvSpPr>
        <p:spPr>
          <a:xfrm>
            <a:off x="771525" y="3961507"/>
            <a:ext cx="162000" cy="196200"/>
          </a:xfrm>
          <a:prstGeom prst="rect">
            <a:avLst/>
          </a:prstGeom>
          <a:noFill/>
          <a:ln>
            <a:noFill/>
          </a:ln>
        </p:spPr>
        <p:txBody>
          <a:bodyPr anchorCtr="0" anchor="t" bIns="0" lIns="0" spcFirstLastPara="1" rIns="0" wrap="square" tIns="0">
            <a:spAutoFit/>
          </a:bodyPr>
          <a:lstStyle/>
          <a:p>
            <a:pPr indent="0" lvl="0" marL="0" marR="0" rtl="0" algn="l">
              <a:lnSpc>
                <a:spcPct val="159921"/>
              </a:lnSpc>
              <a:spcBef>
                <a:spcPts val="0"/>
              </a:spcBef>
              <a:spcAft>
                <a:spcPts val="0"/>
              </a:spcAft>
              <a:buClr>
                <a:srgbClr val="000000"/>
              </a:buClr>
              <a:buSzPts val="1275"/>
              <a:buFont typeface="Arial"/>
              <a:buNone/>
            </a:pPr>
            <a:r>
              <a:rPr b="1" i="0" lang="ko-KR" sz="1275" u="none" cap="none" strike="noStrike">
                <a:solidFill>
                  <a:srgbClr val="7C3AED"/>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1059" name="Google Shape;1059;g3ee94320d98_11_572"/>
          <p:cNvSpPr txBox="1"/>
          <p:nvPr/>
        </p:nvSpPr>
        <p:spPr>
          <a:xfrm>
            <a:off x="771525" y="4334767"/>
            <a:ext cx="162000" cy="196200"/>
          </a:xfrm>
          <a:prstGeom prst="rect">
            <a:avLst/>
          </a:prstGeom>
          <a:noFill/>
          <a:ln>
            <a:noFill/>
          </a:ln>
        </p:spPr>
        <p:txBody>
          <a:bodyPr anchorCtr="0" anchor="t" bIns="0" lIns="0" spcFirstLastPara="1" rIns="0" wrap="square" tIns="0">
            <a:spAutoFit/>
          </a:bodyPr>
          <a:lstStyle/>
          <a:p>
            <a:pPr indent="0" lvl="0" marL="0" marR="0" rtl="0" algn="l">
              <a:lnSpc>
                <a:spcPct val="159921"/>
              </a:lnSpc>
              <a:spcBef>
                <a:spcPts val="0"/>
              </a:spcBef>
              <a:spcAft>
                <a:spcPts val="0"/>
              </a:spcAft>
              <a:buClr>
                <a:srgbClr val="000000"/>
              </a:buClr>
              <a:buSzPts val="1275"/>
              <a:buFont typeface="Arial"/>
              <a:buNone/>
            </a:pPr>
            <a:r>
              <a:rPr b="1" i="0" lang="ko-KR" sz="1275" u="none" cap="none" strike="noStrike">
                <a:solidFill>
                  <a:srgbClr val="7C3AED"/>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1060" name="Google Shape;1060;g3ee94320d98_11_572"/>
          <p:cNvSpPr txBox="1"/>
          <p:nvPr/>
        </p:nvSpPr>
        <p:spPr>
          <a:xfrm>
            <a:off x="771525" y="4708028"/>
            <a:ext cx="162000" cy="196200"/>
          </a:xfrm>
          <a:prstGeom prst="rect">
            <a:avLst/>
          </a:prstGeom>
          <a:noFill/>
          <a:ln>
            <a:noFill/>
          </a:ln>
        </p:spPr>
        <p:txBody>
          <a:bodyPr anchorCtr="0" anchor="t" bIns="0" lIns="0" spcFirstLastPara="1" rIns="0" wrap="square" tIns="0">
            <a:spAutoFit/>
          </a:bodyPr>
          <a:lstStyle/>
          <a:p>
            <a:pPr indent="0" lvl="0" marL="0" marR="0" rtl="0" algn="l">
              <a:lnSpc>
                <a:spcPct val="159921"/>
              </a:lnSpc>
              <a:spcBef>
                <a:spcPts val="0"/>
              </a:spcBef>
              <a:spcAft>
                <a:spcPts val="0"/>
              </a:spcAft>
              <a:buClr>
                <a:srgbClr val="000000"/>
              </a:buClr>
              <a:buSzPts val="1275"/>
              <a:buFont typeface="Arial"/>
              <a:buNone/>
            </a:pPr>
            <a:r>
              <a:rPr b="1" i="0" lang="ko-KR" sz="1275" u="none" cap="none" strike="noStrike">
                <a:solidFill>
                  <a:srgbClr val="7C3AED"/>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1061" name="Google Shape;1061;g3ee94320d98_11_572"/>
          <p:cNvSpPr txBox="1"/>
          <p:nvPr/>
        </p:nvSpPr>
        <p:spPr>
          <a:xfrm>
            <a:off x="771525" y="581025"/>
            <a:ext cx="4287000" cy="4155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700"/>
              <a:buFont typeface="Arial"/>
              <a:buNone/>
            </a:pPr>
            <a:r>
              <a:rPr b="1" i="0" lang="ko-KR" sz="2700" u="none" cap="none" strike="noStrike">
                <a:solidFill>
                  <a:srgbClr val="0F172A"/>
                </a:solidFill>
                <a:latin typeface="Inter"/>
                <a:ea typeface="Inter"/>
                <a:cs typeface="Inter"/>
                <a:sym typeface="Inter"/>
              </a:rPr>
              <a:t>사이클 3 — 다중 문자 검증</a:t>
            </a:r>
            <a:endParaRPr b="0" i="0" sz="1400" u="none" cap="none" strike="noStrike">
              <a:solidFill>
                <a:srgbClr val="000000"/>
              </a:solidFill>
              <a:latin typeface="Arial"/>
              <a:ea typeface="Arial"/>
              <a:cs typeface="Arial"/>
              <a:sym typeface="Arial"/>
            </a:endParaRPr>
          </a:p>
        </p:txBody>
      </p:sp>
      <p:pic>
        <p:nvPicPr>
          <p:cNvPr descr="image.png" id="1062" name="Google Shape;1062;g3ee94320d98_11_572"/>
          <p:cNvPicPr preferRelativeResize="0"/>
          <p:nvPr/>
        </p:nvPicPr>
        <p:blipFill rotWithShape="1">
          <a:blip r:embed="rId6">
            <a:alphaModFix/>
          </a:blip>
          <a:srcRect b="28310" l="0" r="0" t="0"/>
          <a:stretch/>
        </p:blipFill>
        <p:spPr>
          <a:xfrm>
            <a:off x="6357925" y="1355988"/>
            <a:ext cx="5133974" cy="2045100"/>
          </a:xfrm>
          <a:prstGeom prst="rect">
            <a:avLst/>
          </a:prstGeom>
          <a:noFill/>
          <a:ln>
            <a:noFill/>
          </a:ln>
        </p:spPr>
      </p:pic>
      <p:pic>
        <p:nvPicPr>
          <p:cNvPr descr="image.png" id="1063" name="Google Shape;1063;g3ee94320d98_11_572"/>
          <p:cNvPicPr preferRelativeResize="0"/>
          <p:nvPr/>
        </p:nvPicPr>
        <p:blipFill rotWithShape="1">
          <a:blip r:embed="rId7">
            <a:alphaModFix/>
          </a:blip>
          <a:srcRect b="0" l="0" r="0" t="0"/>
          <a:stretch/>
        </p:blipFill>
        <p:spPr>
          <a:xfrm>
            <a:off x="6367450" y="1365518"/>
            <a:ext cx="5114925" cy="409575"/>
          </a:xfrm>
          <a:prstGeom prst="rect">
            <a:avLst/>
          </a:prstGeom>
          <a:noFill/>
          <a:ln>
            <a:noFill/>
          </a:ln>
        </p:spPr>
      </p:pic>
      <p:sp>
        <p:nvSpPr>
          <p:cNvPr id="1064" name="Google Shape;1064;g3ee94320d98_11_572"/>
          <p:cNvSpPr txBox="1"/>
          <p:nvPr/>
        </p:nvSpPr>
        <p:spPr>
          <a:xfrm>
            <a:off x="6538900" y="1479818"/>
            <a:ext cx="2495700" cy="150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75"/>
              <a:buFont typeface="Arial"/>
              <a:buNone/>
            </a:pPr>
            <a:r>
              <a:rPr b="0" i="0" lang="ko-KR" sz="975" u="none" cap="none" strike="noStrike">
                <a:solidFill>
                  <a:srgbClr val="64748B"/>
                </a:solidFill>
                <a:latin typeface="JetBrains Mono"/>
                <a:ea typeface="JetBrains Mono"/>
                <a:cs typeface="JetBrains Mono"/>
                <a:sym typeface="JetBrains Mono"/>
              </a:rPr>
              <a:t>LexerTest.cpp (RED: 다중 검증 명세)</a:t>
            </a:r>
            <a:endParaRPr b="0" i="0" sz="1400" u="none" cap="none" strike="noStrike">
              <a:solidFill>
                <a:srgbClr val="000000"/>
              </a:solidFill>
              <a:latin typeface="Arial"/>
              <a:ea typeface="Arial"/>
              <a:cs typeface="Arial"/>
              <a:sym typeface="Arial"/>
            </a:endParaRPr>
          </a:p>
        </p:txBody>
      </p:sp>
      <p:pic>
        <p:nvPicPr>
          <p:cNvPr descr="image.png" id="1065" name="Google Shape;1065;g3ee94320d98_11_572"/>
          <p:cNvPicPr preferRelativeResize="0"/>
          <p:nvPr/>
        </p:nvPicPr>
        <p:blipFill rotWithShape="1">
          <a:blip r:embed="rId8">
            <a:alphaModFix/>
          </a:blip>
          <a:srcRect b="0" l="0" r="0" t="0"/>
          <a:stretch/>
        </p:blipFill>
        <p:spPr>
          <a:xfrm>
            <a:off x="5614113" y="664962"/>
            <a:ext cx="652462" cy="247650"/>
          </a:xfrm>
          <a:prstGeom prst="rect">
            <a:avLst/>
          </a:prstGeom>
          <a:noFill/>
          <a:ln>
            <a:noFill/>
          </a:ln>
        </p:spPr>
      </p:pic>
      <p:pic>
        <p:nvPicPr>
          <p:cNvPr descr="image.png" id="1066" name="Google Shape;1066;g3ee94320d98_11_572"/>
          <p:cNvPicPr preferRelativeResize="0"/>
          <p:nvPr/>
        </p:nvPicPr>
        <p:blipFill rotWithShape="1">
          <a:blip r:embed="rId9">
            <a:alphaModFix/>
          </a:blip>
          <a:srcRect b="0" l="0" r="0" t="0"/>
          <a:stretch/>
        </p:blipFill>
        <p:spPr>
          <a:xfrm>
            <a:off x="4985215" y="664962"/>
            <a:ext cx="485328" cy="24765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70" name="Shape 1070"/>
        <p:cNvGrpSpPr/>
        <p:nvPr/>
      </p:nvGrpSpPr>
      <p:grpSpPr>
        <a:xfrm>
          <a:off x="0" y="0"/>
          <a:ext cx="0" cy="0"/>
          <a:chOff x="0" y="0"/>
          <a:chExt cx="0" cy="0"/>
        </a:xfrm>
      </p:grpSpPr>
      <p:pic>
        <p:nvPicPr>
          <p:cNvPr descr="image.png" id="1071" name="Google Shape;1071;g3ee94320d98_11_589"/>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072" name="Google Shape;1072;g3ee94320d98_11_589"/>
          <p:cNvPicPr preferRelativeResize="0"/>
          <p:nvPr/>
        </p:nvPicPr>
        <p:blipFill rotWithShape="1">
          <a:blip r:embed="rId4">
            <a:alphaModFix/>
          </a:blip>
          <a:srcRect b="0" l="0" r="0" t="0"/>
          <a:stretch/>
        </p:blipFill>
        <p:spPr>
          <a:xfrm>
            <a:off x="771525" y="2030290"/>
            <a:ext cx="5133974" cy="4000500"/>
          </a:xfrm>
          <a:prstGeom prst="rect">
            <a:avLst/>
          </a:prstGeom>
          <a:noFill/>
          <a:ln>
            <a:noFill/>
          </a:ln>
        </p:spPr>
      </p:pic>
      <p:pic>
        <p:nvPicPr>
          <p:cNvPr descr="image.png" id="1073" name="Google Shape;1073;g3ee94320d98_11_589"/>
          <p:cNvPicPr preferRelativeResize="0"/>
          <p:nvPr/>
        </p:nvPicPr>
        <p:blipFill rotWithShape="1">
          <a:blip r:embed="rId5">
            <a:alphaModFix/>
          </a:blip>
          <a:srcRect b="0" l="0" r="0" t="0"/>
          <a:stretch/>
        </p:blipFill>
        <p:spPr>
          <a:xfrm>
            <a:off x="781050" y="2039815"/>
            <a:ext cx="5114925" cy="400050"/>
          </a:xfrm>
          <a:prstGeom prst="rect">
            <a:avLst/>
          </a:prstGeom>
          <a:noFill/>
          <a:ln>
            <a:noFill/>
          </a:ln>
        </p:spPr>
      </p:pic>
      <p:sp>
        <p:nvSpPr>
          <p:cNvPr id="1074" name="Google Shape;1074;g3ee94320d98_11_589"/>
          <p:cNvSpPr txBox="1"/>
          <p:nvPr/>
        </p:nvSpPr>
        <p:spPr>
          <a:xfrm>
            <a:off x="6286500" y="2481560"/>
            <a:ext cx="5390700" cy="2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650"/>
              <a:buFont typeface="Arial"/>
              <a:buNone/>
            </a:pPr>
            <a:r>
              <a:rPr b="0" i="0" lang="ko-KR" sz="1650" u="none" cap="none" strike="noStrike">
                <a:solidFill>
                  <a:srgbClr val="1E293B"/>
                </a:solidFill>
                <a:latin typeface="Inter SemiBold"/>
                <a:ea typeface="Inter SemiBold"/>
                <a:cs typeface="Inter SemiBold"/>
                <a:sym typeface="Inter SemiBold"/>
              </a:rPr>
              <a:t>안전한 구조 전면 재편</a:t>
            </a:r>
            <a:endParaRPr b="0" i="0" sz="1400" u="none" cap="none" strike="noStrike">
              <a:solidFill>
                <a:srgbClr val="000000"/>
              </a:solidFill>
              <a:latin typeface="Arial"/>
              <a:ea typeface="Arial"/>
              <a:cs typeface="Arial"/>
              <a:sym typeface="Arial"/>
            </a:endParaRPr>
          </a:p>
        </p:txBody>
      </p:sp>
      <p:sp>
        <p:nvSpPr>
          <p:cNvPr id="1075" name="Google Shape;1075;g3ee94320d98_11_589"/>
          <p:cNvSpPr txBox="1"/>
          <p:nvPr/>
        </p:nvSpPr>
        <p:spPr>
          <a:xfrm>
            <a:off x="6286500" y="3129260"/>
            <a:ext cx="5133900" cy="510000"/>
          </a:xfrm>
          <a:prstGeom prst="rect">
            <a:avLst/>
          </a:prstGeom>
          <a:noFill/>
          <a:ln>
            <a:noFill/>
          </a:ln>
        </p:spPr>
        <p:txBody>
          <a:bodyPr anchorCtr="0" anchor="t" bIns="0" lIns="0" spcFirstLastPara="1" rIns="0" wrap="square" tIns="0">
            <a:spAutoFit/>
          </a:bodyPr>
          <a:lstStyle/>
          <a:p>
            <a:pPr indent="0" lvl="0" marL="0" marR="0" rtl="0" algn="l">
              <a:lnSpc>
                <a:spcPct val="159921"/>
              </a:lnSpc>
              <a:spcBef>
                <a:spcPts val="0"/>
              </a:spcBef>
              <a:spcAft>
                <a:spcPts val="0"/>
              </a:spcAft>
              <a:buClr>
                <a:srgbClr val="000000"/>
              </a:buClr>
              <a:buSzPts val="1275"/>
              <a:buFont typeface="Arial"/>
              <a:buNone/>
            </a:pPr>
            <a:r>
              <a:rPr b="0" i="0" lang="ko-KR" sz="1275" u="none" cap="none" strike="noStrike">
                <a:solidFill>
                  <a:srgbClr val="475569"/>
                </a:solidFill>
                <a:latin typeface="Inter"/>
                <a:ea typeface="Inter"/>
                <a:cs typeface="Inter"/>
                <a:sym typeface="Inter"/>
              </a:rPr>
              <a:t>단순 range-for 구조는 향후 ==, != 같은 복합 연산자나 주석처리를 위해 꼭 거쳐야 할 </a:t>
            </a:r>
            <a:r>
              <a:rPr b="1" i="0" lang="ko-KR" sz="1275" u="none" cap="none" strike="noStrike">
                <a:solidFill>
                  <a:srgbClr val="475569"/>
                </a:solidFill>
                <a:latin typeface="Inter"/>
                <a:ea typeface="Inter"/>
                <a:cs typeface="Inter"/>
                <a:sym typeface="Inter"/>
              </a:rPr>
              <a:t>미리 보기(lookahead)</a:t>
            </a:r>
            <a:r>
              <a:rPr b="0" i="0" lang="ko-KR" sz="1275" u="none" cap="none" strike="noStrike">
                <a:solidFill>
                  <a:srgbClr val="475569"/>
                </a:solidFill>
                <a:latin typeface="Inter"/>
                <a:ea typeface="Inter"/>
                <a:cs typeface="Inter"/>
                <a:sym typeface="Inter"/>
              </a:rPr>
              <a:t>를 구현하기에 어렵습니다.</a:t>
            </a:r>
            <a:endParaRPr b="0" i="0" sz="1400" u="none" cap="none" strike="noStrike">
              <a:solidFill>
                <a:srgbClr val="000000"/>
              </a:solidFill>
              <a:latin typeface="Arial"/>
              <a:ea typeface="Arial"/>
              <a:cs typeface="Arial"/>
              <a:sym typeface="Arial"/>
            </a:endParaRPr>
          </a:p>
        </p:txBody>
      </p:sp>
      <p:sp>
        <p:nvSpPr>
          <p:cNvPr id="1076" name="Google Shape;1076;g3ee94320d98_11_589"/>
          <p:cNvSpPr txBox="1"/>
          <p:nvPr/>
        </p:nvSpPr>
        <p:spPr>
          <a:xfrm>
            <a:off x="952500" y="2154115"/>
            <a:ext cx="1524000" cy="150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75"/>
              <a:buFont typeface="Arial"/>
              <a:buNone/>
            </a:pPr>
            <a:r>
              <a:rPr b="0" i="0" lang="ko-KR" sz="975" u="none" cap="none" strike="noStrike">
                <a:solidFill>
                  <a:srgbClr val="64748B"/>
                </a:solidFill>
                <a:latin typeface="JetBrains Mono"/>
                <a:ea typeface="JetBrains Mono"/>
                <a:cs typeface="JetBrains Mono"/>
                <a:sym typeface="JetBrains Mono"/>
              </a:rPr>
              <a:t>Lexer.cpp Refactored</a:t>
            </a:r>
            <a:endParaRPr b="0" i="0" sz="1400" u="none" cap="none" strike="noStrike">
              <a:solidFill>
                <a:srgbClr val="000000"/>
              </a:solidFill>
              <a:latin typeface="Arial"/>
              <a:ea typeface="Arial"/>
              <a:cs typeface="Arial"/>
              <a:sym typeface="Arial"/>
            </a:endParaRPr>
          </a:p>
        </p:txBody>
      </p:sp>
      <p:sp>
        <p:nvSpPr>
          <p:cNvPr id="1077" name="Google Shape;1077;g3ee94320d98_11_589"/>
          <p:cNvSpPr txBox="1"/>
          <p:nvPr/>
        </p:nvSpPr>
        <p:spPr>
          <a:xfrm>
            <a:off x="6553200" y="3961507"/>
            <a:ext cx="4867200" cy="196200"/>
          </a:xfrm>
          <a:prstGeom prst="rect">
            <a:avLst/>
          </a:prstGeom>
          <a:noFill/>
          <a:ln>
            <a:noFill/>
          </a:ln>
        </p:spPr>
        <p:txBody>
          <a:bodyPr anchorCtr="0" anchor="t" bIns="0" lIns="0" spcFirstLastPara="1" rIns="0" wrap="square" tIns="0">
            <a:spAutoFit/>
          </a:bodyPr>
          <a:lstStyle/>
          <a:p>
            <a:pPr indent="0" lvl="0" marL="0" marR="0" rtl="0" algn="l">
              <a:lnSpc>
                <a:spcPct val="159921"/>
              </a:lnSpc>
              <a:spcBef>
                <a:spcPts val="0"/>
              </a:spcBef>
              <a:spcAft>
                <a:spcPts val="0"/>
              </a:spcAft>
              <a:buClr>
                <a:srgbClr val="000000"/>
              </a:buClr>
              <a:buSzPts val="1275"/>
              <a:buFont typeface="Arial"/>
              <a:buNone/>
            </a:pPr>
            <a:r>
              <a:rPr b="0" i="0" lang="ko-KR" sz="1275" u="none" cap="none" strike="noStrike">
                <a:solidFill>
                  <a:srgbClr val="475569"/>
                </a:solidFill>
                <a:latin typeface="Inter"/>
                <a:ea typeface="Inter"/>
                <a:cs typeface="Inter"/>
                <a:sym typeface="Inter"/>
              </a:rPr>
              <a:t>외부 테스트 코드 명세(Test)는 전혀 바뀌지 않음</a:t>
            </a:r>
            <a:endParaRPr b="0" i="0" sz="1400" u="none" cap="none" strike="noStrike">
              <a:solidFill>
                <a:srgbClr val="000000"/>
              </a:solidFill>
              <a:latin typeface="Arial"/>
              <a:ea typeface="Arial"/>
              <a:cs typeface="Arial"/>
              <a:sym typeface="Arial"/>
            </a:endParaRPr>
          </a:p>
        </p:txBody>
      </p:sp>
      <p:sp>
        <p:nvSpPr>
          <p:cNvPr id="1078" name="Google Shape;1078;g3ee94320d98_11_589"/>
          <p:cNvSpPr txBox="1"/>
          <p:nvPr/>
        </p:nvSpPr>
        <p:spPr>
          <a:xfrm>
            <a:off x="6553200" y="4334771"/>
            <a:ext cx="6667500" cy="1137900"/>
          </a:xfrm>
          <a:prstGeom prst="rect">
            <a:avLst/>
          </a:prstGeom>
          <a:noFill/>
          <a:ln>
            <a:noFill/>
          </a:ln>
        </p:spPr>
        <p:txBody>
          <a:bodyPr anchorCtr="0" anchor="t" bIns="0" lIns="0" spcFirstLastPara="1" rIns="0" wrap="square" tIns="0">
            <a:spAutoFit/>
          </a:bodyPr>
          <a:lstStyle/>
          <a:p>
            <a:pPr indent="0" lvl="0" marL="0" marR="0" rtl="0" algn="l">
              <a:lnSpc>
                <a:spcPct val="159921"/>
              </a:lnSpc>
              <a:spcBef>
                <a:spcPts val="0"/>
              </a:spcBef>
              <a:spcAft>
                <a:spcPts val="0"/>
              </a:spcAft>
              <a:buClr>
                <a:srgbClr val="000000"/>
              </a:buClr>
              <a:buSzPts val="1275"/>
              <a:buFont typeface="Arial"/>
              <a:buNone/>
            </a:pPr>
            <a:r>
              <a:rPr b="0" i="0" lang="ko-KR" sz="1275" u="none" cap="none" strike="noStrike">
                <a:solidFill>
                  <a:srgbClr val="475569"/>
                </a:solidFill>
                <a:latin typeface="Inter"/>
                <a:ea typeface="Inter"/>
                <a:cs typeface="Inter"/>
                <a:sym typeface="Inter"/>
              </a:rPr>
              <a:t>내부 실행 로직만 커서 기반 while문으로 개선</a:t>
            </a:r>
            <a:endParaRPr b="0" i="0" sz="1275" u="none" cap="none" strike="noStrike">
              <a:solidFill>
                <a:srgbClr val="475569"/>
              </a:solidFill>
              <a:latin typeface="Inter"/>
              <a:ea typeface="Inter"/>
              <a:cs typeface="Inter"/>
              <a:sym typeface="Inter"/>
            </a:endParaRPr>
          </a:p>
          <a:p>
            <a:pPr indent="0" lvl="0" marL="0" marR="0" rtl="0" algn="l">
              <a:lnSpc>
                <a:spcPct val="159921"/>
              </a:lnSpc>
              <a:spcBef>
                <a:spcPts val="0"/>
              </a:spcBef>
              <a:spcAft>
                <a:spcPts val="0"/>
              </a:spcAft>
              <a:buClr>
                <a:srgbClr val="000000"/>
              </a:buClr>
              <a:buSzPts val="1275"/>
              <a:buFont typeface="Arial"/>
              <a:buNone/>
            </a:pPr>
            <a:r>
              <a:rPr b="0" i="0" lang="ko-KR" sz="1275" u="none" cap="none" strike="noStrike">
                <a:solidFill>
                  <a:srgbClr val="475569"/>
                </a:solidFill>
                <a:latin typeface="Times New Roman"/>
                <a:ea typeface="Times New Roman"/>
                <a:cs typeface="Times New Roman"/>
                <a:sym typeface="Times New Roman"/>
              </a:rPr>
              <a:t>내부 구조만 인덱스 기반 scanToken 구조로 개선</a:t>
            </a:r>
            <a:endParaRPr b="0" i="0" sz="1400" u="none" cap="none" strike="noStrike">
              <a:solidFill>
                <a:schemeClr val="dk1"/>
              </a:solidFill>
              <a:latin typeface="Arial"/>
              <a:ea typeface="Arial"/>
              <a:cs typeface="Arial"/>
              <a:sym typeface="Arial"/>
            </a:endParaRPr>
          </a:p>
          <a:p>
            <a:pPr indent="0" lvl="0" marL="0" marR="0" rtl="0" algn="l">
              <a:lnSpc>
                <a:spcPct val="159921"/>
              </a:lnSpc>
              <a:spcBef>
                <a:spcPts val="0"/>
              </a:spcBef>
              <a:spcAft>
                <a:spcPts val="0"/>
              </a:spcAft>
              <a:buClr>
                <a:srgbClr val="000000"/>
              </a:buClr>
              <a:buSzPts val="1275"/>
              <a:buFont typeface="Arial"/>
              <a:buNone/>
            </a:pPr>
            <a:r>
              <a:t/>
            </a:r>
            <a:endParaRPr b="0" i="0" sz="1275" u="none" cap="none" strike="noStrike">
              <a:solidFill>
                <a:srgbClr val="475569"/>
              </a:solidFill>
              <a:latin typeface="Inter"/>
              <a:ea typeface="Inter"/>
              <a:cs typeface="Inter"/>
              <a:sym typeface="Inter"/>
            </a:endParaRPr>
          </a:p>
          <a:p>
            <a:pPr indent="0" lvl="0" marL="0" marR="0" rtl="0" algn="l">
              <a:lnSpc>
                <a:spcPct val="159921"/>
              </a:lnSpc>
              <a:spcBef>
                <a:spcPts val="0"/>
              </a:spcBef>
              <a:spcAft>
                <a:spcPts val="0"/>
              </a:spcAft>
              <a:buClr>
                <a:srgbClr val="000000"/>
              </a:buClr>
              <a:buSzPts val="1275"/>
              <a:buFont typeface="Arial"/>
              <a:buNone/>
            </a:pPr>
            <a:r>
              <a:t/>
            </a:r>
            <a:endParaRPr b="0" i="0" sz="1275" u="none" cap="none" strike="noStrike">
              <a:solidFill>
                <a:srgbClr val="475569"/>
              </a:solidFill>
              <a:latin typeface="Inter"/>
              <a:ea typeface="Inter"/>
              <a:cs typeface="Inter"/>
              <a:sym typeface="Inter"/>
            </a:endParaRPr>
          </a:p>
        </p:txBody>
      </p:sp>
      <p:sp>
        <p:nvSpPr>
          <p:cNvPr id="1079" name="Google Shape;1079;g3ee94320d98_11_589"/>
          <p:cNvSpPr txBox="1"/>
          <p:nvPr/>
        </p:nvSpPr>
        <p:spPr>
          <a:xfrm>
            <a:off x="6553200" y="5001105"/>
            <a:ext cx="4867200" cy="196200"/>
          </a:xfrm>
          <a:prstGeom prst="rect">
            <a:avLst/>
          </a:prstGeom>
          <a:noFill/>
          <a:ln>
            <a:noFill/>
          </a:ln>
        </p:spPr>
        <p:txBody>
          <a:bodyPr anchorCtr="0" anchor="t" bIns="0" lIns="0" spcFirstLastPara="1" rIns="0" wrap="square" tIns="0">
            <a:spAutoFit/>
          </a:bodyPr>
          <a:lstStyle/>
          <a:p>
            <a:pPr indent="0" lvl="0" marL="0" marR="0" rtl="0" algn="l">
              <a:lnSpc>
                <a:spcPct val="159921"/>
              </a:lnSpc>
              <a:spcBef>
                <a:spcPts val="0"/>
              </a:spcBef>
              <a:spcAft>
                <a:spcPts val="0"/>
              </a:spcAft>
              <a:buClr>
                <a:srgbClr val="000000"/>
              </a:buClr>
              <a:buSzPts val="1275"/>
              <a:buFont typeface="Arial"/>
              <a:buNone/>
            </a:pPr>
            <a:r>
              <a:rPr b="0" i="0" lang="ko-KR" sz="1275" u="none" cap="none" strike="noStrike">
                <a:solidFill>
                  <a:srgbClr val="475569"/>
                </a:solidFill>
                <a:latin typeface="Inter"/>
                <a:ea typeface="Inter"/>
                <a:cs typeface="Inter"/>
                <a:sym typeface="Inter"/>
              </a:rPr>
              <a:t>기존 TC들의 지속 검증을 통해 대폭 아키텍처 개편 보장</a:t>
            </a:r>
            <a:endParaRPr b="0" i="0" sz="1400" u="none" cap="none" strike="noStrike">
              <a:solidFill>
                <a:srgbClr val="000000"/>
              </a:solidFill>
              <a:latin typeface="Arial"/>
              <a:ea typeface="Arial"/>
              <a:cs typeface="Arial"/>
              <a:sym typeface="Arial"/>
            </a:endParaRPr>
          </a:p>
        </p:txBody>
      </p:sp>
      <p:sp>
        <p:nvSpPr>
          <p:cNvPr id="1080" name="Google Shape;1080;g3ee94320d98_11_589"/>
          <p:cNvSpPr txBox="1"/>
          <p:nvPr/>
        </p:nvSpPr>
        <p:spPr>
          <a:xfrm>
            <a:off x="6286500" y="3961507"/>
            <a:ext cx="162000" cy="196200"/>
          </a:xfrm>
          <a:prstGeom prst="rect">
            <a:avLst/>
          </a:prstGeom>
          <a:noFill/>
          <a:ln>
            <a:noFill/>
          </a:ln>
        </p:spPr>
        <p:txBody>
          <a:bodyPr anchorCtr="0" anchor="t" bIns="0" lIns="0" spcFirstLastPara="1" rIns="0" wrap="square" tIns="0">
            <a:spAutoFit/>
          </a:bodyPr>
          <a:lstStyle/>
          <a:p>
            <a:pPr indent="0" lvl="0" marL="0" marR="0" rtl="0" algn="l">
              <a:lnSpc>
                <a:spcPct val="159921"/>
              </a:lnSpc>
              <a:spcBef>
                <a:spcPts val="0"/>
              </a:spcBef>
              <a:spcAft>
                <a:spcPts val="0"/>
              </a:spcAft>
              <a:buClr>
                <a:srgbClr val="000000"/>
              </a:buClr>
              <a:buSzPts val="1275"/>
              <a:buFont typeface="Arial"/>
              <a:buNone/>
            </a:pPr>
            <a:r>
              <a:rPr b="1" i="0" lang="ko-KR" sz="1275" u="none" cap="none" strike="noStrike">
                <a:solidFill>
                  <a:srgbClr val="7C3AED"/>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1081" name="Google Shape;1081;g3ee94320d98_11_589"/>
          <p:cNvSpPr txBox="1"/>
          <p:nvPr/>
        </p:nvSpPr>
        <p:spPr>
          <a:xfrm>
            <a:off x="6286500" y="4334767"/>
            <a:ext cx="162000" cy="196200"/>
          </a:xfrm>
          <a:prstGeom prst="rect">
            <a:avLst/>
          </a:prstGeom>
          <a:noFill/>
          <a:ln>
            <a:noFill/>
          </a:ln>
        </p:spPr>
        <p:txBody>
          <a:bodyPr anchorCtr="0" anchor="t" bIns="0" lIns="0" spcFirstLastPara="1" rIns="0" wrap="square" tIns="0">
            <a:spAutoFit/>
          </a:bodyPr>
          <a:lstStyle/>
          <a:p>
            <a:pPr indent="0" lvl="0" marL="0" marR="0" rtl="0" algn="l">
              <a:lnSpc>
                <a:spcPct val="159921"/>
              </a:lnSpc>
              <a:spcBef>
                <a:spcPts val="0"/>
              </a:spcBef>
              <a:spcAft>
                <a:spcPts val="0"/>
              </a:spcAft>
              <a:buClr>
                <a:srgbClr val="000000"/>
              </a:buClr>
              <a:buSzPts val="1275"/>
              <a:buFont typeface="Arial"/>
              <a:buNone/>
            </a:pPr>
            <a:r>
              <a:rPr b="1" i="0" lang="ko-KR" sz="1275" u="none" cap="none" strike="noStrike">
                <a:solidFill>
                  <a:srgbClr val="7C3AED"/>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1082" name="Google Shape;1082;g3ee94320d98_11_589"/>
          <p:cNvSpPr txBox="1"/>
          <p:nvPr/>
        </p:nvSpPr>
        <p:spPr>
          <a:xfrm>
            <a:off x="6286500" y="5001105"/>
            <a:ext cx="162000" cy="196200"/>
          </a:xfrm>
          <a:prstGeom prst="rect">
            <a:avLst/>
          </a:prstGeom>
          <a:noFill/>
          <a:ln>
            <a:noFill/>
          </a:ln>
        </p:spPr>
        <p:txBody>
          <a:bodyPr anchorCtr="0" anchor="t" bIns="0" lIns="0" spcFirstLastPara="1" rIns="0" wrap="square" tIns="0">
            <a:spAutoFit/>
          </a:bodyPr>
          <a:lstStyle/>
          <a:p>
            <a:pPr indent="0" lvl="0" marL="0" marR="0" rtl="0" algn="l">
              <a:lnSpc>
                <a:spcPct val="159921"/>
              </a:lnSpc>
              <a:spcBef>
                <a:spcPts val="0"/>
              </a:spcBef>
              <a:spcAft>
                <a:spcPts val="0"/>
              </a:spcAft>
              <a:buClr>
                <a:srgbClr val="000000"/>
              </a:buClr>
              <a:buSzPts val="1275"/>
              <a:buFont typeface="Arial"/>
              <a:buNone/>
            </a:pPr>
            <a:r>
              <a:rPr b="1" i="0" lang="ko-KR" sz="1275" u="none" cap="none" strike="noStrike">
                <a:solidFill>
                  <a:srgbClr val="7C3AED"/>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1083" name="Google Shape;1083;g3ee94320d98_11_589"/>
          <p:cNvSpPr txBox="1"/>
          <p:nvPr/>
        </p:nvSpPr>
        <p:spPr>
          <a:xfrm>
            <a:off x="771525" y="581025"/>
            <a:ext cx="4682700" cy="4155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700"/>
              <a:buFont typeface="Arial"/>
              <a:buNone/>
            </a:pPr>
            <a:r>
              <a:rPr b="1" i="0" lang="ko-KR" sz="2700" u="none" cap="none" strike="noStrike">
                <a:solidFill>
                  <a:srgbClr val="0F172A"/>
                </a:solidFill>
                <a:latin typeface="Inter"/>
                <a:ea typeface="Inter"/>
                <a:cs typeface="Inter"/>
                <a:sym typeface="Inter"/>
              </a:rPr>
              <a:t>사이클 3 — 구조</a:t>
            </a:r>
            <a:endParaRPr b="0" i="0" sz="1400" u="none" cap="none" strike="noStrike">
              <a:solidFill>
                <a:srgbClr val="000000"/>
              </a:solidFill>
              <a:latin typeface="Arial"/>
              <a:ea typeface="Arial"/>
              <a:cs typeface="Arial"/>
              <a:sym typeface="Arial"/>
            </a:endParaRPr>
          </a:p>
        </p:txBody>
      </p:sp>
      <p:pic>
        <p:nvPicPr>
          <p:cNvPr descr="image.png" id="1084" name="Google Shape;1084;g3ee94320d98_11_589"/>
          <p:cNvPicPr preferRelativeResize="0"/>
          <p:nvPr/>
        </p:nvPicPr>
        <p:blipFill rotWithShape="1">
          <a:blip r:embed="rId6">
            <a:alphaModFix/>
          </a:blip>
          <a:srcRect b="0" l="0" r="0" t="0"/>
          <a:stretch/>
        </p:blipFill>
        <p:spPr>
          <a:xfrm>
            <a:off x="3554275" y="664962"/>
            <a:ext cx="895350" cy="247650"/>
          </a:xfrm>
          <a:prstGeom prst="rect">
            <a:avLst/>
          </a:prstGeom>
          <a:noFill/>
          <a:ln>
            <a:noFill/>
          </a:ln>
        </p:spPr>
      </p:pic>
      <p:pic>
        <p:nvPicPr>
          <p:cNvPr descr="image.png" id="1085" name="Google Shape;1085;g3ee94320d98_11_589"/>
          <p:cNvPicPr preferRelativeResize="0"/>
          <p:nvPr/>
        </p:nvPicPr>
        <p:blipFill rotWithShape="1">
          <a:blip r:embed="rId7">
            <a:alphaModFix/>
          </a:blip>
          <a:srcRect b="22696" l="0" r="0" t="0"/>
          <a:stretch/>
        </p:blipFill>
        <p:spPr>
          <a:xfrm>
            <a:off x="771525" y="1764463"/>
            <a:ext cx="5133974" cy="2369125"/>
          </a:xfrm>
          <a:prstGeom prst="rect">
            <a:avLst/>
          </a:prstGeom>
          <a:noFill/>
          <a:ln>
            <a:noFill/>
          </a:ln>
        </p:spPr>
      </p:pic>
      <p:pic>
        <p:nvPicPr>
          <p:cNvPr descr="image.png" id="1086" name="Google Shape;1086;g3ee94320d98_11_589"/>
          <p:cNvPicPr preferRelativeResize="0"/>
          <p:nvPr/>
        </p:nvPicPr>
        <p:blipFill rotWithShape="1">
          <a:blip r:embed="rId8">
            <a:alphaModFix/>
          </a:blip>
          <a:srcRect b="0" l="0" r="0" t="0"/>
          <a:stretch/>
        </p:blipFill>
        <p:spPr>
          <a:xfrm>
            <a:off x="781050" y="1773980"/>
            <a:ext cx="5114925" cy="400050"/>
          </a:xfrm>
          <a:prstGeom prst="rect">
            <a:avLst/>
          </a:prstGeom>
          <a:noFill/>
          <a:ln>
            <a:noFill/>
          </a:ln>
        </p:spPr>
      </p:pic>
      <p:sp>
        <p:nvSpPr>
          <p:cNvPr id="1087" name="Google Shape;1087;g3ee94320d98_11_589"/>
          <p:cNvSpPr txBox="1"/>
          <p:nvPr/>
        </p:nvSpPr>
        <p:spPr>
          <a:xfrm>
            <a:off x="952500" y="1888280"/>
            <a:ext cx="1828800" cy="150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75"/>
              <a:buFont typeface="Arial"/>
              <a:buNone/>
            </a:pPr>
            <a:r>
              <a:rPr b="0" i="0" lang="ko-KR" sz="975" u="none" cap="none" strike="noStrike">
                <a:solidFill>
                  <a:srgbClr val="64748B"/>
                </a:solidFill>
                <a:latin typeface="JetBrains Mono"/>
                <a:ea typeface="JetBrains Mono"/>
                <a:cs typeface="JetBrains Mono"/>
                <a:sym typeface="JetBrains Mono"/>
              </a:rPr>
              <a:t>Lexer.cpp (Cursor-based)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91" name="Shape 1091"/>
        <p:cNvGrpSpPr/>
        <p:nvPr/>
      </p:nvGrpSpPr>
      <p:grpSpPr>
        <a:xfrm>
          <a:off x="0" y="0"/>
          <a:ext cx="0" cy="0"/>
          <a:chOff x="0" y="0"/>
          <a:chExt cx="0" cy="0"/>
        </a:xfrm>
      </p:grpSpPr>
      <p:pic>
        <p:nvPicPr>
          <p:cNvPr descr="image.png" id="1092" name="Google Shape;1092;g3ee94320d98_11_289"/>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093" name="Google Shape;1093;g3ee94320d98_11_289"/>
          <p:cNvPicPr preferRelativeResize="0"/>
          <p:nvPr/>
        </p:nvPicPr>
        <p:blipFill rotWithShape="1">
          <a:blip r:embed="rId4">
            <a:alphaModFix/>
          </a:blip>
          <a:srcRect b="0" l="0" r="0" t="0"/>
          <a:stretch/>
        </p:blipFill>
        <p:spPr>
          <a:xfrm>
            <a:off x="6286500" y="3524250"/>
            <a:ext cx="5133974" cy="2800350"/>
          </a:xfrm>
          <a:prstGeom prst="rect">
            <a:avLst/>
          </a:prstGeom>
          <a:noFill/>
          <a:ln>
            <a:noFill/>
          </a:ln>
        </p:spPr>
      </p:pic>
      <p:pic>
        <p:nvPicPr>
          <p:cNvPr descr="image.png" id="1094" name="Google Shape;1094;g3ee94320d98_11_289"/>
          <p:cNvPicPr preferRelativeResize="0"/>
          <p:nvPr/>
        </p:nvPicPr>
        <p:blipFill rotWithShape="1">
          <a:blip r:embed="rId5">
            <a:alphaModFix/>
          </a:blip>
          <a:srcRect b="0" l="0" r="0" t="0"/>
          <a:stretch/>
        </p:blipFill>
        <p:spPr>
          <a:xfrm>
            <a:off x="6296025" y="3533775"/>
            <a:ext cx="5114925" cy="400050"/>
          </a:xfrm>
          <a:prstGeom prst="rect">
            <a:avLst/>
          </a:prstGeom>
          <a:noFill/>
          <a:ln>
            <a:noFill/>
          </a:ln>
        </p:spPr>
      </p:pic>
      <p:sp>
        <p:nvSpPr>
          <p:cNvPr id="1095" name="Google Shape;1095;g3ee94320d98_11_289"/>
          <p:cNvSpPr txBox="1"/>
          <p:nvPr/>
        </p:nvSpPr>
        <p:spPr>
          <a:xfrm>
            <a:off x="771525" y="2698551"/>
            <a:ext cx="5390700" cy="2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650"/>
              <a:buFont typeface="Arial"/>
              <a:buNone/>
            </a:pPr>
            <a:r>
              <a:rPr b="0" i="0" lang="ko-KR" sz="1650" u="none" cap="none" strike="noStrike">
                <a:solidFill>
                  <a:srgbClr val="1E293B"/>
                </a:solidFill>
                <a:latin typeface="Inter SemiBold"/>
                <a:ea typeface="Inter SemiBold"/>
                <a:cs typeface="Inter SemiBold"/>
                <a:sym typeface="Inter SemiBold"/>
              </a:rPr>
              <a:t>아키텍처 개선에 대한 보상</a:t>
            </a:r>
            <a:endParaRPr b="0" i="0" sz="1400" u="none" cap="none" strike="noStrike">
              <a:solidFill>
                <a:srgbClr val="000000"/>
              </a:solidFill>
              <a:latin typeface="Arial"/>
              <a:ea typeface="Arial"/>
              <a:cs typeface="Arial"/>
              <a:sym typeface="Arial"/>
            </a:endParaRPr>
          </a:p>
        </p:txBody>
      </p:sp>
      <p:sp>
        <p:nvSpPr>
          <p:cNvPr id="1096" name="Google Shape;1096;g3ee94320d98_11_289"/>
          <p:cNvSpPr txBox="1"/>
          <p:nvPr/>
        </p:nvSpPr>
        <p:spPr>
          <a:xfrm>
            <a:off x="771525" y="3346251"/>
            <a:ext cx="5133900" cy="510000"/>
          </a:xfrm>
          <a:prstGeom prst="rect">
            <a:avLst/>
          </a:prstGeom>
          <a:noFill/>
          <a:ln>
            <a:noFill/>
          </a:ln>
        </p:spPr>
        <p:txBody>
          <a:bodyPr anchorCtr="0" anchor="t" bIns="0" lIns="0" spcFirstLastPara="1" rIns="0" wrap="square" tIns="0">
            <a:spAutoFit/>
          </a:bodyPr>
          <a:lstStyle/>
          <a:p>
            <a:pPr indent="0" lvl="0" marL="0" marR="0" rtl="0" algn="l">
              <a:lnSpc>
                <a:spcPct val="159921"/>
              </a:lnSpc>
              <a:spcBef>
                <a:spcPts val="0"/>
              </a:spcBef>
              <a:spcAft>
                <a:spcPts val="0"/>
              </a:spcAft>
              <a:buClr>
                <a:srgbClr val="000000"/>
              </a:buClr>
              <a:buSzPts val="1275"/>
              <a:buFont typeface="Arial"/>
              <a:buNone/>
            </a:pPr>
            <a:r>
              <a:rPr b="0" i="0" lang="ko-KR" sz="1275" u="none" cap="none" strike="noStrike">
                <a:solidFill>
                  <a:srgbClr val="475569"/>
                </a:solidFill>
                <a:latin typeface="Inter"/>
                <a:ea typeface="Inter"/>
                <a:cs typeface="Inter"/>
                <a:sym typeface="Inter"/>
              </a:rPr>
              <a:t>앞 단계(사이클 3)의 과감한 리팩토링 덕분에 복합 연산자를 만났을 때 다음 문자를 엿보는 match() 헬퍼를 손쉽게 적용할 수 있게 되었습니다.</a:t>
            </a:r>
            <a:endParaRPr b="0" i="0" sz="1400" u="none" cap="none" strike="noStrike">
              <a:solidFill>
                <a:srgbClr val="000000"/>
              </a:solidFill>
              <a:latin typeface="Arial"/>
              <a:ea typeface="Arial"/>
              <a:cs typeface="Arial"/>
              <a:sym typeface="Arial"/>
            </a:endParaRPr>
          </a:p>
        </p:txBody>
      </p:sp>
      <p:sp>
        <p:nvSpPr>
          <p:cNvPr id="1097" name="Google Shape;1097;g3ee94320d98_11_289"/>
          <p:cNvSpPr txBox="1"/>
          <p:nvPr/>
        </p:nvSpPr>
        <p:spPr>
          <a:xfrm>
            <a:off x="6467475" y="3648075"/>
            <a:ext cx="1905000" cy="150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75"/>
              <a:buFont typeface="Arial"/>
              <a:buNone/>
            </a:pPr>
            <a:r>
              <a:rPr b="0" i="0" lang="ko-KR" sz="975" u="none" cap="none" strike="noStrike">
                <a:solidFill>
                  <a:srgbClr val="64748B"/>
                </a:solidFill>
                <a:latin typeface="JetBrains Mono"/>
                <a:ea typeface="JetBrains Mono"/>
                <a:cs typeface="JetBrains Mono"/>
                <a:sym typeface="JetBrains Mono"/>
              </a:rPr>
              <a:t>Lexer.cpp &amp; LexerTest.cpp</a:t>
            </a:r>
            <a:endParaRPr b="0" i="0" sz="1400" u="none" cap="none" strike="noStrike">
              <a:solidFill>
                <a:srgbClr val="000000"/>
              </a:solidFill>
              <a:latin typeface="Arial"/>
              <a:ea typeface="Arial"/>
              <a:cs typeface="Arial"/>
              <a:sym typeface="Arial"/>
            </a:endParaRPr>
          </a:p>
        </p:txBody>
      </p:sp>
      <p:sp>
        <p:nvSpPr>
          <p:cNvPr id="1098" name="Google Shape;1098;g3ee94320d98_11_289"/>
          <p:cNvSpPr txBox="1"/>
          <p:nvPr/>
        </p:nvSpPr>
        <p:spPr>
          <a:xfrm>
            <a:off x="771525" y="581025"/>
            <a:ext cx="5229300" cy="4155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700"/>
              <a:buFont typeface="Arial"/>
              <a:buNone/>
            </a:pPr>
            <a:r>
              <a:rPr b="1" i="0" lang="ko-KR" sz="2700" u="none" cap="none" strike="noStrike">
                <a:solidFill>
                  <a:srgbClr val="0F172A"/>
                </a:solidFill>
                <a:latin typeface="Inter"/>
                <a:ea typeface="Inter"/>
                <a:cs typeface="Inter"/>
                <a:sym typeface="Inter"/>
              </a:rPr>
              <a:t>사이클 4 — </a:t>
            </a:r>
            <a:r>
              <a:rPr b="1" i="0" lang="ko-KR" sz="2700" u="none" cap="none" strike="noStrike">
                <a:solidFill>
                  <a:srgbClr val="0F172A"/>
                </a:solidFill>
                <a:latin typeface="Times New Roman"/>
                <a:ea typeface="Times New Roman"/>
                <a:cs typeface="Times New Roman"/>
                <a:sym typeface="Times New Roman"/>
              </a:rPr>
              <a:t>복합 연산자</a:t>
            </a:r>
            <a:endParaRPr b="0" i="0" sz="1400" u="none" cap="none" strike="noStrike">
              <a:solidFill>
                <a:srgbClr val="000000"/>
              </a:solidFill>
              <a:latin typeface="Arial"/>
              <a:ea typeface="Arial"/>
              <a:cs typeface="Arial"/>
              <a:sym typeface="Arial"/>
            </a:endParaRPr>
          </a:p>
        </p:txBody>
      </p:sp>
      <p:pic>
        <p:nvPicPr>
          <p:cNvPr descr="image.png" id="1099" name="Google Shape;1099;g3ee94320d98_11_289"/>
          <p:cNvPicPr preferRelativeResize="0"/>
          <p:nvPr/>
        </p:nvPicPr>
        <p:blipFill rotWithShape="1">
          <a:blip r:embed="rId6">
            <a:alphaModFix/>
          </a:blip>
          <a:srcRect b="18254" l="0" r="0" t="0"/>
          <a:stretch/>
        </p:blipFill>
        <p:spPr>
          <a:xfrm>
            <a:off x="6286500" y="1221948"/>
            <a:ext cx="5133974" cy="2028275"/>
          </a:xfrm>
          <a:prstGeom prst="rect">
            <a:avLst/>
          </a:prstGeom>
          <a:noFill/>
          <a:ln>
            <a:noFill/>
          </a:ln>
        </p:spPr>
      </p:pic>
      <p:pic>
        <p:nvPicPr>
          <p:cNvPr descr="image.png" id="1100" name="Google Shape;1100;g3ee94320d98_11_289"/>
          <p:cNvPicPr preferRelativeResize="0"/>
          <p:nvPr/>
        </p:nvPicPr>
        <p:blipFill rotWithShape="1">
          <a:blip r:embed="rId7">
            <a:alphaModFix/>
          </a:blip>
          <a:srcRect b="0" l="0" r="0" t="0"/>
          <a:stretch/>
        </p:blipFill>
        <p:spPr>
          <a:xfrm>
            <a:off x="6296025" y="1231466"/>
            <a:ext cx="5114925" cy="409575"/>
          </a:xfrm>
          <a:prstGeom prst="rect">
            <a:avLst/>
          </a:prstGeom>
          <a:noFill/>
          <a:ln>
            <a:noFill/>
          </a:ln>
        </p:spPr>
      </p:pic>
      <p:sp>
        <p:nvSpPr>
          <p:cNvPr id="1101" name="Google Shape;1101;g3ee94320d98_11_289"/>
          <p:cNvSpPr txBox="1"/>
          <p:nvPr/>
        </p:nvSpPr>
        <p:spPr>
          <a:xfrm>
            <a:off x="6467475" y="1345766"/>
            <a:ext cx="2400300" cy="150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75"/>
              <a:buFont typeface="Arial"/>
              <a:buNone/>
            </a:pPr>
            <a:r>
              <a:rPr b="0" i="0" lang="ko-KR" sz="975" u="none" cap="none" strike="noStrike">
                <a:solidFill>
                  <a:srgbClr val="64748B"/>
                </a:solidFill>
                <a:latin typeface="JetBrains Mono"/>
                <a:ea typeface="JetBrains Mono"/>
                <a:cs typeface="JetBrains Mono"/>
                <a:sym typeface="JetBrains Mono"/>
              </a:rPr>
              <a:t>LexerTest.cpp (RED: 단일 vs 복합)</a:t>
            </a:r>
            <a:endParaRPr b="0" i="0" sz="1400" u="none" cap="none" strike="noStrike">
              <a:solidFill>
                <a:srgbClr val="000000"/>
              </a:solidFill>
              <a:latin typeface="Arial"/>
              <a:ea typeface="Arial"/>
              <a:cs typeface="Arial"/>
              <a:sym typeface="Arial"/>
            </a:endParaRPr>
          </a:p>
        </p:txBody>
      </p:sp>
      <p:pic>
        <p:nvPicPr>
          <p:cNvPr descr="image.png" id="1102" name="Google Shape;1102;g3ee94320d98_11_289"/>
          <p:cNvPicPr preferRelativeResize="0"/>
          <p:nvPr/>
        </p:nvPicPr>
        <p:blipFill rotWithShape="1">
          <a:blip r:embed="rId8">
            <a:alphaModFix/>
          </a:blip>
          <a:srcRect b="0" l="0" r="0" t="0"/>
          <a:stretch/>
        </p:blipFill>
        <p:spPr>
          <a:xfrm>
            <a:off x="5174498" y="664962"/>
            <a:ext cx="652462" cy="247650"/>
          </a:xfrm>
          <a:prstGeom prst="rect">
            <a:avLst/>
          </a:prstGeom>
          <a:noFill/>
          <a:ln>
            <a:noFill/>
          </a:ln>
        </p:spPr>
      </p:pic>
      <p:pic>
        <p:nvPicPr>
          <p:cNvPr descr="image.png" id="1103" name="Google Shape;1103;g3ee94320d98_11_289"/>
          <p:cNvPicPr preferRelativeResize="0"/>
          <p:nvPr/>
        </p:nvPicPr>
        <p:blipFill rotWithShape="1">
          <a:blip r:embed="rId9">
            <a:alphaModFix/>
          </a:blip>
          <a:srcRect b="0" l="0" r="0" t="0"/>
          <a:stretch/>
        </p:blipFill>
        <p:spPr>
          <a:xfrm>
            <a:off x="4545600" y="664962"/>
            <a:ext cx="485328" cy="247650"/>
          </a:xfrm>
          <a:prstGeom prst="rect">
            <a:avLst/>
          </a:prstGeom>
          <a:noFill/>
          <a:ln>
            <a:noFill/>
          </a:ln>
        </p:spPr>
      </p:pic>
      <p:pic>
        <p:nvPicPr>
          <p:cNvPr descr="image.png" id="1104" name="Google Shape;1104;g3ee94320d98_11_289"/>
          <p:cNvPicPr preferRelativeResize="0"/>
          <p:nvPr/>
        </p:nvPicPr>
        <p:blipFill rotWithShape="1">
          <a:blip r:embed="rId10">
            <a:alphaModFix/>
          </a:blip>
          <a:srcRect b="0" l="0" r="0" t="0"/>
          <a:stretch/>
        </p:blipFill>
        <p:spPr>
          <a:xfrm>
            <a:off x="5957506" y="664962"/>
            <a:ext cx="895350" cy="24765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08" name="Shape 1108"/>
        <p:cNvGrpSpPr/>
        <p:nvPr/>
      </p:nvGrpSpPr>
      <p:grpSpPr>
        <a:xfrm>
          <a:off x="0" y="0"/>
          <a:ext cx="0" cy="0"/>
          <a:chOff x="0" y="0"/>
          <a:chExt cx="0" cy="0"/>
        </a:xfrm>
      </p:grpSpPr>
      <p:pic>
        <p:nvPicPr>
          <p:cNvPr descr="image.png" id="1109" name="Google Shape;1109;g3ee94320d98_11_332"/>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110" name="Google Shape;1110;g3ee94320d98_11_332"/>
          <p:cNvPicPr preferRelativeResize="0"/>
          <p:nvPr/>
        </p:nvPicPr>
        <p:blipFill rotWithShape="1">
          <a:blip r:embed="rId4">
            <a:alphaModFix/>
          </a:blip>
          <a:srcRect b="0" l="0" r="0" t="0"/>
          <a:stretch/>
        </p:blipFill>
        <p:spPr>
          <a:xfrm>
            <a:off x="771525" y="2493168"/>
            <a:ext cx="3397299" cy="2576512"/>
          </a:xfrm>
          <a:prstGeom prst="rect">
            <a:avLst/>
          </a:prstGeom>
          <a:noFill/>
          <a:ln>
            <a:noFill/>
          </a:ln>
        </p:spPr>
      </p:pic>
      <p:pic>
        <p:nvPicPr>
          <p:cNvPr descr="image.png" id="1111" name="Google Shape;1111;g3ee94320d98_11_332"/>
          <p:cNvPicPr preferRelativeResize="0"/>
          <p:nvPr/>
        </p:nvPicPr>
        <p:blipFill rotWithShape="1">
          <a:blip r:embed="rId5">
            <a:alphaModFix/>
          </a:blip>
          <a:srcRect b="0" l="0" r="0" t="0"/>
          <a:stretch/>
        </p:blipFill>
        <p:spPr>
          <a:xfrm>
            <a:off x="4397424" y="2493168"/>
            <a:ext cx="3397299" cy="2576512"/>
          </a:xfrm>
          <a:prstGeom prst="rect">
            <a:avLst/>
          </a:prstGeom>
          <a:noFill/>
          <a:ln>
            <a:noFill/>
          </a:ln>
        </p:spPr>
      </p:pic>
      <p:pic>
        <p:nvPicPr>
          <p:cNvPr descr="image.png" id="1112" name="Google Shape;1112;g3ee94320d98_11_332"/>
          <p:cNvPicPr preferRelativeResize="0"/>
          <p:nvPr/>
        </p:nvPicPr>
        <p:blipFill rotWithShape="1">
          <a:blip r:embed="rId6">
            <a:alphaModFix/>
          </a:blip>
          <a:srcRect b="0" l="0" r="0" t="0"/>
          <a:stretch/>
        </p:blipFill>
        <p:spPr>
          <a:xfrm>
            <a:off x="8023324" y="2493168"/>
            <a:ext cx="3397299" cy="2576512"/>
          </a:xfrm>
          <a:prstGeom prst="rect">
            <a:avLst/>
          </a:prstGeom>
          <a:noFill/>
          <a:ln>
            <a:noFill/>
          </a:ln>
        </p:spPr>
      </p:pic>
      <p:sp>
        <p:nvSpPr>
          <p:cNvPr id="1113" name="Google Shape;1113;g3ee94320d98_11_332"/>
          <p:cNvSpPr txBox="1"/>
          <p:nvPr/>
        </p:nvSpPr>
        <p:spPr>
          <a:xfrm>
            <a:off x="1066800" y="3331368"/>
            <a:ext cx="2947200" cy="2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0" i="0" lang="ko-KR" sz="1500" u="none" cap="none" strike="noStrike">
                <a:solidFill>
                  <a:srgbClr val="1E293B"/>
                </a:solidFill>
                <a:latin typeface="Inter SemiBold"/>
                <a:ea typeface="Inter SemiBold"/>
                <a:cs typeface="Inter SemiBold"/>
                <a:sym typeface="Inter SemiBold"/>
              </a:rPr>
              <a:t>아키텍처 리팩토링의 주도권 확보</a:t>
            </a:r>
            <a:endParaRPr b="0" i="0" sz="1400" u="none" cap="none" strike="noStrike">
              <a:solidFill>
                <a:srgbClr val="000000"/>
              </a:solidFill>
              <a:latin typeface="Arial"/>
              <a:ea typeface="Arial"/>
              <a:cs typeface="Arial"/>
              <a:sym typeface="Arial"/>
            </a:endParaRPr>
          </a:p>
        </p:txBody>
      </p:sp>
      <p:sp>
        <p:nvSpPr>
          <p:cNvPr id="1114" name="Google Shape;1114;g3ee94320d98_11_332"/>
          <p:cNvSpPr txBox="1"/>
          <p:nvPr/>
        </p:nvSpPr>
        <p:spPr>
          <a:xfrm>
            <a:off x="1066800" y="3702850"/>
            <a:ext cx="2806800" cy="1211700"/>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Clr>
                <a:srgbClr val="000000"/>
              </a:buClr>
              <a:buSzPts val="1125"/>
              <a:buFont typeface="Arial"/>
              <a:buNone/>
            </a:pPr>
            <a:r>
              <a:rPr b="0" i="0" lang="ko-KR" sz="1125" u="none" cap="none" strike="noStrike">
                <a:solidFill>
                  <a:srgbClr val="475569"/>
                </a:solidFill>
                <a:latin typeface="Inter"/>
                <a:ea typeface="Inter"/>
                <a:cs typeface="Inter"/>
                <a:sym typeface="Inter"/>
              </a:rPr>
              <a:t>코드가 복잡해질 때 언제든 설계를 진화시킬 개발 주도권을 줍니다. 루프 구조를 커서 기반으로 갈아엎는 과감한 전면 개정 시점에도, 기존 명세의 완벽한 통과를 무기 삼아 흔들림 없이 리팩토링을 완수할 수 있습니다. </a:t>
            </a:r>
            <a:endParaRPr b="0" i="0" sz="1400" u="none" cap="none" strike="noStrike">
              <a:solidFill>
                <a:srgbClr val="000000"/>
              </a:solidFill>
              <a:latin typeface="Arial"/>
              <a:ea typeface="Arial"/>
              <a:cs typeface="Arial"/>
              <a:sym typeface="Arial"/>
            </a:endParaRPr>
          </a:p>
        </p:txBody>
      </p:sp>
      <p:sp>
        <p:nvSpPr>
          <p:cNvPr id="1115" name="Google Shape;1115;g3ee94320d98_11_332"/>
          <p:cNvSpPr txBox="1"/>
          <p:nvPr/>
        </p:nvSpPr>
        <p:spPr>
          <a:xfrm>
            <a:off x="4692699" y="3331368"/>
            <a:ext cx="2947200" cy="2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0" i="0" lang="ko-KR" sz="1500" u="none" cap="none" strike="noStrike">
                <a:solidFill>
                  <a:srgbClr val="1E293B"/>
                </a:solidFill>
                <a:latin typeface="Inter SemiBold"/>
                <a:ea typeface="Inter SemiBold"/>
                <a:cs typeface="Inter SemiBold"/>
                <a:sym typeface="Inter SemiBold"/>
              </a:rPr>
              <a:t>점진 설계 유도</a:t>
            </a:r>
            <a:endParaRPr b="0" i="0" sz="1400" u="none" cap="none" strike="noStrike">
              <a:solidFill>
                <a:srgbClr val="000000"/>
              </a:solidFill>
              <a:latin typeface="Arial"/>
              <a:ea typeface="Arial"/>
              <a:cs typeface="Arial"/>
              <a:sym typeface="Arial"/>
            </a:endParaRPr>
          </a:p>
        </p:txBody>
      </p:sp>
      <p:sp>
        <p:nvSpPr>
          <p:cNvPr id="1116" name="Google Shape;1116;g3ee94320d98_11_332"/>
          <p:cNvSpPr txBox="1"/>
          <p:nvPr/>
        </p:nvSpPr>
        <p:spPr>
          <a:xfrm>
            <a:off x="4692699" y="3702843"/>
            <a:ext cx="2806800" cy="1211700"/>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Clr>
                <a:srgbClr val="000000"/>
              </a:buClr>
              <a:buSzPts val="1125"/>
              <a:buFont typeface="Arial"/>
              <a:buNone/>
            </a:pPr>
            <a:r>
              <a:rPr b="0" i="0" lang="ko-KR" sz="1125" u="none" cap="none" strike="noStrike">
                <a:solidFill>
                  <a:srgbClr val="475569"/>
                </a:solidFill>
                <a:latin typeface="Inter"/>
                <a:ea typeface="Inter"/>
                <a:cs typeface="Inter"/>
                <a:sym typeface="Inter"/>
              </a:rPr>
              <a:t>처음부터 완성형 토크나이저 아키텍처를 과설계(Overengineering)하는 실수를 차단하고, 실제 요건과 꼬리를 문 요구사항 시점에 맞물려 견고한 구현체로 점진 진화했습니다.</a:t>
            </a:r>
            <a:endParaRPr b="0" i="0" sz="1400" u="none" cap="none" strike="noStrike">
              <a:solidFill>
                <a:srgbClr val="000000"/>
              </a:solidFill>
              <a:latin typeface="Arial"/>
              <a:ea typeface="Arial"/>
              <a:cs typeface="Arial"/>
              <a:sym typeface="Arial"/>
            </a:endParaRPr>
          </a:p>
        </p:txBody>
      </p:sp>
      <p:sp>
        <p:nvSpPr>
          <p:cNvPr id="1117" name="Google Shape;1117;g3ee94320d98_11_332"/>
          <p:cNvSpPr txBox="1"/>
          <p:nvPr/>
        </p:nvSpPr>
        <p:spPr>
          <a:xfrm>
            <a:off x="8318599" y="3331368"/>
            <a:ext cx="2947200" cy="2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0" i="0" lang="ko-KR" sz="1500" u="none" cap="none" strike="noStrike">
                <a:solidFill>
                  <a:srgbClr val="1E293B"/>
                </a:solidFill>
                <a:latin typeface="Inter SemiBold"/>
                <a:ea typeface="Inter SemiBold"/>
                <a:cs typeface="Inter SemiBold"/>
                <a:sym typeface="Inter SemiBold"/>
              </a:rPr>
              <a:t>점진적 스텝 (Baby Steps)</a:t>
            </a:r>
            <a:endParaRPr b="0" i="0" sz="1400" u="none" cap="none" strike="noStrike">
              <a:solidFill>
                <a:srgbClr val="000000"/>
              </a:solidFill>
              <a:latin typeface="Arial"/>
              <a:ea typeface="Arial"/>
              <a:cs typeface="Arial"/>
              <a:sym typeface="Arial"/>
            </a:endParaRPr>
          </a:p>
        </p:txBody>
      </p:sp>
      <p:sp>
        <p:nvSpPr>
          <p:cNvPr id="1118" name="Google Shape;1118;g3ee94320d98_11_332"/>
          <p:cNvSpPr txBox="1"/>
          <p:nvPr/>
        </p:nvSpPr>
        <p:spPr>
          <a:xfrm>
            <a:off x="8318599" y="3702843"/>
            <a:ext cx="2806800" cy="952200"/>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Clr>
                <a:srgbClr val="000000"/>
              </a:buClr>
              <a:buSzPts val="1125"/>
              <a:buFont typeface="Arial"/>
              <a:buNone/>
            </a:pPr>
            <a:r>
              <a:rPr b="0" i="0" lang="ko-KR" sz="1125" u="none" cap="none" strike="noStrike">
                <a:solidFill>
                  <a:srgbClr val="475569"/>
                </a:solidFill>
                <a:latin typeface="Inter"/>
                <a:ea typeface="Inter"/>
                <a:cs typeface="Inter"/>
                <a:sym typeface="Inter"/>
              </a:rPr>
              <a:t>한 번에 큰 덩어리를 완성하는 대신 괄호 하나, 단일 문자, 다중 복합 문자 순으로 기능 성장을 나누어 가며 전체 개발 기간 내내 녹색(Green) 빌드 상태를 일정하게 유지했습니다.</a:t>
            </a:r>
            <a:endParaRPr b="0" i="0" sz="1400" u="none" cap="none" strike="noStrike">
              <a:solidFill>
                <a:srgbClr val="000000"/>
              </a:solidFill>
              <a:latin typeface="Arial"/>
              <a:ea typeface="Arial"/>
              <a:cs typeface="Arial"/>
              <a:sym typeface="Arial"/>
            </a:endParaRPr>
          </a:p>
        </p:txBody>
      </p:sp>
      <p:pic>
        <p:nvPicPr>
          <p:cNvPr descr="image.png" id="1119" name="Google Shape;1119;g3ee94320d98_11_332"/>
          <p:cNvPicPr preferRelativeResize="0"/>
          <p:nvPr/>
        </p:nvPicPr>
        <p:blipFill rotWithShape="1">
          <a:blip r:embed="rId7">
            <a:alphaModFix/>
          </a:blip>
          <a:srcRect b="0" l="0" r="0" t="0"/>
          <a:stretch/>
        </p:blipFill>
        <p:spPr>
          <a:xfrm>
            <a:off x="1066800" y="2845593"/>
            <a:ext cx="266700" cy="266700"/>
          </a:xfrm>
          <a:prstGeom prst="rect">
            <a:avLst/>
          </a:prstGeom>
          <a:noFill/>
          <a:ln>
            <a:noFill/>
          </a:ln>
        </p:spPr>
      </p:pic>
      <p:pic>
        <p:nvPicPr>
          <p:cNvPr descr="image.png" id="1120" name="Google Shape;1120;g3ee94320d98_11_332"/>
          <p:cNvPicPr preferRelativeResize="0"/>
          <p:nvPr/>
        </p:nvPicPr>
        <p:blipFill rotWithShape="1">
          <a:blip r:embed="rId8">
            <a:alphaModFix/>
          </a:blip>
          <a:srcRect b="0" l="0" r="0" t="0"/>
          <a:stretch/>
        </p:blipFill>
        <p:spPr>
          <a:xfrm>
            <a:off x="4692699" y="2845593"/>
            <a:ext cx="266700" cy="266700"/>
          </a:xfrm>
          <a:prstGeom prst="rect">
            <a:avLst/>
          </a:prstGeom>
          <a:noFill/>
          <a:ln>
            <a:noFill/>
          </a:ln>
        </p:spPr>
      </p:pic>
      <p:pic>
        <p:nvPicPr>
          <p:cNvPr descr="image.png" id="1121" name="Google Shape;1121;g3ee94320d98_11_332"/>
          <p:cNvPicPr preferRelativeResize="0"/>
          <p:nvPr/>
        </p:nvPicPr>
        <p:blipFill rotWithShape="1">
          <a:blip r:embed="rId9">
            <a:alphaModFix/>
          </a:blip>
          <a:srcRect b="0" l="0" r="0" t="0"/>
          <a:stretch/>
        </p:blipFill>
        <p:spPr>
          <a:xfrm>
            <a:off x="8318599" y="2845593"/>
            <a:ext cx="304800" cy="266700"/>
          </a:xfrm>
          <a:prstGeom prst="rect">
            <a:avLst/>
          </a:prstGeom>
          <a:noFill/>
          <a:ln>
            <a:noFill/>
          </a:ln>
        </p:spPr>
      </p:pic>
      <p:sp>
        <p:nvSpPr>
          <p:cNvPr id="1122" name="Google Shape;1122;g3ee94320d98_11_332"/>
          <p:cNvSpPr txBox="1"/>
          <p:nvPr/>
        </p:nvSpPr>
        <p:spPr>
          <a:xfrm>
            <a:off x="771525" y="581025"/>
            <a:ext cx="11181300" cy="4155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700"/>
              <a:buFont typeface="Arial"/>
              <a:buNone/>
            </a:pPr>
            <a:r>
              <a:rPr b="1" i="0" lang="ko-KR" sz="2700" u="none" cap="none" strike="noStrike">
                <a:solidFill>
                  <a:srgbClr val="0F172A"/>
                </a:solidFill>
                <a:latin typeface="Inter"/>
                <a:ea typeface="Inter"/>
                <a:cs typeface="Inter"/>
                <a:sym typeface="Inter"/>
              </a:rPr>
              <a:t>TDD 설계 유도 및 아키텍처 효과</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365D"/>
        </a:solidFill>
      </p:bgPr>
    </p:bg>
    <p:spTree>
      <p:nvGrpSpPr>
        <p:cNvPr id="1126" name="Shape 1126"/>
        <p:cNvGrpSpPr/>
        <p:nvPr/>
      </p:nvGrpSpPr>
      <p:grpSpPr>
        <a:xfrm>
          <a:off x="0" y="0"/>
          <a:ext cx="0" cy="0"/>
          <a:chOff x="0" y="0"/>
          <a:chExt cx="0" cy="0"/>
        </a:xfrm>
      </p:grpSpPr>
      <p:sp>
        <p:nvSpPr>
          <p:cNvPr id="1127" name="Google Shape;1127;g3ee9487a86e_0_25"/>
          <p:cNvSpPr txBox="1"/>
          <p:nvPr/>
        </p:nvSpPr>
        <p:spPr>
          <a:xfrm>
            <a:off x="3060620" y="2238375"/>
            <a:ext cx="60708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b="1" i="0" lang="ko-KR" sz="1800" u="none" cap="none" strike="noStrike">
                <a:solidFill>
                  <a:srgbClr val="FFFFFF"/>
                </a:solidFill>
                <a:latin typeface="Urbanist"/>
                <a:ea typeface="Urbanist"/>
                <a:cs typeface="Urbanist"/>
                <a:sym typeface="Urbanist"/>
              </a:rPr>
              <a:t>BEST PRACTICE</a:t>
            </a:r>
            <a:endParaRPr b="0" i="0" sz="1400" u="none" cap="none" strike="noStrike">
              <a:solidFill>
                <a:srgbClr val="000000"/>
              </a:solidFill>
              <a:latin typeface="Arial"/>
              <a:ea typeface="Arial"/>
              <a:cs typeface="Arial"/>
              <a:sym typeface="Arial"/>
            </a:endParaRPr>
          </a:p>
        </p:txBody>
      </p:sp>
      <p:sp>
        <p:nvSpPr>
          <p:cNvPr id="1128" name="Google Shape;1128;g3ee9487a86e_0_25"/>
          <p:cNvSpPr txBox="1"/>
          <p:nvPr/>
        </p:nvSpPr>
        <p:spPr>
          <a:xfrm>
            <a:off x="2791278" y="2705100"/>
            <a:ext cx="6646200" cy="738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4800"/>
              <a:buFont typeface="Arial"/>
              <a:buNone/>
            </a:pPr>
            <a:r>
              <a:rPr b="1" i="0" lang="ko-KR" sz="4800" u="none" cap="none" strike="noStrike">
                <a:solidFill>
                  <a:srgbClr val="FFFFFF"/>
                </a:solidFill>
                <a:latin typeface="Urbanist"/>
                <a:ea typeface="Urbanist"/>
                <a:cs typeface="Urbanist"/>
                <a:sym typeface="Urbanist"/>
              </a:rPr>
              <a:t>BP - Code Review 사례</a:t>
            </a:r>
            <a:endParaRPr b="0" i="0" sz="1400" u="none" cap="none" strike="noStrike">
              <a:solidFill>
                <a:srgbClr val="000000"/>
              </a:solidFill>
              <a:latin typeface="Arial"/>
              <a:ea typeface="Arial"/>
              <a:cs typeface="Arial"/>
              <a:sym typeface="Arial"/>
            </a:endParaRPr>
          </a:p>
        </p:txBody>
      </p:sp>
      <p:sp>
        <p:nvSpPr>
          <p:cNvPr id="1129" name="Google Shape;1129;g3ee9487a86e_0_25"/>
          <p:cNvSpPr/>
          <p:nvPr/>
        </p:nvSpPr>
        <p:spPr>
          <a:xfrm>
            <a:off x="5619750" y="3819525"/>
            <a:ext cx="952500" cy="47700"/>
          </a:xfrm>
          <a:prstGeom prst="rect">
            <a:avLst/>
          </a:prstGeom>
          <a:solidFill>
            <a:srgbClr val="00808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30" name="Google Shape;1130;g3ee9487a86e_0_25"/>
          <p:cNvSpPr txBox="1"/>
          <p:nvPr/>
        </p:nvSpPr>
        <p:spPr>
          <a:xfrm>
            <a:off x="2728610" y="4152900"/>
            <a:ext cx="6853800" cy="231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500"/>
              <a:buFont typeface="Arial"/>
              <a:buNone/>
            </a:pPr>
            <a:r>
              <a:rPr b="0" i="0" lang="ko-KR" sz="1500" u="none" cap="none" strike="noStrike">
                <a:solidFill>
                  <a:srgbClr val="FFFFFF"/>
                </a:solidFill>
                <a:latin typeface="Noto Sans KR"/>
                <a:ea typeface="Noto Sans KR"/>
                <a:cs typeface="Noto Sans KR"/>
                <a:sym typeface="Noto Sans KR"/>
              </a:rPr>
              <a:t>팀원의 코드 리뷰 코멘트가 안정성 버그 감지와 코드 가독성 개선으로 이어진 사례</a:t>
            </a:r>
            <a:endParaRPr b="0" i="0" sz="1500" u="none" cap="none" strike="noStrike">
              <a:solidFill>
                <a:srgbClr val="FFFFFF"/>
              </a:solidFill>
              <a:latin typeface="Noto Sans KR"/>
              <a:ea typeface="Noto Sans KR"/>
              <a:cs typeface="Noto Sans KR"/>
              <a:sym typeface="Noto Sans K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4" name="Shape 1134"/>
        <p:cNvGrpSpPr/>
        <p:nvPr/>
      </p:nvGrpSpPr>
      <p:grpSpPr>
        <a:xfrm>
          <a:off x="0" y="0"/>
          <a:ext cx="0" cy="0"/>
          <a:chOff x="0" y="0"/>
          <a:chExt cx="0" cy="0"/>
        </a:xfrm>
      </p:grpSpPr>
      <p:sp>
        <p:nvSpPr>
          <p:cNvPr id="1135" name="Google Shape;1135;g3ee9487a86e_0_32"/>
          <p:cNvSpPr/>
          <p:nvPr/>
        </p:nvSpPr>
        <p:spPr>
          <a:xfrm>
            <a:off x="0" y="0"/>
            <a:ext cx="12192000" cy="6858000"/>
          </a:xfrm>
          <a:prstGeom prst="rect">
            <a:avLst/>
          </a:prstGeom>
          <a:solidFill>
            <a:srgbClr val="F8FAF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36" name="Google Shape;1136;g3ee9487a86e_0_32"/>
          <p:cNvSpPr/>
          <p:nvPr/>
        </p:nvSpPr>
        <p:spPr>
          <a:xfrm>
            <a:off x="0" y="0"/>
            <a:ext cx="12192000" cy="987600"/>
          </a:xfrm>
          <a:prstGeom prst="rect">
            <a:avLst/>
          </a:prstGeom>
          <a:solidFill>
            <a:srgbClr val="4338C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37" name="Google Shape;1137;g3ee9487a86e_0_32"/>
          <p:cNvSpPr/>
          <p:nvPr/>
        </p:nvSpPr>
        <p:spPr>
          <a:xfrm>
            <a:off x="0" y="950976"/>
            <a:ext cx="12192000" cy="36600"/>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38" name="Google Shape;1138;g3ee9487a86e_0_32"/>
          <p:cNvSpPr/>
          <p:nvPr/>
        </p:nvSpPr>
        <p:spPr>
          <a:xfrm>
            <a:off x="365855" y="228600"/>
            <a:ext cx="914700" cy="420600"/>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39" name="Google Shape;1139;g3ee9487a86e_0_32"/>
          <p:cNvSpPr txBox="1"/>
          <p:nvPr/>
        </p:nvSpPr>
        <p:spPr>
          <a:xfrm>
            <a:off x="365855" y="228600"/>
            <a:ext cx="914700" cy="292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300"/>
              <a:buFont typeface="Arial"/>
              <a:buNone/>
            </a:pPr>
            <a:r>
              <a:rPr b="1" i="0" lang="ko-KR" sz="1300" u="none" cap="none" strike="noStrike">
                <a:solidFill>
                  <a:srgbClr val="4F46E5"/>
                </a:solidFill>
                <a:latin typeface="Calibri"/>
                <a:ea typeface="Calibri"/>
                <a:cs typeface="Calibri"/>
                <a:sym typeface="Calibri"/>
              </a:rPr>
              <a:t>PR #1</a:t>
            </a:r>
            <a:endParaRPr b="0" i="0" sz="1400" u="none" cap="none" strike="noStrike">
              <a:solidFill>
                <a:srgbClr val="000000"/>
              </a:solidFill>
              <a:latin typeface="Arial"/>
              <a:ea typeface="Arial"/>
              <a:cs typeface="Arial"/>
              <a:sym typeface="Arial"/>
            </a:endParaRPr>
          </a:p>
        </p:txBody>
      </p:sp>
      <p:sp>
        <p:nvSpPr>
          <p:cNvPr id="1140" name="Google Shape;1140;g3ee9487a86e_0_32"/>
          <p:cNvSpPr txBox="1"/>
          <p:nvPr/>
        </p:nvSpPr>
        <p:spPr>
          <a:xfrm>
            <a:off x="1445128" y="146304"/>
            <a:ext cx="8048700" cy="430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200"/>
              <a:buFont typeface="Arial"/>
              <a:buNone/>
            </a:pPr>
            <a:r>
              <a:rPr b="1" i="0" lang="ko-KR" sz="2200" u="none" cap="none" strike="noStrike">
                <a:solidFill>
                  <a:srgbClr val="FFFFFF"/>
                </a:solidFill>
                <a:latin typeface="Calibri"/>
                <a:ea typeface="Calibri"/>
                <a:cs typeface="Calibri"/>
                <a:sym typeface="Calibri"/>
              </a:rPr>
              <a:t>CR 01.  예외 발생 시 setBindings 미해제 — 댕글링 포인터 UB</a:t>
            </a:r>
            <a:endParaRPr b="0" i="0" sz="1400" u="none" cap="none" strike="noStrike">
              <a:solidFill>
                <a:srgbClr val="000000"/>
              </a:solidFill>
              <a:latin typeface="Arial"/>
              <a:ea typeface="Arial"/>
              <a:cs typeface="Arial"/>
              <a:sym typeface="Arial"/>
            </a:endParaRPr>
          </a:p>
        </p:txBody>
      </p:sp>
      <p:sp>
        <p:nvSpPr>
          <p:cNvPr id="1141" name="Google Shape;1141;g3ee9487a86e_0_32"/>
          <p:cNvSpPr txBox="1"/>
          <p:nvPr/>
        </p:nvSpPr>
        <p:spPr>
          <a:xfrm>
            <a:off x="1445128" y="658368"/>
            <a:ext cx="77745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ko-KR" sz="1100" u="none" cap="none" strike="noStrike">
                <a:solidFill>
                  <a:srgbClr val="C7D2FE"/>
                </a:solidFill>
                <a:latin typeface="Calibri"/>
                <a:ea typeface="Calibri"/>
                <a:cs typeface="Calibri"/>
                <a:sym typeface="Calibri"/>
              </a:rPr>
              <a:t>LangFactory::bindAndCheck()   Reviewer: @wingii</a:t>
            </a:r>
            <a:endParaRPr b="0" i="0" sz="1400" u="none" cap="none" strike="noStrike">
              <a:solidFill>
                <a:srgbClr val="000000"/>
              </a:solidFill>
              <a:latin typeface="Arial"/>
              <a:ea typeface="Arial"/>
              <a:cs typeface="Arial"/>
              <a:sym typeface="Arial"/>
            </a:endParaRPr>
          </a:p>
        </p:txBody>
      </p:sp>
      <p:sp>
        <p:nvSpPr>
          <p:cNvPr id="1142" name="Google Shape;1142;g3ee9487a86e_0_32"/>
          <p:cNvSpPr/>
          <p:nvPr/>
        </p:nvSpPr>
        <p:spPr>
          <a:xfrm>
            <a:off x="9265285" y="237744"/>
            <a:ext cx="2561100" cy="402300"/>
          </a:xfrm>
          <a:prstGeom prst="rect">
            <a:avLst/>
          </a:prstGeom>
          <a:solidFill>
            <a:srgbClr val="FFFFFF"/>
          </a:solidFill>
          <a:ln cap="flat" cmpd="sng" w="9525">
            <a:solidFill>
              <a:srgbClr val="A5B4F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43" name="Google Shape;1143;g3ee9487a86e_0_32"/>
          <p:cNvSpPr txBox="1"/>
          <p:nvPr/>
        </p:nvSpPr>
        <p:spPr>
          <a:xfrm>
            <a:off x="9265285" y="237744"/>
            <a:ext cx="2561100" cy="4023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1" i="0" lang="ko-KR" sz="1100" u="none" cap="none" strike="noStrike">
                <a:solidFill>
                  <a:srgbClr val="4F46E5"/>
                </a:solidFill>
                <a:latin typeface="Calibri"/>
                <a:ea typeface="Calibri"/>
                <a:cs typeface="Calibri"/>
                <a:sym typeface="Calibri"/>
              </a:rPr>
              <a:t>안전성 버그 감지 (UB)</a:t>
            </a:r>
            <a:endParaRPr b="0" i="0" sz="1400" u="none" cap="none" strike="noStrike">
              <a:solidFill>
                <a:srgbClr val="000000"/>
              </a:solidFill>
              <a:latin typeface="Arial"/>
              <a:ea typeface="Arial"/>
              <a:cs typeface="Arial"/>
              <a:sym typeface="Arial"/>
            </a:endParaRPr>
          </a:p>
        </p:txBody>
      </p:sp>
      <p:sp>
        <p:nvSpPr>
          <p:cNvPr id="1144" name="Google Shape;1144;g3ee9487a86e_0_32"/>
          <p:cNvSpPr/>
          <p:nvPr/>
        </p:nvSpPr>
        <p:spPr>
          <a:xfrm>
            <a:off x="347563" y="1115568"/>
            <a:ext cx="11496900" cy="1536300"/>
          </a:xfrm>
          <a:prstGeom prst="rect">
            <a:avLst/>
          </a:prstGeom>
          <a:solidFill>
            <a:srgbClr val="EEF2FF"/>
          </a:solidFill>
          <a:ln cap="flat" cmpd="sng" w="12700">
            <a:solidFill>
              <a:srgbClr val="C7D2FE"/>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45" name="Google Shape;1145;g3ee9487a86e_0_32"/>
          <p:cNvSpPr/>
          <p:nvPr/>
        </p:nvSpPr>
        <p:spPr>
          <a:xfrm>
            <a:off x="347563" y="1115568"/>
            <a:ext cx="164700" cy="1536300"/>
          </a:xfrm>
          <a:prstGeom prst="rect">
            <a:avLst/>
          </a:prstGeom>
          <a:solidFill>
            <a:srgbClr val="4F46E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46" name="Google Shape;1146;g3ee9487a86e_0_32"/>
          <p:cNvSpPr/>
          <p:nvPr/>
        </p:nvSpPr>
        <p:spPr>
          <a:xfrm>
            <a:off x="621954" y="1225296"/>
            <a:ext cx="1371900" cy="255900"/>
          </a:xfrm>
          <a:prstGeom prst="rect">
            <a:avLst/>
          </a:prstGeom>
          <a:solidFill>
            <a:srgbClr val="1E293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47" name="Google Shape;1147;g3ee9487a86e_0_32"/>
          <p:cNvSpPr txBox="1"/>
          <p:nvPr/>
        </p:nvSpPr>
        <p:spPr>
          <a:xfrm>
            <a:off x="621954" y="1225296"/>
            <a:ext cx="13719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ko-KR" sz="1100" u="none" cap="none" strike="noStrike">
                <a:solidFill>
                  <a:srgbClr val="FFFFFF"/>
                </a:solidFill>
                <a:latin typeface="Calibri"/>
                <a:ea typeface="Calibri"/>
                <a:cs typeface="Calibri"/>
                <a:sym typeface="Calibri"/>
              </a:rPr>
              <a:t>💬  @wingii</a:t>
            </a:r>
            <a:endParaRPr b="0" i="0" sz="1400" u="none" cap="none" strike="noStrike">
              <a:solidFill>
                <a:srgbClr val="000000"/>
              </a:solidFill>
              <a:latin typeface="Arial"/>
              <a:ea typeface="Arial"/>
              <a:cs typeface="Arial"/>
              <a:sym typeface="Arial"/>
            </a:endParaRPr>
          </a:p>
        </p:txBody>
      </p:sp>
      <p:sp>
        <p:nvSpPr>
          <p:cNvPr id="1148" name="Google Shape;1148;g3ee9487a86e_0_32"/>
          <p:cNvSpPr/>
          <p:nvPr/>
        </p:nvSpPr>
        <p:spPr>
          <a:xfrm>
            <a:off x="2085375" y="1225296"/>
            <a:ext cx="1097700" cy="255900"/>
          </a:xfrm>
          <a:prstGeom prst="rect">
            <a:avLst/>
          </a:prstGeom>
          <a:solidFill>
            <a:srgbClr val="E2E8F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49" name="Google Shape;1149;g3ee9487a86e_0_32"/>
          <p:cNvSpPr txBox="1"/>
          <p:nvPr/>
        </p:nvSpPr>
        <p:spPr>
          <a:xfrm>
            <a:off x="2085375" y="1225296"/>
            <a:ext cx="10977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ko-KR" sz="1000" u="none" cap="none" strike="noStrike">
                <a:solidFill>
                  <a:srgbClr val="475569"/>
                </a:solidFill>
                <a:latin typeface="Calibri"/>
                <a:ea typeface="Calibri"/>
                <a:cs typeface="Calibri"/>
                <a:sym typeface="Calibri"/>
              </a:rPr>
              <a:t>Collaborator</a:t>
            </a:r>
            <a:endParaRPr b="0" i="0" sz="1400" u="none" cap="none" strike="noStrike">
              <a:solidFill>
                <a:srgbClr val="000000"/>
              </a:solidFill>
              <a:latin typeface="Arial"/>
              <a:ea typeface="Arial"/>
              <a:cs typeface="Arial"/>
              <a:sym typeface="Arial"/>
            </a:endParaRPr>
          </a:p>
        </p:txBody>
      </p:sp>
      <p:sp>
        <p:nvSpPr>
          <p:cNvPr id="1150" name="Google Shape;1150;g3ee9487a86e_0_32"/>
          <p:cNvSpPr/>
          <p:nvPr/>
        </p:nvSpPr>
        <p:spPr>
          <a:xfrm>
            <a:off x="621954" y="1554480"/>
            <a:ext cx="11058000" cy="18300"/>
          </a:xfrm>
          <a:prstGeom prst="rect">
            <a:avLst/>
          </a:prstGeom>
          <a:solidFill>
            <a:srgbClr val="C7D2F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51" name="Google Shape;1151;g3ee9487a86e_0_32"/>
          <p:cNvSpPr txBox="1"/>
          <p:nvPr/>
        </p:nvSpPr>
        <p:spPr>
          <a:xfrm>
            <a:off x="621954" y="1627632"/>
            <a:ext cx="110580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0" i="0" lang="ko-KR" sz="1300" u="none" cap="none" strike="noStrike">
                <a:solidFill>
                  <a:srgbClr val="334155"/>
                </a:solidFill>
                <a:latin typeface="Calibri"/>
                <a:ea typeface="Calibri"/>
                <a:cs typeface="Calibri"/>
                <a:sym typeface="Calibri"/>
              </a:rPr>
              <a:t>check(stmts)가 CheckError를 던지면 setBindings(nullptr)이 호출되지 않아 m_interpreter 내부에 소멸된 bindings의 포인터가 남습니다. 이후 interpret()에서 해당 포인터를 참조하면 Undefined Behavior(UB)입니다.</a:t>
            </a:r>
            <a:endParaRPr b="0" i="0" sz="1400" u="none" cap="none" strike="noStrike">
              <a:solidFill>
                <a:srgbClr val="000000"/>
              </a:solidFill>
              <a:latin typeface="Arial"/>
              <a:ea typeface="Arial"/>
              <a:cs typeface="Arial"/>
              <a:sym typeface="Arial"/>
            </a:endParaRPr>
          </a:p>
        </p:txBody>
      </p:sp>
      <p:sp>
        <p:nvSpPr>
          <p:cNvPr id="1152" name="Google Shape;1152;g3ee9487a86e_0_32"/>
          <p:cNvSpPr/>
          <p:nvPr/>
        </p:nvSpPr>
        <p:spPr>
          <a:xfrm>
            <a:off x="621954" y="2377440"/>
            <a:ext cx="11058000" cy="219600"/>
          </a:xfrm>
          <a:prstGeom prst="rect">
            <a:avLst/>
          </a:prstGeom>
          <a:solidFill>
            <a:srgbClr val="F5F3FF"/>
          </a:solidFill>
          <a:ln cap="flat" cmpd="sng" w="9525">
            <a:solidFill>
              <a:srgbClr val="A5B4F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53" name="Google Shape;1153;g3ee9487a86e_0_32"/>
          <p:cNvSpPr txBox="1"/>
          <p:nvPr/>
        </p:nvSpPr>
        <p:spPr>
          <a:xfrm>
            <a:off x="695125" y="2395728"/>
            <a:ext cx="10911600" cy="253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Arial"/>
              <a:buNone/>
            </a:pPr>
            <a:r>
              <a:rPr b="0" i="0" lang="ko-KR" sz="1050" u="none" cap="none" strike="noStrike">
                <a:solidFill>
                  <a:srgbClr val="4F46E5"/>
                </a:solidFill>
                <a:latin typeface="Calibri"/>
                <a:ea typeface="Calibri"/>
                <a:cs typeface="Calibri"/>
                <a:sym typeface="Calibri"/>
              </a:rPr>
              <a:t>💡  RAII 스코프 가드를 활용하세요.  struct Guard { ~Guard() { p-&gt;setBindings(nullptr); } } guard{ m_interpreter.get() };</a:t>
            </a:r>
            <a:endParaRPr b="0" i="0" sz="1400" u="none" cap="none" strike="noStrike">
              <a:solidFill>
                <a:srgbClr val="000000"/>
              </a:solidFill>
              <a:latin typeface="Arial"/>
              <a:ea typeface="Arial"/>
              <a:cs typeface="Arial"/>
              <a:sym typeface="Arial"/>
            </a:endParaRPr>
          </a:p>
        </p:txBody>
      </p:sp>
      <p:sp>
        <p:nvSpPr>
          <p:cNvPr id="1154" name="Google Shape;1154;g3ee9487a86e_0_32"/>
          <p:cNvSpPr/>
          <p:nvPr/>
        </p:nvSpPr>
        <p:spPr>
          <a:xfrm>
            <a:off x="347563" y="2779776"/>
            <a:ext cx="5579400" cy="2304300"/>
          </a:xfrm>
          <a:prstGeom prst="rect">
            <a:avLst/>
          </a:prstGeom>
          <a:solidFill>
            <a:srgbClr val="FFF5F5"/>
          </a:solidFill>
          <a:ln cap="flat" cmpd="sng" w="9525">
            <a:solidFill>
              <a:srgbClr val="FECACA"/>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55" name="Google Shape;1155;g3ee9487a86e_0_32"/>
          <p:cNvSpPr/>
          <p:nvPr/>
        </p:nvSpPr>
        <p:spPr>
          <a:xfrm>
            <a:off x="347563" y="2779776"/>
            <a:ext cx="5579400" cy="384000"/>
          </a:xfrm>
          <a:prstGeom prst="rect">
            <a:avLst/>
          </a:prstGeom>
          <a:solidFill>
            <a:srgbClr val="B91C1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56" name="Google Shape;1156;g3ee9487a86e_0_32"/>
          <p:cNvSpPr txBox="1"/>
          <p:nvPr/>
        </p:nvSpPr>
        <p:spPr>
          <a:xfrm>
            <a:off x="475612" y="2825496"/>
            <a:ext cx="54147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ko-KR" sz="1200" u="none" cap="none" strike="noStrike">
                <a:solidFill>
                  <a:srgbClr val="FFFFFF"/>
                </a:solidFill>
                <a:latin typeface="Calibri"/>
                <a:ea typeface="Calibri"/>
                <a:cs typeface="Calibri"/>
                <a:sym typeface="Calibri"/>
              </a:rPr>
              <a:t>❌  Before  —  예외 경로에서 포인터 미해제</a:t>
            </a:r>
            <a:endParaRPr b="0" i="0" sz="1400" u="none" cap="none" strike="noStrike">
              <a:solidFill>
                <a:srgbClr val="000000"/>
              </a:solidFill>
              <a:latin typeface="Arial"/>
              <a:ea typeface="Arial"/>
              <a:cs typeface="Arial"/>
              <a:sym typeface="Arial"/>
            </a:endParaRPr>
          </a:p>
        </p:txBody>
      </p:sp>
      <p:sp>
        <p:nvSpPr>
          <p:cNvPr id="1157" name="Google Shape;1157;g3ee9487a86e_0_32"/>
          <p:cNvSpPr/>
          <p:nvPr/>
        </p:nvSpPr>
        <p:spPr>
          <a:xfrm>
            <a:off x="347563" y="3163824"/>
            <a:ext cx="5579400" cy="1920300"/>
          </a:xfrm>
          <a:prstGeom prst="rect">
            <a:avLst/>
          </a:prstGeom>
          <a:solidFill>
            <a:srgbClr val="1E293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58" name="Google Shape;1158;g3ee9487a86e_0_32"/>
          <p:cNvSpPr txBox="1"/>
          <p:nvPr/>
        </p:nvSpPr>
        <p:spPr>
          <a:xfrm>
            <a:off x="493905" y="3273552"/>
            <a:ext cx="5323200" cy="1441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ko-KR" sz="900" u="none" cap="none" strike="noStrike">
                <a:solidFill>
                  <a:srgbClr val="7DD3FC"/>
                </a:solidFill>
                <a:latin typeface="Calibri"/>
                <a:ea typeface="Calibri"/>
                <a:cs typeface="Calibri"/>
                <a:sym typeface="Calibri"/>
              </a:rPr>
              <a:t>void LangFactory::bindAndCheck(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00"/>
              <a:buFont typeface="Arial"/>
              <a:buNone/>
            </a:pPr>
            <a:r>
              <a:rPr b="0" i="0" lang="ko-KR" sz="900" u="none" cap="none" strike="noStrike">
                <a:solidFill>
                  <a:srgbClr val="CBD5E1"/>
                </a:solidFill>
                <a:latin typeface="Calibri"/>
                <a:ea typeface="Calibri"/>
                <a:cs typeface="Calibri"/>
                <a:sym typeface="Calibri"/>
              </a:rPr>
              <a:t>        const vector&lt;StmtPtr&gt;&amp; stmts)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00"/>
              <a:buFont typeface="Arial"/>
              <a:buNone/>
            </a:pPr>
            <a:r>
              <a:rPr b="0" i="0" lang="ko-KR" sz="900" u="none" cap="none" strike="noStrike">
                <a:solidFill>
                  <a:srgbClr val="7DD3FC"/>
                </a:solidFill>
                <a:latin typeface="Calibri"/>
                <a:ea typeface="Calibri"/>
                <a:cs typeface="Calibri"/>
                <a:sym typeface="Calibri"/>
              </a:rPr>
              <a:t>    Resolver   resolver;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00"/>
              <a:buFont typeface="Arial"/>
              <a:buNone/>
            </a:pPr>
            <a:r>
              <a:rPr b="0" i="0" lang="ko-KR" sz="900" u="none" cap="none" strike="noStrike">
                <a:solidFill>
                  <a:srgbClr val="7DD3FC"/>
                </a:solidFill>
                <a:latin typeface="Calibri"/>
                <a:ea typeface="Calibri"/>
                <a:cs typeface="Calibri"/>
                <a:sym typeface="Calibri"/>
              </a:rPr>
              <a:t>    BindingMap bindings = resolver.resolve(stmts);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00"/>
              <a:buFont typeface="Arial"/>
              <a:buNone/>
            </a:pPr>
            <a:r>
              <a:rPr b="0" i="0" lang="ko-KR" sz="900" u="none" cap="none" strike="noStrike">
                <a:solidFill>
                  <a:srgbClr val="CBD5E1"/>
                </a:solidFill>
                <a:latin typeface="Calibri"/>
                <a:ea typeface="Calibri"/>
                <a:cs typeface="Calibri"/>
                <a:sym typeface="Calibri"/>
              </a:rPr>
              <a:t>    m_interpreter-&gt;setBindings(&amp;bindings);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00"/>
              <a:buFont typeface="Arial"/>
              <a:buNone/>
            </a:pPr>
            <a:r>
              <a:rPr b="0" i="0" lang="ko-KR" sz="900" u="none" cap="none" strike="noStrike">
                <a:solidFill>
                  <a:srgbClr val="FBBF24"/>
                </a:solidFill>
                <a:latin typeface="Calibri"/>
                <a:ea typeface="Calibri"/>
                <a:cs typeface="Calibri"/>
                <a:sym typeface="Calibri"/>
              </a:rPr>
              <a:t>    // ← CheckError throw 시 아래 미실행</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00"/>
              <a:buFont typeface="Arial"/>
              <a:buNone/>
            </a:pPr>
            <a:r>
              <a:rPr b="0" i="0" lang="ko-KR" sz="900" u="none" cap="none" strike="noStrike">
                <a:solidFill>
                  <a:srgbClr val="CBD5E1"/>
                </a:solidFill>
                <a:latin typeface="Calibri"/>
                <a:ea typeface="Calibri"/>
                <a:cs typeface="Calibri"/>
                <a:sym typeface="Calibri"/>
              </a:rPr>
              <a:t>    m_checker-&gt;check(stmts);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00"/>
              <a:buFont typeface="Arial"/>
              <a:buNone/>
            </a:pPr>
            <a:r>
              <a:rPr b="0" i="0" lang="ko-KR" sz="900" u="none" cap="none" strike="noStrike">
                <a:solidFill>
                  <a:srgbClr val="64748B"/>
                </a:solidFill>
                <a:latin typeface="Calibri"/>
                <a:ea typeface="Calibri"/>
                <a:cs typeface="Calibri"/>
                <a:sym typeface="Calibri"/>
              </a:rPr>
              <a:t>    // bindings 소멸 → 댕글링 포인터 잔존</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00"/>
              <a:buFont typeface="Arial"/>
              <a:buNone/>
            </a:pPr>
            <a:r>
              <a:rPr b="0" i="0" lang="ko-KR" sz="900" u="none" cap="none" strike="noStrike">
                <a:solidFill>
                  <a:srgbClr val="CBD5E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1159" name="Google Shape;1159;g3ee9487a86e_0_32"/>
          <p:cNvSpPr txBox="1"/>
          <p:nvPr/>
        </p:nvSpPr>
        <p:spPr>
          <a:xfrm>
            <a:off x="420734" y="5120640"/>
            <a:ext cx="5469600" cy="238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50"/>
              <a:buFont typeface="Arial"/>
              <a:buNone/>
            </a:pPr>
            <a:r>
              <a:rPr b="0" i="0" lang="ko-KR" sz="950" u="none" cap="none" strike="noStrike">
                <a:solidFill>
                  <a:srgbClr val="B91C1C"/>
                </a:solidFill>
                <a:latin typeface="Calibri"/>
                <a:ea typeface="Calibri"/>
                <a:cs typeface="Calibri"/>
                <a:sym typeface="Calibri"/>
              </a:rPr>
              <a:t>⚠ CheckError 발생 시 setBindings(nullptr) 미호출 → UB 위험</a:t>
            </a:r>
            <a:endParaRPr b="0" i="0" sz="1400" u="none" cap="none" strike="noStrike">
              <a:solidFill>
                <a:srgbClr val="000000"/>
              </a:solidFill>
              <a:latin typeface="Arial"/>
              <a:ea typeface="Arial"/>
              <a:cs typeface="Arial"/>
              <a:sym typeface="Arial"/>
            </a:endParaRPr>
          </a:p>
        </p:txBody>
      </p:sp>
      <p:sp>
        <p:nvSpPr>
          <p:cNvPr id="1160" name="Google Shape;1160;g3ee9487a86e_0_32"/>
          <p:cNvSpPr/>
          <p:nvPr/>
        </p:nvSpPr>
        <p:spPr>
          <a:xfrm>
            <a:off x="6173808" y="2779776"/>
            <a:ext cx="5579400" cy="2304300"/>
          </a:xfrm>
          <a:prstGeom prst="rect">
            <a:avLst/>
          </a:prstGeom>
          <a:solidFill>
            <a:srgbClr val="F0FDF4"/>
          </a:solidFill>
          <a:ln cap="flat" cmpd="sng" w="9525">
            <a:solidFill>
              <a:srgbClr val="86EFA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61" name="Google Shape;1161;g3ee9487a86e_0_32"/>
          <p:cNvSpPr/>
          <p:nvPr/>
        </p:nvSpPr>
        <p:spPr>
          <a:xfrm>
            <a:off x="6173808" y="2779776"/>
            <a:ext cx="5579400" cy="384000"/>
          </a:xfrm>
          <a:prstGeom prst="rect">
            <a:avLst/>
          </a:prstGeom>
          <a:solidFill>
            <a:srgbClr val="15803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62" name="Google Shape;1162;g3ee9487a86e_0_32"/>
          <p:cNvSpPr txBox="1"/>
          <p:nvPr/>
        </p:nvSpPr>
        <p:spPr>
          <a:xfrm>
            <a:off x="6301857" y="2825496"/>
            <a:ext cx="54147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ko-KR" sz="1200" u="none" cap="none" strike="noStrike">
                <a:solidFill>
                  <a:srgbClr val="FFFFFF"/>
                </a:solidFill>
                <a:latin typeface="Calibri"/>
                <a:ea typeface="Calibri"/>
                <a:cs typeface="Calibri"/>
                <a:sym typeface="Calibri"/>
              </a:rPr>
              <a:t>✅  After  —  RAII 가드로 모든 경로 해제 보장</a:t>
            </a:r>
            <a:endParaRPr b="0" i="0" sz="1400" u="none" cap="none" strike="noStrike">
              <a:solidFill>
                <a:srgbClr val="000000"/>
              </a:solidFill>
              <a:latin typeface="Arial"/>
              <a:ea typeface="Arial"/>
              <a:cs typeface="Arial"/>
              <a:sym typeface="Arial"/>
            </a:endParaRPr>
          </a:p>
        </p:txBody>
      </p:sp>
      <p:sp>
        <p:nvSpPr>
          <p:cNvPr id="1163" name="Google Shape;1163;g3ee9487a86e_0_32"/>
          <p:cNvSpPr/>
          <p:nvPr/>
        </p:nvSpPr>
        <p:spPr>
          <a:xfrm>
            <a:off x="6173808" y="3163824"/>
            <a:ext cx="5579400" cy="1920300"/>
          </a:xfrm>
          <a:prstGeom prst="rect">
            <a:avLst/>
          </a:prstGeom>
          <a:solidFill>
            <a:srgbClr val="1E293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64" name="Google Shape;1164;g3ee9487a86e_0_32"/>
          <p:cNvSpPr txBox="1"/>
          <p:nvPr/>
        </p:nvSpPr>
        <p:spPr>
          <a:xfrm>
            <a:off x="6320150" y="3273552"/>
            <a:ext cx="5323200" cy="1744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ko-KR" sz="900" u="none" cap="none" strike="noStrike">
                <a:solidFill>
                  <a:srgbClr val="7DD3FC"/>
                </a:solidFill>
                <a:latin typeface="Calibri"/>
                <a:ea typeface="Calibri"/>
                <a:cs typeface="Calibri"/>
                <a:sym typeface="Calibri"/>
              </a:rPr>
              <a:t>void LangFactory::bindAndCheck(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00"/>
              <a:buFont typeface="Arial"/>
              <a:buNone/>
            </a:pPr>
            <a:r>
              <a:rPr b="0" i="0" lang="ko-KR" sz="900" u="none" cap="none" strike="noStrike">
                <a:solidFill>
                  <a:srgbClr val="CBD5E1"/>
                </a:solidFill>
                <a:latin typeface="Calibri"/>
                <a:ea typeface="Calibri"/>
                <a:cs typeface="Calibri"/>
                <a:sym typeface="Calibri"/>
              </a:rPr>
              <a:t>        const vector&lt;StmtPtr&gt;&amp; stmts)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00"/>
              <a:buFont typeface="Arial"/>
              <a:buNone/>
            </a:pPr>
            <a:r>
              <a:rPr b="0" i="0" lang="ko-KR" sz="900" u="none" cap="none" strike="noStrike">
                <a:solidFill>
                  <a:srgbClr val="7DD3FC"/>
                </a:solidFill>
                <a:latin typeface="Calibri"/>
                <a:ea typeface="Calibri"/>
                <a:cs typeface="Calibri"/>
                <a:sym typeface="Calibri"/>
              </a:rPr>
              <a:t>    Resolver   resolver;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00"/>
              <a:buFont typeface="Arial"/>
              <a:buNone/>
            </a:pPr>
            <a:r>
              <a:rPr b="0" i="0" lang="ko-KR" sz="900" u="none" cap="none" strike="noStrike">
                <a:solidFill>
                  <a:srgbClr val="7DD3FC"/>
                </a:solidFill>
                <a:latin typeface="Calibri"/>
                <a:ea typeface="Calibri"/>
                <a:cs typeface="Calibri"/>
                <a:sym typeface="Calibri"/>
              </a:rPr>
              <a:t>    BindingMap bindings = resolver.resolve(stmts);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00"/>
              <a:buFont typeface="Arial"/>
              <a:buNone/>
            </a:pPr>
            <a:r>
              <a:rPr b="0" i="0" lang="ko-KR" sz="900" u="none" cap="none" strike="noStrike">
                <a:solidFill>
                  <a:srgbClr val="CBD5E1"/>
                </a:solidFill>
                <a:latin typeface="Calibri"/>
                <a:ea typeface="Calibri"/>
                <a:cs typeface="Calibri"/>
                <a:sym typeface="Calibri"/>
              </a:rPr>
              <a:t>    m_interpreter-&gt;setBindings(&amp;bindings);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00"/>
              <a:buFont typeface="Arial"/>
              <a:buNone/>
            </a:pPr>
            <a:r>
              <a:rPr b="0" i="0" lang="ko-KR" sz="900" u="none" cap="none" strike="noStrike">
                <a:solidFill>
                  <a:srgbClr val="7DD3FC"/>
                </a:solidFill>
                <a:latin typeface="Calibri"/>
                <a:ea typeface="Calibri"/>
                <a:cs typeface="Calibri"/>
                <a:sym typeface="Calibri"/>
              </a:rPr>
              <a:t>    struct Guard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00"/>
              <a:buFont typeface="Arial"/>
              <a:buNone/>
            </a:pPr>
            <a:r>
              <a:rPr b="0" i="0" lang="ko-KR" sz="900" u="none" cap="none" strike="noStrike">
                <a:solidFill>
                  <a:srgbClr val="7DD3FC"/>
                </a:solidFill>
                <a:latin typeface="Calibri"/>
                <a:ea typeface="Calibri"/>
                <a:cs typeface="Calibri"/>
                <a:sym typeface="Calibri"/>
              </a:rPr>
              <a:t>        IInterpreter* 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00"/>
              <a:buFont typeface="Arial"/>
              <a:buNone/>
            </a:pPr>
            <a:r>
              <a:rPr b="0" i="0" lang="ko-KR" sz="900" u="none" cap="none" strike="noStrike">
                <a:solidFill>
                  <a:srgbClr val="CBD5E1"/>
                </a:solidFill>
                <a:latin typeface="Calibri"/>
                <a:ea typeface="Calibri"/>
                <a:cs typeface="Calibri"/>
                <a:sym typeface="Calibri"/>
              </a:rPr>
              <a:t>        ~Guard() { p-&gt;setBindings(nullptr);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00"/>
              <a:buFont typeface="Arial"/>
              <a:buNone/>
            </a:pPr>
            <a:r>
              <a:rPr b="0" i="0" lang="ko-KR" sz="900" u="none" cap="none" strike="noStrike">
                <a:solidFill>
                  <a:srgbClr val="CBD5E1"/>
                </a:solidFill>
                <a:latin typeface="Calibri"/>
                <a:ea typeface="Calibri"/>
                <a:cs typeface="Calibri"/>
                <a:sym typeface="Calibri"/>
              </a:rPr>
              <a:t>    } guard{ m_interpreter.get()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00"/>
              <a:buFont typeface="Arial"/>
              <a:buNone/>
            </a:pPr>
            <a:r>
              <a:rPr b="0" i="0" lang="ko-KR" sz="900" u="none" cap="none" strike="noStrike">
                <a:solidFill>
                  <a:srgbClr val="CBD5E1"/>
                </a:solidFill>
                <a:latin typeface="Calibri"/>
                <a:ea typeface="Calibri"/>
                <a:cs typeface="Calibri"/>
                <a:sym typeface="Calibri"/>
              </a:rPr>
              <a:t>    m_checker-&gt;check(stmts);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00"/>
              <a:buFont typeface="Arial"/>
              <a:buNone/>
            </a:pPr>
            <a:r>
              <a:rPr b="0" i="0" lang="ko-KR" sz="900" u="none" cap="none" strike="noStrike">
                <a:solidFill>
                  <a:srgbClr val="CBD5E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1165" name="Google Shape;1165;g3ee9487a86e_0_32"/>
          <p:cNvSpPr txBox="1"/>
          <p:nvPr/>
        </p:nvSpPr>
        <p:spPr>
          <a:xfrm>
            <a:off x="6246979" y="5120640"/>
            <a:ext cx="5469600" cy="238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50"/>
              <a:buFont typeface="Arial"/>
              <a:buNone/>
            </a:pPr>
            <a:r>
              <a:rPr b="0" i="0" lang="ko-KR" sz="950" u="none" cap="none" strike="noStrike">
                <a:solidFill>
                  <a:srgbClr val="15803D"/>
                </a:solidFill>
                <a:latin typeface="Calibri"/>
                <a:ea typeface="Calibri"/>
                <a:cs typeface="Calibri"/>
                <a:sym typeface="Calibri"/>
              </a:rPr>
              <a:t>✅ 정상·예외 모든 경로에서 포인터 해제 보장, UB 원천 차단</a:t>
            </a:r>
            <a:endParaRPr b="0" i="0" sz="1400" u="none" cap="none" strike="noStrike">
              <a:solidFill>
                <a:srgbClr val="000000"/>
              </a:solidFill>
              <a:latin typeface="Arial"/>
              <a:ea typeface="Arial"/>
              <a:cs typeface="Arial"/>
              <a:sym typeface="Arial"/>
            </a:endParaRPr>
          </a:p>
        </p:txBody>
      </p:sp>
      <p:sp>
        <p:nvSpPr>
          <p:cNvPr id="1166" name="Google Shape;1166;g3ee9487a86e_0_32"/>
          <p:cNvSpPr/>
          <p:nvPr/>
        </p:nvSpPr>
        <p:spPr>
          <a:xfrm>
            <a:off x="347563" y="5413248"/>
            <a:ext cx="11496900" cy="27300"/>
          </a:xfrm>
          <a:prstGeom prst="rect">
            <a:avLst/>
          </a:prstGeom>
          <a:solidFill>
            <a:srgbClr val="E2E8F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67" name="Google Shape;1167;g3ee9487a86e_0_32"/>
          <p:cNvSpPr/>
          <p:nvPr/>
        </p:nvSpPr>
        <p:spPr>
          <a:xfrm>
            <a:off x="347563" y="5486400"/>
            <a:ext cx="3548700" cy="1280100"/>
          </a:xfrm>
          <a:prstGeom prst="rect">
            <a:avLst/>
          </a:prstGeom>
          <a:solidFill>
            <a:srgbClr val="FFFFFF"/>
          </a:solidFill>
          <a:ln cap="flat" cmpd="sng" w="9525">
            <a:solidFill>
              <a:srgbClr val="E2E8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68" name="Google Shape;1168;g3ee9487a86e_0_32"/>
          <p:cNvSpPr/>
          <p:nvPr/>
        </p:nvSpPr>
        <p:spPr>
          <a:xfrm>
            <a:off x="347563" y="5486400"/>
            <a:ext cx="3548700" cy="36600"/>
          </a:xfrm>
          <a:prstGeom prst="rect">
            <a:avLst/>
          </a:prstGeom>
          <a:solidFill>
            <a:srgbClr val="4F46E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69" name="Google Shape;1169;g3ee9487a86e_0_32"/>
          <p:cNvSpPr txBox="1"/>
          <p:nvPr/>
        </p:nvSpPr>
        <p:spPr>
          <a:xfrm>
            <a:off x="475612" y="5614416"/>
            <a:ext cx="3292800" cy="292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300"/>
              <a:buFont typeface="Arial"/>
              <a:buNone/>
            </a:pPr>
            <a:r>
              <a:rPr b="1" i="0" lang="ko-KR" sz="1300" u="none" cap="none" strike="noStrike">
                <a:solidFill>
                  <a:srgbClr val="0F172A"/>
                </a:solidFill>
                <a:latin typeface="Calibri"/>
                <a:ea typeface="Calibri"/>
                <a:cs typeface="Calibri"/>
                <a:sym typeface="Calibri"/>
              </a:rPr>
              <a:t>버그 유형</a:t>
            </a:r>
            <a:endParaRPr b="0" i="0" sz="1400" u="none" cap="none" strike="noStrike">
              <a:solidFill>
                <a:srgbClr val="000000"/>
              </a:solidFill>
              <a:latin typeface="Arial"/>
              <a:ea typeface="Arial"/>
              <a:cs typeface="Arial"/>
              <a:sym typeface="Arial"/>
            </a:endParaRPr>
          </a:p>
        </p:txBody>
      </p:sp>
      <p:sp>
        <p:nvSpPr>
          <p:cNvPr id="1170" name="Google Shape;1170;g3ee9487a86e_0_32"/>
          <p:cNvSpPr/>
          <p:nvPr/>
        </p:nvSpPr>
        <p:spPr>
          <a:xfrm>
            <a:off x="530490" y="5925312"/>
            <a:ext cx="3183000" cy="18300"/>
          </a:xfrm>
          <a:prstGeom prst="rect">
            <a:avLst/>
          </a:prstGeom>
          <a:solidFill>
            <a:srgbClr val="E2E8F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71" name="Google Shape;1171;g3ee9487a86e_0_32"/>
          <p:cNvSpPr txBox="1"/>
          <p:nvPr/>
        </p:nvSpPr>
        <p:spPr>
          <a:xfrm>
            <a:off x="475612" y="5980176"/>
            <a:ext cx="3292800" cy="415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50"/>
              <a:buFont typeface="Arial"/>
              <a:buNone/>
            </a:pPr>
            <a:r>
              <a:rPr b="0" i="0" lang="ko-KR" sz="1050" u="none" cap="none" strike="noStrike">
                <a:solidFill>
                  <a:srgbClr val="475569"/>
                </a:solidFill>
                <a:latin typeface="Calibri"/>
                <a:ea typeface="Calibri"/>
                <a:cs typeface="Calibri"/>
                <a:sym typeface="Calibri"/>
              </a:rPr>
              <a:t>스택 변수 포인터를 외부 객체에 전달 후</a:t>
            </a:r>
            <a:br>
              <a:rPr b="0" i="0" lang="ko-KR" sz="1050" u="none" cap="none" strike="noStrike">
                <a:solidFill>
                  <a:srgbClr val="475569"/>
                </a:solidFill>
                <a:latin typeface="Calibri"/>
                <a:ea typeface="Calibri"/>
                <a:cs typeface="Calibri"/>
                <a:sym typeface="Calibri"/>
              </a:rPr>
            </a:br>
            <a:r>
              <a:rPr b="0" i="0" lang="ko-KR" sz="1050" u="none" cap="none" strike="noStrike">
                <a:solidFill>
                  <a:srgbClr val="475569"/>
                </a:solidFill>
                <a:latin typeface="Calibri"/>
                <a:ea typeface="Calibri"/>
                <a:cs typeface="Calibri"/>
                <a:sym typeface="Calibri"/>
              </a:rPr>
              <a:t>예외 경로에서 미해제 → Dangling Pointer</a:t>
            </a:r>
            <a:endParaRPr b="0" i="0" sz="1400" u="none" cap="none" strike="noStrike">
              <a:solidFill>
                <a:srgbClr val="000000"/>
              </a:solidFill>
              <a:latin typeface="Arial"/>
              <a:ea typeface="Arial"/>
              <a:cs typeface="Arial"/>
              <a:sym typeface="Arial"/>
            </a:endParaRPr>
          </a:p>
        </p:txBody>
      </p:sp>
      <p:sp>
        <p:nvSpPr>
          <p:cNvPr id="1172" name="Google Shape;1172;g3ee9487a86e_0_32"/>
          <p:cNvSpPr/>
          <p:nvPr/>
        </p:nvSpPr>
        <p:spPr>
          <a:xfrm>
            <a:off x="4079286" y="5486400"/>
            <a:ext cx="3548700" cy="1280100"/>
          </a:xfrm>
          <a:prstGeom prst="rect">
            <a:avLst/>
          </a:prstGeom>
          <a:solidFill>
            <a:srgbClr val="FFFFFF"/>
          </a:solidFill>
          <a:ln cap="flat" cmpd="sng" w="9525">
            <a:solidFill>
              <a:srgbClr val="E2E8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73" name="Google Shape;1173;g3ee9487a86e_0_32"/>
          <p:cNvSpPr/>
          <p:nvPr/>
        </p:nvSpPr>
        <p:spPr>
          <a:xfrm>
            <a:off x="4079286" y="5486400"/>
            <a:ext cx="3548700" cy="36600"/>
          </a:xfrm>
          <a:prstGeom prst="rect">
            <a:avLst/>
          </a:prstGeom>
          <a:solidFill>
            <a:srgbClr val="4F46E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74" name="Google Shape;1174;g3ee9487a86e_0_32"/>
          <p:cNvSpPr txBox="1"/>
          <p:nvPr/>
        </p:nvSpPr>
        <p:spPr>
          <a:xfrm>
            <a:off x="4207336" y="5614416"/>
            <a:ext cx="3292800" cy="292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300"/>
              <a:buFont typeface="Arial"/>
              <a:buNone/>
            </a:pPr>
            <a:r>
              <a:rPr b="1" i="0" lang="ko-KR" sz="1300" u="none" cap="none" strike="noStrike">
                <a:solidFill>
                  <a:srgbClr val="0F172A"/>
                </a:solidFill>
                <a:latin typeface="Calibri"/>
                <a:ea typeface="Calibri"/>
                <a:cs typeface="Calibri"/>
                <a:sym typeface="Calibri"/>
              </a:rPr>
              <a:t>RAII 적용 효과</a:t>
            </a:r>
            <a:endParaRPr b="0" i="0" sz="1400" u="none" cap="none" strike="noStrike">
              <a:solidFill>
                <a:srgbClr val="000000"/>
              </a:solidFill>
              <a:latin typeface="Arial"/>
              <a:ea typeface="Arial"/>
              <a:cs typeface="Arial"/>
              <a:sym typeface="Arial"/>
            </a:endParaRPr>
          </a:p>
        </p:txBody>
      </p:sp>
      <p:sp>
        <p:nvSpPr>
          <p:cNvPr id="1175" name="Google Shape;1175;g3ee9487a86e_0_32"/>
          <p:cNvSpPr/>
          <p:nvPr/>
        </p:nvSpPr>
        <p:spPr>
          <a:xfrm>
            <a:off x="4262214" y="5925312"/>
            <a:ext cx="3183000" cy="18300"/>
          </a:xfrm>
          <a:prstGeom prst="rect">
            <a:avLst/>
          </a:prstGeom>
          <a:solidFill>
            <a:srgbClr val="E2E8F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76" name="Google Shape;1176;g3ee9487a86e_0_32"/>
          <p:cNvSpPr txBox="1"/>
          <p:nvPr/>
        </p:nvSpPr>
        <p:spPr>
          <a:xfrm>
            <a:off x="4207336" y="5980176"/>
            <a:ext cx="3292800" cy="415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50"/>
              <a:buFont typeface="Arial"/>
              <a:buNone/>
            </a:pPr>
            <a:r>
              <a:rPr b="0" i="0" lang="ko-KR" sz="1050" u="none" cap="none" strike="noStrike">
                <a:solidFill>
                  <a:srgbClr val="475569"/>
                </a:solidFill>
                <a:latin typeface="Calibri"/>
                <a:ea typeface="Calibri"/>
                <a:cs typeface="Calibri"/>
                <a:sym typeface="Calibri"/>
              </a:rPr>
              <a:t>소멸자가 정상·예외 경로를 모두 보장</a:t>
            </a:r>
            <a:br>
              <a:rPr b="0" i="0" lang="ko-KR" sz="1050" u="none" cap="none" strike="noStrike">
                <a:solidFill>
                  <a:srgbClr val="475569"/>
                </a:solidFill>
                <a:latin typeface="Calibri"/>
                <a:ea typeface="Calibri"/>
                <a:cs typeface="Calibri"/>
                <a:sym typeface="Calibri"/>
              </a:rPr>
            </a:br>
            <a:r>
              <a:rPr b="0" i="0" lang="ko-KR" sz="1050" u="none" cap="none" strike="noStrike">
                <a:solidFill>
                  <a:srgbClr val="475569"/>
                </a:solidFill>
                <a:latin typeface="Calibri"/>
                <a:ea typeface="Calibri"/>
                <a:cs typeface="Calibri"/>
                <a:sym typeface="Calibri"/>
              </a:rPr>
              <a:t>코드 2줄 추가로 Exception Safety 확보</a:t>
            </a:r>
            <a:endParaRPr b="0" i="0" sz="1400" u="none" cap="none" strike="noStrike">
              <a:solidFill>
                <a:srgbClr val="000000"/>
              </a:solidFill>
              <a:latin typeface="Arial"/>
              <a:ea typeface="Arial"/>
              <a:cs typeface="Arial"/>
              <a:sym typeface="Arial"/>
            </a:endParaRPr>
          </a:p>
        </p:txBody>
      </p:sp>
      <p:sp>
        <p:nvSpPr>
          <p:cNvPr id="1177" name="Google Shape;1177;g3ee9487a86e_0_32"/>
          <p:cNvSpPr/>
          <p:nvPr/>
        </p:nvSpPr>
        <p:spPr>
          <a:xfrm>
            <a:off x="7811010" y="5486400"/>
            <a:ext cx="3548700" cy="1280100"/>
          </a:xfrm>
          <a:prstGeom prst="rect">
            <a:avLst/>
          </a:prstGeom>
          <a:solidFill>
            <a:srgbClr val="FFFFFF"/>
          </a:solidFill>
          <a:ln cap="flat" cmpd="sng" w="9525">
            <a:solidFill>
              <a:srgbClr val="E2E8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78" name="Google Shape;1178;g3ee9487a86e_0_32"/>
          <p:cNvSpPr/>
          <p:nvPr/>
        </p:nvSpPr>
        <p:spPr>
          <a:xfrm>
            <a:off x="7811010" y="5486400"/>
            <a:ext cx="3548700" cy="36600"/>
          </a:xfrm>
          <a:prstGeom prst="rect">
            <a:avLst/>
          </a:prstGeom>
          <a:solidFill>
            <a:srgbClr val="4F46E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79" name="Google Shape;1179;g3ee9487a86e_0_32"/>
          <p:cNvSpPr txBox="1"/>
          <p:nvPr/>
        </p:nvSpPr>
        <p:spPr>
          <a:xfrm>
            <a:off x="7939059" y="5614416"/>
            <a:ext cx="3292800" cy="292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300"/>
              <a:buFont typeface="Arial"/>
              <a:buNone/>
            </a:pPr>
            <a:r>
              <a:rPr b="1" i="0" lang="ko-KR" sz="1300" u="none" cap="none" strike="noStrike">
                <a:solidFill>
                  <a:srgbClr val="0F172A"/>
                </a:solidFill>
                <a:latin typeface="Calibri"/>
                <a:ea typeface="Calibri"/>
                <a:cs typeface="Calibri"/>
                <a:sym typeface="Calibri"/>
              </a:rPr>
              <a:t>학습 포인트</a:t>
            </a:r>
            <a:endParaRPr b="0" i="0" sz="1400" u="none" cap="none" strike="noStrike">
              <a:solidFill>
                <a:srgbClr val="000000"/>
              </a:solidFill>
              <a:latin typeface="Arial"/>
              <a:ea typeface="Arial"/>
              <a:cs typeface="Arial"/>
              <a:sym typeface="Arial"/>
            </a:endParaRPr>
          </a:p>
        </p:txBody>
      </p:sp>
      <p:sp>
        <p:nvSpPr>
          <p:cNvPr id="1180" name="Google Shape;1180;g3ee9487a86e_0_32"/>
          <p:cNvSpPr/>
          <p:nvPr/>
        </p:nvSpPr>
        <p:spPr>
          <a:xfrm>
            <a:off x="7993938" y="5925312"/>
            <a:ext cx="3183000" cy="18300"/>
          </a:xfrm>
          <a:prstGeom prst="rect">
            <a:avLst/>
          </a:prstGeom>
          <a:solidFill>
            <a:srgbClr val="E2E8F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81" name="Google Shape;1181;g3ee9487a86e_0_32"/>
          <p:cNvSpPr txBox="1"/>
          <p:nvPr/>
        </p:nvSpPr>
        <p:spPr>
          <a:xfrm>
            <a:off x="7939059" y="5980176"/>
            <a:ext cx="3292800" cy="415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50"/>
              <a:buFont typeface="Arial"/>
              <a:buNone/>
            </a:pPr>
            <a:r>
              <a:rPr b="0" i="0" lang="ko-KR" sz="1050" u="none" cap="none" strike="noStrike">
                <a:solidFill>
                  <a:srgbClr val="475569"/>
                </a:solidFill>
                <a:latin typeface="Calibri"/>
                <a:ea typeface="Calibri"/>
                <a:cs typeface="Calibri"/>
                <a:sym typeface="Calibri"/>
              </a:rPr>
              <a:t>스택 변수 포인터를 외부에 줄 때</a:t>
            </a:r>
            <a:br>
              <a:rPr b="0" i="0" lang="ko-KR" sz="1050" u="none" cap="none" strike="noStrike">
                <a:solidFill>
                  <a:srgbClr val="475569"/>
                </a:solidFill>
                <a:latin typeface="Calibri"/>
                <a:ea typeface="Calibri"/>
                <a:cs typeface="Calibri"/>
                <a:sym typeface="Calibri"/>
              </a:rPr>
            </a:br>
            <a:r>
              <a:rPr b="0" i="0" lang="ko-KR" sz="1050" u="none" cap="none" strike="noStrike">
                <a:solidFill>
                  <a:srgbClr val="475569"/>
                </a:solidFill>
                <a:latin typeface="Calibri"/>
                <a:ea typeface="Calibri"/>
                <a:cs typeface="Calibri"/>
                <a:sym typeface="Calibri"/>
              </a:rPr>
              <a:t>반드시 RAII 가드로 생명주기 동기화</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5" name="Shape 1185"/>
        <p:cNvGrpSpPr/>
        <p:nvPr/>
      </p:nvGrpSpPr>
      <p:grpSpPr>
        <a:xfrm>
          <a:off x="0" y="0"/>
          <a:ext cx="0" cy="0"/>
          <a:chOff x="0" y="0"/>
          <a:chExt cx="0" cy="0"/>
        </a:xfrm>
      </p:grpSpPr>
      <p:sp>
        <p:nvSpPr>
          <p:cNvPr id="1186" name="Google Shape;1186;g3ee9487a86e_0_82"/>
          <p:cNvSpPr/>
          <p:nvPr/>
        </p:nvSpPr>
        <p:spPr>
          <a:xfrm>
            <a:off x="0" y="0"/>
            <a:ext cx="12192000" cy="6858000"/>
          </a:xfrm>
          <a:prstGeom prst="rect">
            <a:avLst/>
          </a:prstGeom>
          <a:solidFill>
            <a:srgbClr val="F8FAF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87" name="Google Shape;1187;g3ee9487a86e_0_82"/>
          <p:cNvSpPr/>
          <p:nvPr/>
        </p:nvSpPr>
        <p:spPr>
          <a:xfrm>
            <a:off x="0" y="0"/>
            <a:ext cx="12192000" cy="987600"/>
          </a:xfrm>
          <a:prstGeom prst="rect">
            <a:avLst/>
          </a:prstGeom>
          <a:solidFill>
            <a:srgbClr val="4338C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88" name="Google Shape;1188;g3ee9487a86e_0_82"/>
          <p:cNvSpPr/>
          <p:nvPr/>
        </p:nvSpPr>
        <p:spPr>
          <a:xfrm>
            <a:off x="0" y="950976"/>
            <a:ext cx="12192000" cy="36600"/>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89" name="Google Shape;1189;g3ee9487a86e_0_82"/>
          <p:cNvSpPr/>
          <p:nvPr/>
        </p:nvSpPr>
        <p:spPr>
          <a:xfrm>
            <a:off x="365855" y="228600"/>
            <a:ext cx="914700" cy="420600"/>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90" name="Google Shape;1190;g3ee9487a86e_0_82"/>
          <p:cNvSpPr txBox="1"/>
          <p:nvPr/>
        </p:nvSpPr>
        <p:spPr>
          <a:xfrm>
            <a:off x="365855" y="228600"/>
            <a:ext cx="914700" cy="292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300"/>
              <a:buFont typeface="Arial"/>
              <a:buNone/>
            </a:pPr>
            <a:r>
              <a:rPr b="1" i="0" lang="ko-KR" sz="1300" u="none" cap="none" strike="noStrike">
                <a:solidFill>
                  <a:srgbClr val="4F46E5"/>
                </a:solidFill>
                <a:latin typeface="Calibri"/>
                <a:ea typeface="Calibri"/>
                <a:cs typeface="Calibri"/>
                <a:sym typeface="Calibri"/>
              </a:rPr>
              <a:t>PR #2</a:t>
            </a:r>
            <a:endParaRPr b="0" i="0" sz="1400" u="none" cap="none" strike="noStrike">
              <a:solidFill>
                <a:srgbClr val="000000"/>
              </a:solidFill>
              <a:latin typeface="Arial"/>
              <a:ea typeface="Arial"/>
              <a:cs typeface="Arial"/>
              <a:sym typeface="Arial"/>
            </a:endParaRPr>
          </a:p>
        </p:txBody>
      </p:sp>
      <p:sp>
        <p:nvSpPr>
          <p:cNvPr id="1191" name="Google Shape;1191;g3ee9487a86e_0_82"/>
          <p:cNvSpPr txBox="1"/>
          <p:nvPr/>
        </p:nvSpPr>
        <p:spPr>
          <a:xfrm>
            <a:off x="1445128" y="146304"/>
            <a:ext cx="8048700" cy="430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200"/>
              <a:buFont typeface="Arial"/>
              <a:buNone/>
            </a:pPr>
            <a:r>
              <a:rPr b="1" i="0" lang="ko-KR" sz="2200" u="none" cap="none" strike="noStrike">
                <a:solidFill>
                  <a:srgbClr val="FFFFFF"/>
                </a:solidFill>
                <a:latin typeface="Calibri"/>
                <a:ea typeface="Calibri"/>
                <a:cs typeface="Calibri"/>
                <a:sym typeface="Calibri"/>
              </a:rPr>
              <a:t>CR 02.  삼항 연산자 → Guard Clause 패턴으로 가독성 개선</a:t>
            </a:r>
            <a:endParaRPr b="0" i="0" sz="1400" u="none" cap="none" strike="noStrike">
              <a:solidFill>
                <a:srgbClr val="000000"/>
              </a:solidFill>
              <a:latin typeface="Arial"/>
              <a:ea typeface="Arial"/>
              <a:cs typeface="Arial"/>
              <a:sym typeface="Arial"/>
            </a:endParaRPr>
          </a:p>
        </p:txBody>
      </p:sp>
      <p:sp>
        <p:nvSpPr>
          <p:cNvPr id="1192" name="Google Shape;1192;g3ee9487a86e_0_82"/>
          <p:cNvSpPr txBox="1"/>
          <p:nvPr/>
        </p:nvSpPr>
        <p:spPr>
          <a:xfrm>
            <a:off x="1445128" y="658368"/>
            <a:ext cx="77745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ko-KR" sz="1100" u="none" cap="none" strike="noStrike">
                <a:solidFill>
                  <a:srgbClr val="C7D2FE"/>
                </a:solidFill>
                <a:latin typeface="Calibri"/>
                <a:ea typeface="Calibri"/>
                <a:cs typeface="Calibri"/>
                <a:sym typeface="Calibri"/>
              </a:rPr>
              <a:t>Interpreter::lookupBinding()   Reviewer: @ydh1305</a:t>
            </a:r>
            <a:endParaRPr b="0" i="0" sz="1400" u="none" cap="none" strike="noStrike">
              <a:solidFill>
                <a:srgbClr val="000000"/>
              </a:solidFill>
              <a:latin typeface="Arial"/>
              <a:ea typeface="Arial"/>
              <a:cs typeface="Arial"/>
              <a:sym typeface="Arial"/>
            </a:endParaRPr>
          </a:p>
        </p:txBody>
      </p:sp>
      <p:sp>
        <p:nvSpPr>
          <p:cNvPr id="1193" name="Google Shape;1193;g3ee9487a86e_0_82"/>
          <p:cNvSpPr/>
          <p:nvPr/>
        </p:nvSpPr>
        <p:spPr>
          <a:xfrm>
            <a:off x="9265285" y="237744"/>
            <a:ext cx="2561100" cy="402300"/>
          </a:xfrm>
          <a:prstGeom prst="rect">
            <a:avLst/>
          </a:prstGeom>
          <a:solidFill>
            <a:srgbClr val="FFFFFF"/>
          </a:solidFill>
          <a:ln cap="flat" cmpd="sng" w="9525">
            <a:solidFill>
              <a:srgbClr val="A5B4F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94" name="Google Shape;1194;g3ee9487a86e_0_82"/>
          <p:cNvSpPr txBox="1"/>
          <p:nvPr/>
        </p:nvSpPr>
        <p:spPr>
          <a:xfrm>
            <a:off x="9265285" y="237744"/>
            <a:ext cx="2561100" cy="4023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1" i="0" lang="ko-KR" sz="1100" u="none" cap="none" strike="noStrike">
                <a:solidFill>
                  <a:srgbClr val="4F46E5"/>
                </a:solidFill>
                <a:latin typeface="Calibri"/>
                <a:ea typeface="Calibri"/>
                <a:cs typeface="Calibri"/>
                <a:sym typeface="Calibri"/>
              </a:rPr>
              <a:t>코드 가독성 개선 (Guard Clause)</a:t>
            </a:r>
            <a:endParaRPr b="0" i="0" sz="1400" u="none" cap="none" strike="noStrike">
              <a:solidFill>
                <a:srgbClr val="000000"/>
              </a:solidFill>
              <a:latin typeface="Arial"/>
              <a:ea typeface="Arial"/>
              <a:cs typeface="Arial"/>
              <a:sym typeface="Arial"/>
            </a:endParaRPr>
          </a:p>
        </p:txBody>
      </p:sp>
      <p:sp>
        <p:nvSpPr>
          <p:cNvPr id="1195" name="Google Shape;1195;g3ee9487a86e_0_82"/>
          <p:cNvSpPr/>
          <p:nvPr/>
        </p:nvSpPr>
        <p:spPr>
          <a:xfrm>
            <a:off x="347563" y="1115568"/>
            <a:ext cx="11496900" cy="1536300"/>
          </a:xfrm>
          <a:prstGeom prst="rect">
            <a:avLst/>
          </a:prstGeom>
          <a:solidFill>
            <a:srgbClr val="EEF2FF"/>
          </a:solidFill>
          <a:ln cap="flat" cmpd="sng" w="12700">
            <a:solidFill>
              <a:srgbClr val="C7D2FE"/>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96" name="Google Shape;1196;g3ee9487a86e_0_82"/>
          <p:cNvSpPr/>
          <p:nvPr/>
        </p:nvSpPr>
        <p:spPr>
          <a:xfrm>
            <a:off x="347563" y="1115568"/>
            <a:ext cx="164700" cy="1536300"/>
          </a:xfrm>
          <a:prstGeom prst="rect">
            <a:avLst/>
          </a:prstGeom>
          <a:solidFill>
            <a:srgbClr val="4F46E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97" name="Google Shape;1197;g3ee9487a86e_0_82"/>
          <p:cNvSpPr/>
          <p:nvPr/>
        </p:nvSpPr>
        <p:spPr>
          <a:xfrm>
            <a:off x="621954" y="1225296"/>
            <a:ext cx="1371900" cy="255900"/>
          </a:xfrm>
          <a:prstGeom prst="rect">
            <a:avLst/>
          </a:prstGeom>
          <a:solidFill>
            <a:srgbClr val="1E293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98" name="Google Shape;1198;g3ee9487a86e_0_82"/>
          <p:cNvSpPr txBox="1"/>
          <p:nvPr/>
        </p:nvSpPr>
        <p:spPr>
          <a:xfrm>
            <a:off x="621954" y="1225296"/>
            <a:ext cx="13719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ko-KR" sz="1100" u="none" cap="none" strike="noStrike">
                <a:solidFill>
                  <a:srgbClr val="FFFFFF"/>
                </a:solidFill>
                <a:latin typeface="Calibri"/>
                <a:ea typeface="Calibri"/>
                <a:cs typeface="Calibri"/>
                <a:sym typeface="Calibri"/>
              </a:rPr>
              <a:t>💬  @ydh1305</a:t>
            </a:r>
            <a:endParaRPr b="0" i="0" sz="1400" u="none" cap="none" strike="noStrike">
              <a:solidFill>
                <a:srgbClr val="000000"/>
              </a:solidFill>
              <a:latin typeface="Arial"/>
              <a:ea typeface="Arial"/>
              <a:cs typeface="Arial"/>
              <a:sym typeface="Arial"/>
            </a:endParaRPr>
          </a:p>
        </p:txBody>
      </p:sp>
      <p:sp>
        <p:nvSpPr>
          <p:cNvPr id="1199" name="Google Shape;1199;g3ee9487a86e_0_82"/>
          <p:cNvSpPr/>
          <p:nvPr/>
        </p:nvSpPr>
        <p:spPr>
          <a:xfrm>
            <a:off x="2085375" y="1225296"/>
            <a:ext cx="1097700" cy="255900"/>
          </a:xfrm>
          <a:prstGeom prst="rect">
            <a:avLst/>
          </a:prstGeom>
          <a:solidFill>
            <a:srgbClr val="E2E8F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00" name="Google Shape;1200;g3ee9487a86e_0_82"/>
          <p:cNvSpPr txBox="1"/>
          <p:nvPr/>
        </p:nvSpPr>
        <p:spPr>
          <a:xfrm>
            <a:off x="2085375" y="1225296"/>
            <a:ext cx="10977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ko-KR" sz="1000" u="none" cap="none" strike="noStrike">
                <a:solidFill>
                  <a:srgbClr val="475569"/>
                </a:solidFill>
                <a:latin typeface="Calibri"/>
                <a:ea typeface="Calibri"/>
                <a:cs typeface="Calibri"/>
                <a:sym typeface="Calibri"/>
              </a:rPr>
              <a:t>Collaborator</a:t>
            </a:r>
            <a:endParaRPr b="0" i="0" sz="1400" u="none" cap="none" strike="noStrike">
              <a:solidFill>
                <a:srgbClr val="000000"/>
              </a:solidFill>
              <a:latin typeface="Arial"/>
              <a:ea typeface="Arial"/>
              <a:cs typeface="Arial"/>
              <a:sym typeface="Arial"/>
            </a:endParaRPr>
          </a:p>
        </p:txBody>
      </p:sp>
      <p:sp>
        <p:nvSpPr>
          <p:cNvPr id="1201" name="Google Shape;1201;g3ee9487a86e_0_82"/>
          <p:cNvSpPr/>
          <p:nvPr/>
        </p:nvSpPr>
        <p:spPr>
          <a:xfrm>
            <a:off x="621954" y="1554480"/>
            <a:ext cx="11058000" cy="18300"/>
          </a:xfrm>
          <a:prstGeom prst="rect">
            <a:avLst/>
          </a:prstGeom>
          <a:solidFill>
            <a:srgbClr val="C7D2F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02" name="Google Shape;1202;g3ee9487a86e_0_82"/>
          <p:cNvSpPr txBox="1"/>
          <p:nvPr/>
        </p:nvSpPr>
        <p:spPr>
          <a:xfrm>
            <a:off x="621954" y="1627632"/>
            <a:ext cx="110580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0" i="0" lang="ko-KR" sz="1300" u="none" cap="none" strike="noStrike">
                <a:solidFill>
                  <a:srgbClr val="334155"/>
                </a:solidFill>
                <a:latin typeface="Calibri"/>
                <a:ea typeface="Calibri"/>
                <a:cs typeface="Calibri"/>
                <a:sym typeface="Calibri"/>
              </a:rPr>
              <a:t>전체적으로 많은 작업하시느라 고생 많으셨습니다. Refactoring 수업 시간에 배웠던 Guard Clause 방식으로 구현하면 가독성이 더 좋을 것 같습니다. 실패 조건을 먼저 return하면 주 로직이 한 줄로 명확해집니다.</a:t>
            </a:r>
            <a:endParaRPr b="0" i="0" sz="1400" u="none" cap="none" strike="noStrike">
              <a:solidFill>
                <a:srgbClr val="000000"/>
              </a:solidFill>
              <a:latin typeface="Arial"/>
              <a:ea typeface="Arial"/>
              <a:cs typeface="Arial"/>
              <a:sym typeface="Arial"/>
            </a:endParaRPr>
          </a:p>
        </p:txBody>
      </p:sp>
      <p:sp>
        <p:nvSpPr>
          <p:cNvPr id="1203" name="Google Shape;1203;g3ee9487a86e_0_82"/>
          <p:cNvSpPr/>
          <p:nvPr/>
        </p:nvSpPr>
        <p:spPr>
          <a:xfrm>
            <a:off x="621954" y="2377440"/>
            <a:ext cx="11058000" cy="219600"/>
          </a:xfrm>
          <a:prstGeom prst="rect">
            <a:avLst/>
          </a:prstGeom>
          <a:solidFill>
            <a:srgbClr val="F5F3FF"/>
          </a:solidFill>
          <a:ln cap="flat" cmpd="sng" w="9525">
            <a:solidFill>
              <a:srgbClr val="A5B4F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04" name="Google Shape;1204;g3ee9487a86e_0_82"/>
          <p:cNvSpPr txBox="1"/>
          <p:nvPr/>
        </p:nvSpPr>
        <p:spPr>
          <a:xfrm>
            <a:off x="695125" y="2395728"/>
            <a:ext cx="10911600" cy="253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Arial"/>
              <a:buNone/>
            </a:pPr>
            <a:r>
              <a:rPr b="0" i="0" lang="ko-KR" sz="1050" u="none" cap="none" strike="noStrike">
                <a:solidFill>
                  <a:srgbClr val="4F46E5"/>
                </a:solidFill>
                <a:latin typeface="Calibri"/>
                <a:ea typeface="Calibri"/>
                <a:cs typeface="Calibri"/>
                <a:sym typeface="Calibri"/>
              </a:rPr>
              <a:t>💡  if (it == m_bindings-&gt;end()) return std::nullopt;   →   return it-&gt;second;</a:t>
            </a:r>
            <a:endParaRPr b="0" i="0" sz="1400" u="none" cap="none" strike="noStrike">
              <a:solidFill>
                <a:srgbClr val="000000"/>
              </a:solidFill>
              <a:latin typeface="Arial"/>
              <a:ea typeface="Arial"/>
              <a:cs typeface="Arial"/>
              <a:sym typeface="Arial"/>
            </a:endParaRPr>
          </a:p>
        </p:txBody>
      </p:sp>
      <p:sp>
        <p:nvSpPr>
          <p:cNvPr id="1205" name="Google Shape;1205;g3ee9487a86e_0_82"/>
          <p:cNvSpPr/>
          <p:nvPr/>
        </p:nvSpPr>
        <p:spPr>
          <a:xfrm>
            <a:off x="347563" y="2779776"/>
            <a:ext cx="5579400" cy="2304300"/>
          </a:xfrm>
          <a:prstGeom prst="rect">
            <a:avLst/>
          </a:prstGeom>
          <a:solidFill>
            <a:srgbClr val="FFF5F5"/>
          </a:solidFill>
          <a:ln cap="flat" cmpd="sng" w="9525">
            <a:solidFill>
              <a:srgbClr val="FECACA"/>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06" name="Google Shape;1206;g3ee9487a86e_0_82"/>
          <p:cNvSpPr/>
          <p:nvPr/>
        </p:nvSpPr>
        <p:spPr>
          <a:xfrm>
            <a:off x="347563" y="2779776"/>
            <a:ext cx="5579400" cy="384000"/>
          </a:xfrm>
          <a:prstGeom prst="rect">
            <a:avLst/>
          </a:prstGeom>
          <a:solidFill>
            <a:srgbClr val="B91C1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07" name="Google Shape;1207;g3ee9487a86e_0_82"/>
          <p:cNvSpPr txBox="1"/>
          <p:nvPr/>
        </p:nvSpPr>
        <p:spPr>
          <a:xfrm>
            <a:off x="475612" y="2825496"/>
            <a:ext cx="54147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ko-KR" sz="1200" u="none" cap="none" strike="noStrike">
                <a:solidFill>
                  <a:srgbClr val="FFFFFF"/>
                </a:solidFill>
                <a:latin typeface="Calibri"/>
                <a:ea typeface="Calibri"/>
                <a:cs typeface="Calibri"/>
                <a:sym typeface="Calibri"/>
              </a:rPr>
              <a:t>❌  Before  —  삼항 연산자 + 명시적 타입 (장황)</a:t>
            </a:r>
            <a:endParaRPr b="0" i="0" sz="1400" u="none" cap="none" strike="noStrike">
              <a:solidFill>
                <a:srgbClr val="000000"/>
              </a:solidFill>
              <a:latin typeface="Arial"/>
              <a:ea typeface="Arial"/>
              <a:cs typeface="Arial"/>
              <a:sym typeface="Arial"/>
            </a:endParaRPr>
          </a:p>
        </p:txBody>
      </p:sp>
      <p:sp>
        <p:nvSpPr>
          <p:cNvPr id="1208" name="Google Shape;1208;g3ee9487a86e_0_82"/>
          <p:cNvSpPr/>
          <p:nvPr/>
        </p:nvSpPr>
        <p:spPr>
          <a:xfrm>
            <a:off x="347563" y="3163824"/>
            <a:ext cx="5579400" cy="1920300"/>
          </a:xfrm>
          <a:prstGeom prst="rect">
            <a:avLst/>
          </a:prstGeom>
          <a:solidFill>
            <a:srgbClr val="1E293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09" name="Google Shape;1209;g3ee9487a86e_0_82"/>
          <p:cNvSpPr txBox="1"/>
          <p:nvPr/>
        </p:nvSpPr>
        <p:spPr>
          <a:xfrm>
            <a:off x="493905" y="3273552"/>
            <a:ext cx="5323200" cy="1593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ko-KR" sz="900" u="none" cap="none" strike="noStrike">
                <a:solidFill>
                  <a:srgbClr val="7DD3FC"/>
                </a:solidFill>
                <a:latin typeface="Calibri"/>
                <a:ea typeface="Calibri"/>
                <a:cs typeface="Calibri"/>
                <a:sym typeface="Calibri"/>
              </a:rPr>
              <a:t>std::optional&lt;int&gt;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00"/>
              <a:buFont typeface="Arial"/>
              <a:buNone/>
            </a:pPr>
            <a:r>
              <a:rPr b="0" i="0" lang="ko-KR" sz="900" u="none" cap="none" strike="noStrike">
                <a:solidFill>
                  <a:srgbClr val="CBD5E1"/>
                </a:solidFill>
                <a:latin typeface="Calibri"/>
                <a:ea typeface="Calibri"/>
                <a:cs typeface="Calibri"/>
                <a:sym typeface="Calibri"/>
              </a:rPr>
              <a:t>Interpreter::lookupBinding(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00"/>
              <a:buFont typeface="Arial"/>
              <a:buNone/>
            </a:pPr>
            <a:r>
              <a:rPr b="0" i="0" lang="ko-KR" sz="900" u="none" cap="none" strike="noStrike">
                <a:solidFill>
                  <a:srgbClr val="CBD5E1"/>
                </a:solidFill>
                <a:latin typeface="Calibri"/>
                <a:ea typeface="Calibri"/>
                <a:cs typeface="Calibri"/>
                <a:sym typeface="Calibri"/>
              </a:rPr>
              <a:t>        const Expr* expr) const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00"/>
              <a:buFont typeface="Arial"/>
              <a:buNone/>
            </a:pPr>
            <a:r>
              <a:rPr b="0" i="0" lang="ko-KR" sz="900" u="none" cap="none" strike="noStrike">
                <a:solidFill>
                  <a:srgbClr val="7DD3FC"/>
                </a:solidFill>
                <a:latin typeface="Calibri"/>
                <a:ea typeface="Calibri"/>
                <a:cs typeface="Calibri"/>
                <a:sym typeface="Calibri"/>
              </a:rPr>
              <a:t>    if (!m_bindings) return std::nullopt;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00"/>
              <a:buFont typeface="Arial"/>
              <a:buNone/>
            </a:pPr>
            <a:r>
              <a:rPr b="0" i="0" lang="ko-KR" sz="900" u="none" cap="none" strike="noStrike">
                <a:solidFill>
                  <a:srgbClr val="7DD3FC"/>
                </a:solidFill>
                <a:latin typeface="Calibri"/>
                <a:ea typeface="Calibri"/>
                <a:cs typeface="Calibri"/>
                <a:sym typeface="Calibri"/>
              </a:rPr>
              <a:t>    auto it = m_bindings-&gt;find(expr);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00"/>
              <a:buFont typeface="Arial"/>
              <a:buNone/>
            </a:pPr>
            <a:r>
              <a:rPr b="0" i="0" lang="ko-KR" sz="900" u="none" cap="none" strike="noStrike">
                <a:solidFill>
                  <a:srgbClr val="FBBF24"/>
                </a:solidFill>
                <a:latin typeface="Calibri"/>
                <a:ea typeface="Calibri"/>
                <a:cs typeface="Calibri"/>
                <a:sym typeface="Calibri"/>
              </a:rPr>
              <a:t>    // ← 조건 반전 + optional&lt;int&gt;{} 명시 장황</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00"/>
              <a:buFont typeface="Arial"/>
              <a:buNone/>
            </a:pPr>
            <a:r>
              <a:rPr b="0" i="0" lang="ko-KR" sz="900" u="none" cap="none" strike="noStrike">
                <a:solidFill>
                  <a:srgbClr val="7DD3FC"/>
                </a:solidFill>
                <a:latin typeface="Calibri"/>
                <a:ea typeface="Calibri"/>
                <a:cs typeface="Calibri"/>
                <a:sym typeface="Calibri"/>
              </a:rPr>
              <a:t>    return it != m_bindings-&gt;end()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00"/>
              <a:buFont typeface="Arial"/>
              <a:buNone/>
            </a:pPr>
            <a:r>
              <a:rPr b="0" i="0" lang="ko-KR" sz="900" u="none" cap="none" strike="noStrike">
                <a:solidFill>
                  <a:srgbClr val="CBD5E1"/>
                </a:solidFill>
                <a:latin typeface="Calibri"/>
                <a:ea typeface="Calibri"/>
                <a:cs typeface="Calibri"/>
                <a:sym typeface="Calibri"/>
              </a:rPr>
              <a:t>        ? std::optional&lt;int&gt;{it-&gt;second}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00"/>
              <a:buFont typeface="Arial"/>
              <a:buNone/>
            </a:pPr>
            <a:r>
              <a:rPr b="0" i="0" lang="ko-KR" sz="900" u="none" cap="none" strike="noStrike">
                <a:solidFill>
                  <a:srgbClr val="CBD5E1"/>
                </a:solidFill>
                <a:latin typeface="Calibri"/>
                <a:ea typeface="Calibri"/>
                <a:cs typeface="Calibri"/>
                <a:sym typeface="Calibri"/>
              </a:rPr>
              <a:t>        : std::nullopt;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00"/>
              <a:buFont typeface="Arial"/>
              <a:buNone/>
            </a:pPr>
            <a:r>
              <a:rPr b="0" i="0" lang="ko-KR" sz="900" u="none" cap="none" strike="noStrike">
                <a:solidFill>
                  <a:srgbClr val="CBD5E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1210" name="Google Shape;1210;g3ee9487a86e_0_82"/>
          <p:cNvSpPr txBox="1"/>
          <p:nvPr/>
        </p:nvSpPr>
        <p:spPr>
          <a:xfrm>
            <a:off x="420734" y="5120640"/>
            <a:ext cx="5469600" cy="238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50"/>
              <a:buFont typeface="Arial"/>
              <a:buNone/>
            </a:pPr>
            <a:r>
              <a:rPr b="0" i="0" lang="ko-KR" sz="950" u="none" cap="none" strike="noStrike">
                <a:solidFill>
                  <a:srgbClr val="B91C1C"/>
                </a:solidFill>
                <a:latin typeface="Calibri"/>
                <a:ea typeface="Calibri"/>
                <a:cs typeface="Calibri"/>
                <a:sym typeface="Calibri"/>
              </a:rPr>
              <a:t>⚠ 조건이 반전되어 독자가 의미를 역전해서 읽어야 함</a:t>
            </a:r>
            <a:endParaRPr b="0" i="0" sz="1400" u="none" cap="none" strike="noStrike">
              <a:solidFill>
                <a:srgbClr val="000000"/>
              </a:solidFill>
              <a:latin typeface="Arial"/>
              <a:ea typeface="Arial"/>
              <a:cs typeface="Arial"/>
              <a:sym typeface="Arial"/>
            </a:endParaRPr>
          </a:p>
        </p:txBody>
      </p:sp>
      <p:sp>
        <p:nvSpPr>
          <p:cNvPr id="1211" name="Google Shape;1211;g3ee9487a86e_0_82"/>
          <p:cNvSpPr/>
          <p:nvPr/>
        </p:nvSpPr>
        <p:spPr>
          <a:xfrm>
            <a:off x="6173808" y="2779776"/>
            <a:ext cx="5579400" cy="2304300"/>
          </a:xfrm>
          <a:prstGeom prst="rect">
            <a:avLst/>
          </a:prstGeom>
          <a:solidFill>
            <a:srgbClr val="F0FDF4"/>
          </a:solidFill>
          <a:ln cap="flat" cmpd="sng" w="9525">
            <a:solidFill>
              <a:srgbClr val="86EFA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12" name="Google Shape;1212;g3ee9487a86e_0_82"/>
          <p:cNvSpPr/>
          <p:nvPr/>
        </p:nvSpPr>
        <p:spPr>
          <a:xfrm>
            <a:off x="6173808" y="2779776"/>
            <a:ext cx="5579400" cy="384000"/>
          </a:xfrm>
          <a:prstGeom prst="rect">
            <a:avLst/>
          </a:prstGeom>
          <a:solidFill>
            <a:srgbClr val="15803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13" name="Google Shape;1213;g3ee9487a86e_0_82"/>
          <p:cNvSpPr txBox="1"/>
          <p:nvPr/>
        </p:nvSpPr>
        <p:spPr>
          <a:xfrm>
            <a:off x="6301857" y="2825496"/>
            <a:ext cx="54147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ko-KR" sz="1200" u="none" cap="none" strike="noStrike">
                <a:solidFill>
                  <a:srgbClr val="FFFFFF"/>
                </a:solidFill>
                <a:latin typeface="Calibri"/>
                <a:ea typeface="Calibri"/>
                <a:cs typeface="Calibri"/>
                <a:sym typeface="Calibri"/>
              </a:rPr>
              <a:t>✅  After  —  Guard Clause 조기 반환 (간결)</a:t>
            </a:r>
            <a:endParaRPr b="0" i="0" sz="1400" u="none" cap="none" strike="noStrike">
              <a:solidFill>
                <a:srgbClr val="000000"/>
              </a:solidFill>
              <a:latin typeface="Arial"/>
              <a:ea typeface="Arial"/>
              <a:cs typeface="Arial"/>
              <a:sym typeface="Arial"/>
            </a:endParaRPr>
          </a:p>
        </p:txBody>
      </p:sp>
      <p:sp>
        <p:nvSpPr>
          <p:cNvPr id="1214" name="Google Shape;1214;g3ee9487a86e_0_82"/>
          <p:cNvSpPr/>
          <p:nvPr/>
        </p:nvSpPr>
        <p:spPr>
          <a:xfrm>
            <a:off x="6173808" y="3163824"/>
            <a:ext cx="5579400" cy="1920300"/>
          </a:xfrm>
          <a:prstGeom prst="rect">
            <a:avLst/>
          </a:prstGeom>
          <a:solidFill>
            <a:srgbClr val="1E293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15" name="Google Shape;1215;g3ee9487a86e_0_82"/>
          <p:cNvSpPr txBox="1"/>
          <p:nvPr/>
        </p:nvSpPr>
        <p:spPr>
          <a:xfrm>
            <a:off x="6320150" y="3273552"/>
            <a:ext cx="5323200" cy="1744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ko-KR" sz="900" u="none" cap="none" strike="noStrike">
                <a:solidFill>
                  <a:srgbClr val="7DD3FC"/>
                </a:solidFill>
                <a:latin typeface="Calibri"/>
                <a:ea typeface="Calibri"/>
                <a:cs typeface="Calibri"/>
                <a:sym typeface="Calibri"/>
              </a:rPr>
              <a:t>std::optional&lt;int&gt;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00"/>
              <a:buFont typeface="Arial"/>
              <a:buNone/>
            </a:pPr>
            <a:r>
              <a:rPr b="0" i="0" lang="ko-KR" sz="900" u="none" cap="none" strike="noStrike">
                <a:solidFill>
                  <a:srgbClr val="CBD5E1"/>
                </a:solidFill>
                <a:latin typeface="Calibri"/>
                <a:ea typeface="Calibri"/>
                <a:cs typeface="Calibri"/>
                <a:sym typeface="Calibri"/>
              </a:rPr>
              <a:t>Interpreter::lookupBinding(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00"/>
              <a:buFont typeface="Arial"/>
              <a:buNone/>
            </a:pPr>
            <a:r>
              <a:rPr b="0" i="0" lang="ko-KR" sz="900" u="none" cap="none" strike="noStrike">
                <a:solidFill>
                  <a:srgbClr val="CBD5E1"/>
                </a:solidFill>
                <a:latin typeface="Calibri"/>
                <a:ea typeface="Calibri"/>
                <a:cs typeface="Calibri"/>
                <a:sym typeface="Calibri"/>
              </a:rPr>
              <a:t>        const Expr* expr) const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00"/>
              <a:buFont typeface="Arial"/>
              <a:buNone/>
            </a:pPr>
            <a:r>
              <a:rPr b="0" i="0" lang="ko-KR" sz="900" u="none" cap="none" strike="noStrike">
                <a:solidFill>
                  <a:srgbClr val="7DD3FC"/>
                </a:solidFill>
                <a:latin typeface="Calibri"/>
                <a:ea typeface="Calibri"/>
                <a:cs typeface="Calibri"/>
                <a:sym typeface="Calibri"/>
              </a:rPr>
              <a:t>    if (!m_bindings) return std::nullopt;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00"/>
              <a:buFont typeface="Arial"/>
              <a:buNone/>
            </a:pPr>
            <a:r>
              <a:rPr b="0" i="0" lang="ko-KR" sz="900" u="none" cap="none" strike="noStrike">
                <a:solidFill>
                  <a:srgbClr val="7DD3FC"/>
                </a:solidFill>
                <a:latin typeface="Calibri"/>
                <a:ea typeface="Calibri"/>
                <a:cs typeface="Calibri"/>
                <a:sym typeface="Calibri"/>
              </a:rPr>
              <a:t>    auto it = m_bindings-&gt;find(expr);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00"/>
              <a:buFont typeface="Arial"/>
              <a:buNone/>
            </a:pPr>
            <a:r>
              <a:rPr b="0" i="0" lang="ko-KR" sz="900" u="none" cap="none" strike="noStrike">
                <a:solidFill>
                  <a:srgbClr val="64748B"/>
                </a:solidFill>
                <a:latin typeface="Calibri"/>
                <a:ea typeface="Calibri"/>
                <a:cs typeface="Calibri"/>
                <a:sym typeface="Calibri"/>
              </a:rPr>
              <a:t>    // Guard Clause: 실패 조건 선처리</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00"/>
              <a:buFont typeface="Arial"/>
              <a:buNone/>
            </a:pPr>
            <a:r>
              <a:rPr b="0" i="0" lang="ko-KR" sz="900" u="none" cap="none" strike="noStrike">
                <a:solidFill>
                  <a:srgbClr val="7DD3FC"/>
                </a:solidFill>
                <a:latin typeface="Calibri"/>
                <a:ea typeface="Calibri"/>
                <a:cs typeface="Calibri"/>
                <a:sym typeface="Calibri"/>
              </a:rPr>
              <a:t>    if (it == m_bindings-&gt;end())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00"/>
              <a:buFont typeface="Arial"/>
              <a:buNone/>
            </a:pPr>
            <a:r>
              <a:rPr b="0" i="0" lang="ko-KR" sz="900" u="none" cap="none" strike="noStrike">
                <a:solidFill>
                  <a:srgbClr val="7DD3FC"/>
                </a:solidFill>
                <a:latin typeface="Calibri"/>
                <a:ea typeface="Calibri"/>
                <a:cs typeface="Calibri"/>
                <a:sym typeface="Calibri"/>
              </a:rPr>
              <a:t>        return std::nullopt;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00"/>
              <a:buFont typeface="Arial"/>
              <a:buNone/>
            </a:pPr>
            <a:r>
              <a:rPr b="0" i="0" lang="ko-KR" sz="900" u="none" cap="none" strike="noStrike">
                <a:solidFill>
                  <a:srgbClr val="64748B"/>
                </a:solidFill>
                <a:latin typeface="Calibri"/>
                <a:ea typeface="Calibri"/>
                <a:cs typeface="Calibri"/>
                <a:sym typeface="Calibri"/>
              </a:rPr>
              <a:t>    // 성공 경로만 남아 의도 명확</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00"/>
              <a:buFont typeface="Arial"/>
              <a:buNone/>
            </a:pPr>
            <a:r>
              <a:rPr b="0" i="0" lang="ko-KR" sz="900" u="none" cap="none" strike="noStrike">
                <a:solidFill>
                  <a:srgbClr val="7DD3FC"/>
                </a:solidFill>
                <a:latin typeface="Calibri"/>
                <a:ea typeface="Calibri"/>
                <a:cs typeface="Calibri"/>
                <a:sym typeface="Calibri"/>
              </a:rPr>
              <a:t>    return it-&gt;second;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900"/>
              <a:buFont typeface="Arial"/>
              <a:buNone/>
            </a:pPr>
            <a:r>
              <a:rPr b="0" i="0" lang="ko-KR" sz="900" u="none" cap="none" strike="noStrike">
                <a:solidFill>
                  <a:srgbClr val="CBD5E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1216" name="Google Shape;1216;g3ee9487a86e_0_82"/>
          <p:cNvSpPr txBox="1"/>
          <p:nvPr/>
        </p:nvSpPr>
        <p:spPr>
          <a:xfrm>
            <a:off x="6246979" y="5120640"/>
            <a:ext cx="5469600" cy="238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50"/>
              <a:buFont typeface="Arial"/>
              <a:buNone/>
            </a:pPr>
            <a:r>
              <a:rPr b="0" i="0" lang="ko-KR" sz="950" u="none" cap="none" strike="noStrike">
                <a:solidFill>
                  <a:srgbClr val="15803D"/>
                </a:solidFill>
                <a:latin typeface="Calibri"/>
                <a:ea typeface="Calibri"/>
                <a:cs typeface="Calibri"/>
                <a:sym typeface="Calibri"/>
              </a:rPr>
              <a:t>✅ 실패 경로 선처리 → 성공 로직 1줄, 수업 내용 팀 전체에 공유</a:t>
            </a:r>
            <a:endParaRPr b="0" i="0" sz="1400" u="none" cap="none" strike="noStrike">
              <a:solidFill>
                <a:srgbClr val="000000"/>
              </a:solidFill>
              <a:latin typeface="Arial"/>
              <a:ea typeface="Arial"/>
              <a:cs typeface="Arial"/>
              <a:sym typeface="Arial"/>
            </a:endParaRPr>
          </a:p>
        </p:txBody>
      </p:sp>
      <p:sp>
        <p:nvSpPr>
          <p:cNvPr id="1217" name="Google Shape;1217;g3ee9487a86e_0_82"/>
          <p:cNvSpPr/>
          <p:nvPr/>
        </p:nvSpPr>
        <p:spPr>
          <a:xfrm>
            <a:off x="347563" y="5413248"/>
            <a:ext cx="11496900" cy="27300"/>
          </a:xfrm>
          <a:prstGeom prst="rect">
            <a:avLst/>
          </a:prstGeom>
          <a:solidFill>
            <a:srgbClr val="E2E8F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18" name="Google Shape;1218;g3ee9487a86e_0_82"/>
          <p:cNvSpPr/>
          <p:nvPr/>
        </p:nvSpPr>
        <p:spPr>
          <a:xfrm>
            <a:off x="347563" y="5486400"/>
            <a:ext cx="3548700" cy="1280100"/>
          </a:xfrm>
          <a:prstGeom prst="rect">
            <a:avLst/>
          </a:prstGeom>
          <a:solidFill>
            <a:srgbClr val="FFFFFF"/>
          </a:solidFill>
          <a:ln cap="flat" cmpd="sng" w="9525">
            <a:solidFill>
              <a:srgbClr val="E2E8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19" name="Google Shape;1219;g3ee9487a86e_0_82"/>
          <p:cNvSpPr/>
          <p:nvPr/>
        </p:nvSpPr>
        <p:spPr>
          <a:xfrm>
            <a:off x="347563" y="5486400"/>
            <a:ext cx="3548700" cy="36600"/>
          </a:xfrm>
          <a:prstGeom prst="rect">
            <a:avLst/>
          </a:prstGeom>
          <a:solidFill>
            <a:srgbClr val="4F46E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20" name="Google Shape;1220;g3ee9487a86e_0_82"/>
          <p:cNvSpPr txBox="1"/>
          <p:nvPr/>
        </p:nvSpPr>
        <p:spPr>
          <a:xfrm>
            <a:off x="475612" y="5614416"/>
            <a:ext cx="3292800" cy="292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300"/>
              <a:buFont typeface="Arial"/>
              <a:buNone/>
            </a:pPr>
            <a:r>
              <a:rPr b="1" i="0" lang="ko-KR" sz="1300" u="none" cap="none" strike="noStrike">
                <a:solidFill>
                  <a:srgbClr val="0F172A"/>
                </a:solidFill>
                <a:latin typeface="Calibri"/>
                <a:ea typeface="Calibri"/>
                <a:cs typeface="Calibri"/>
                <a:sym typeface="Calibri"/>
              </a:rPr>
              <a:t>개선 유형</a:t>
            </a:r>
            <a:endParaRPr b="0" i="0" sz="1400" u="none" cap="none" strike="noStrike">
              <a:solidFill>
                <a:srgbClr val="000000"/>
              </a:solidFill>
              <a:latin typeface="Arial"/>
              <a:ea typeface="Arial"/>
              <a:cs typeface="Arial"/>
              <a:sym typeface="Arial"/>
            </a:endParaRPr>
          </a:p>
        </p:txBody>
      </p:sp>
      <p:sp>
        <p:nvSpPr>
          <p:cNvPr id="1221" name="Google Shape;1221;g3ee9487a86e_0_82"/>
          <p:cNvSpPr/>
          <p:nvPr/>
        </p:nvSpPr>
        <p:spPr>
          <a:xfrm>
            <a:off x="530490" y="5925312"/>
            <a:ext cx="3183000" cy="18300"/>
          </a:xfrm>
          <a:prstGeom prst="rect">
            <a:avLst/>
          </a:prstGeom>
          <a:solidFill>
            <a:srgbClr val="E2E8F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22" name="Google Shape;1222;g3ee9487a86e_0_82"/>
          <p:cNvSpPr txBox="1"/>
          <p:nvPr/>
        </p:nvSpPr>
        <p:spPr>
          <a:xfrm>
            <a:off x="475612" y="5980176"/>
            <a:ext cx="3292800" cy="415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50"/>
              <a:buFont typeface="Arial"/>
              <a:buNone/>
            </a:pPr>
            <a:r>
              <a:rPr b="0" i="0" lang="ko-KR" sz="1050" u="none" cap="none" strike="noStrike">
                <a:solidFill>
                  <a:srgbClr val="475569"/>
                </a:solidFill>
                <a:latin typeface="Calibri"/>
                <a:ea typeface="Calibri"/>
                <a:cs typeface="Calibri"/>
                <a:sym typeface="Calibri"/>
              </a:rPr>
              <a:t>삼항 연산자 → Guard Clause (Early Return)</a:t>
            </a:r>
            <a:br>
              <a:rPr b="0" i="0" lang="ko-KR" sz="1050" u="none" cap="none" strike="noStrike">
                <a:solidFill>
                  <a:srgbClr val="475569"/>
                </a:solidFill>
                <a:latin typeface="Calibri"/>
                <a:ea typeface="Calibri"/>
                <a:cs typeface="Calibri"/>
                <a:sym typeface="Calibri"/>
              </a:rPr>
            </a:br>
            <a:r>
              <a:rPr b="0" i="0" lang="ko-KR" sz="1050" u="none" cap="none" strike="noStrike">
                <a:solidFill>
                  <a:srgbClr val="475569"/>
                </a:solidFill>
                <a:latin typeface="Calibri"/>
                <a:ea typeface="Calibri"/>
                <a:cs typeface="Calibri"/>
                <a:sym typeface="Calibri"/>
              </a:rPr>
              <a:t>실패 조건을 먼저 처리해 주 경로를 단순화</a:t>
            </a:r>
            <a:endParaRPr b="0" i="0" sz="1400" u="none" cap="none" strike="noStrike">
              <a:solidFill>
                <a:srgbClr val="000000"/>
              </a:solidFill>
              <a:latin typeface="Arial"/>
              <a:ea typeface="Arial"/>
              <a:cs typeface="Arial"/>
              <a:sym typeface="Arial"/>
            </a:endParaRPr>
          </a:p>
        </p:txBody>
      </p:sp>
      <p:sp>
        <p:nvSpPr>
          <p:cNvPr id="1223" name="Google Shape;1223;g3ee9487a86e_0_82"/>
          <p:cNvSpPr/>
          <p:nvPr/>
        </p:nvSpPr>
        <p:spPr>
          <a:xfrm>
            <a:off x="4079286" y="5486400"/>
            <a:ext cx="3548700" cy="1280100"/>
          </a:xfrm>
          <a:prstGeom prst="rect">
            <a:avLst/>
          </a:prstGeom>
          <a:solidFill>
            <a:srgbClr val="FFFFFF"/>
          </a:solidFill>
          <a:ln cap="flat" cmpd="sng" w="9525">
            <a:solidFill>
              <a:srgbClr val="E2E8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24" name="Google Shape;1224;g3ee9487a86e_0_82"/>
          <p:cNvSpPr/>
          <p:nvPr/>
        </p:nvSpPr>
        <p:spPr>
          <a:xfrm>
            <a:off x="4079286" y="5486400"/>
            <a:ext cx="3548700" cy="36600"/>
          </a:xfrm>
          <a:prstGeom prst="rect">
            <a:avLst/>
          </a:prstGeom>
          <a:solidFill>
            <a:srgbClr val="4F46E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25" name="Google Shape;1225;g3ee9487a86e_0_82"/>
          <p:cNvSpPr txBox="1"/>
          <p:nvPr/>
        </p:nvSpPr>
        <p:spPr>
          <a:xfrm>
            <a:off x="4207336" y="5614416"/>
            <a:ext cx="3292800" cy="292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300"/>
              <a:buFont typeface="Arial"/>
              <a:buNone/>
            </a:pPr>
            <a:r>
              <a:rPr b="1" i="0" lang="ko-KR" sz="1300" u="none" cap="none" strike="noStrike">
                <a:solidFill>
                  <a:srgbClr val="0F172A"/>
                </a:solidFill>
                <a:latin typeface="Calibri"/>
                <a:ea typeface="Calibri"/>
                <a:cs typeface="Calibri"/>
                <a:sym typeface="Calibri"/>
              </a:rPr>
              <a:t>가독성 향상</a:t>
            </a:r>
            <a:endParaRPr b="0" i="0" sz="1400" u="none" cap="none" strike="noStrike">
              <a:solidFill>
                <a:srgbClr val="000000"/>
              </a:solidFill>
              <a:latin typeface="Arial"/>
              <a:ea typeface="Arial"/>
              <a:cs typeface="Arial"/>
              <a:sym typeface="Arial"/>
            </a:endParaRPr>
          </a:p>
        </p:txBody>
      </p:sp>
      <p:sp>
        <p:nvSpPr>
          <p:cNvPr id="1226" name="Google Shape;1226;g3ee9487a86e_0_82"/>
          <p:cNvSpPr/>
          <p:nvPr/>
        </p:nvSpPr>
        <p:spPr>
          <a:xfrm>
            <a:off x="4262214" y="5925312"/>
            <a:ext cx="3183000" cy="18300"/>
          </a:xfrm>
          <a:prstGeom prst="rect">
            <a:avLst/>
          </a:prstGeom>
          <a:solidFill>
            <a:srgbClr val="E2E8F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27" name="Google Shape;1227;g3ee9487a86e_0_82"/>
          <p:cNvSpPr txBox="1"/>
          <p:nvPr/>
        </p:nvSpPr>
        <p:spPr>
          <a:xfrm>
            <a:off x="4207336" y="5980176"/>
            <a:ext cx="3292800" cy="415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50"/>
              <a:buFont typeface="Arial"/>
              <a:buNone/>
            </a:pPr>
            <a:r>
              <a:rPr b="0" i="0" lang="ko-KR" sz="1050" u="none" cap="none" strike="noStrike">
                <a:solidFill>
                  <a:srgbClr val="475569"/>
                </a:solidFill>
                <a:latin typeface="Calibri"/>
                <a:ea typeface="Calibri"/>
                <a:cs typeface="Calibri"/>
                <a:sym typeface="Calibri"/>
              </a:rPr>
              <a:t>독자가 예외 경로를 먼저 읽고 건너뜀</a:t>
            </a:r>
            <a:br>
              <a:rPr b="0" i="0" lang="ko-KR" sz="1050" u="none" cap="none" strike="noStrike">
                <a:solidFill>
                  <a:srgbClr val="475569"/>
                </a:solidFill>
                <a:latin typeface="Calibri"/>
                <a:ea typeface="Calibri"/>
                <a:cs typeface="Calibri"/>
                <a:sym typeface="Calibri"/>
              </a:rPr>
            </a:br>
            <a:r>
              <a:rPr b="0" i="0" lang="ko-KR" sz="1050" u="none" cap="none" strike="noStrike">
                <a:solidFill>
                  <a:srgbClr val="475569"/>
                </a:solidFill>
                <a:latin typeface="Calibri"/>
                <a:ea typeface="Calibri"/>
                <a:cs typeface="Calibri"/>
                <a:sym typeface="Calibri"/>
              </a:rPr>
              <a:t>핵심 성공 로직이 마지막 1줄로 집중</a:t>
            </a:r>
            <a:endParaRPr b="0" i="0" sz="1400" u="none" cap="none" strike="noStrike">
              <a:solidFill>
                <a:srgbClr val="000000"/>
              </a:solidFill>
              <a:latin typeface="Arial"/>
              <a:ea typeface="Arial"/>
              <a:cs typeface="Arial"/>
              <a:sym typeface="Arial"/>
            </a:endParaRPr>
          </a:p>
        </p:txBody>
      </p:sp>
      <p:sp>
        <p:nvSpPr>
          <p:cNvPr id="1228" name="Google Shape;1228;g3ee9487a86e_0_82"/>
          <p:cNvSpPr/>
          <p:nvPr/>
        </p:nvSpPr>
        <p:spPr>
          <a:xfrm>
            <a:off x="7811010" y="5486400"/>
            <a:ext cx="3548700" cy="1280100"/>
          </a:xfrm>
          <a:prstGeom prst="rect">
            <a:avLst/>
          </a:prstGeom>
          <a:solidFill>
            <a:srgbClr val="FFFFFF"/>
          </a:solidFill>
          <a:ln cap="flat" cmpd="sng" w="9525">
            <a:solidFill>
              <a:srgbClr val="E2E8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29" name="Google Shape;1229;g3ee9487a86e_0_82"/>
          <p:cNvSpPr/>
          <p:nvPr/>
        </p:nvSpPr>
        <p:spPr>
          <a:xfrm>
            <a:off x="7811010" y="5486400"/>
            <a:ext cx="3548700" cy="36600"/>
          </a:xfrm>
          <a:prstGeom prst="rect">
            <a:avLst/>
          </a:prstGeom>
          <a:solidFill>
            <a:srgbClr val="4F46E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30" name="Google Shape;1230;g3ee9487a86e_0_82"/>
          <p:cNvSpPr txBox="1"/>
          <p:nvPr/>
        </p:nvSpPr>
        <p:spPr>
          <a:xfrm>
            <a:off x="7939059" y="5614416"/>
            <a:ext cx="3292800" cy="292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300"/>
              <a:buFont typeface="Arial"/>
              <a:buNone/>
            </a:pPr>
            <a:r>
              <a:rPr b="1" i="0" lang="ko-KR" sz="1300" u="none" cap="none" strike="noStrike">
                <a:solidFill>
                  <a:srgbClr val="0F172A"/>
                </a:solidFill>
                <a:latin typeface="Calibri"/>
                <a:ea typeface="Calibri"/>
                <a:cs typeface="Calibri"/>
                <a:sym typeface="Calibri"/>
              </a:rPr>
              <a:t>학습 포인트</a:t>
            </a:r>
            <a:endParaRPr b="0" i="0" sz="1400" u="none" cap="none" strike="noStrike">
              <a:solidFill>
                <a:srgbClr val="000000"/>
              </a:solidFill>
              <a:latin typeface="Arial"/>
              <a:ea typeface="Arial"/>
              <a:cs typeface="Arial"/>
              <a:sym typeface="Arial"/>
            </a:endParaRPr>
          </a:p>
        </p:txBody>
      </p:sp>
      <p:sp>
        <p:nvSpPr>
          <p:cNvPr id="1231" name="Google Shape;1231;g3ee9487a86e_0_82"/>
          <p:cNvSpPr/>
          <p:nvPr/>
        </p:nvSpPr>
        <p:spPr>
          <a:xfrm>
            <a:off x="7993938" y="5925312"/>
            <a:ext cx="3183000" cy="18300"/>
          </a:xfrm>
          <a:prstGeom prst="rect">
            <a:avLst/>
          </a:prstGeom>
          <a:solidFill>
            <a:srgbClr val="E2E8F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32" name="Google Shape;1232;g3ee9487a86e_0_82"/>
          <p:cNvSpPr txBox="1"/>
          <p:nvPr/>
        </p:nvSpPr>
        <p:spPr>
          <a:xfrm>
            <a:off x="7939059" y="5980176"/>
            <a:ext cx="3292800" cy="415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50"/>
              <a:buFont typeface="Arial"/>
              <a:buNone/>
            </a:pPr>
            <a:r>
              <a:rPr b="0" i="0" lang="ko-KR" sz="1050" u="none" cap="none" strike="noStrike">
                <a:solidFill>
                  <a:srgbClr val="475569"/>
                </a:solidFill>
                <a:latin typeface="Calibri"/>
                <a:ea typeface="Calibri"/>
                <a:cs typeface="Calibri"/>
                <a:sym typeface="Calibri"/>
              </a:rPr>
              <a:t>수업에서 배운 Guard Clause를 실제 PR에서</a:t>
            </a:r>
            <a:br>
              <a:rPr b="0" i="0" lang="ko-KR" sz="1050" u="none" cap="none" strike="noStrike">
                <a:solidFill>
                  <a:srgbClr val="475569"/>
                </a:solidFill>
                <a:latin typeface="Calibri"/>
                <a:ea typeface="Calibri"/>
                <a:cs typeface="Calibri"/>
                <a:sym typeface="Calibri"/>
              </a:rPr>
            </a:br>
            <a:r>
              <a:rPr b="0" i="0" lang="ko-KR" sz="1050" u="none" cap="none" strike="noStrike">
                <a:solidFill>
                  <a:srgbClr val="475569"/>
                </a:solidFill>
                <a:latin typeface="Calibri"/>
                <a:ea typeface="Calibri"/>
                <a:cs typeface="Calibri"/>
                <a:sym typeface="Calibri"/>
              </a:rPr>
              <a:t>직접 적용 — 팀 전체 코딩 스타일에 반영</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6" name="Shape 1236"/>
        <p:cNvGrpSpPr/>
        <p:nvPr/>
      </p:nvGrpSpPr>
      <p:grpSpPr>
        <a:xfrm>
          <a:off x="0" y="0"/>
          <a:ext cx="0" cy="0"/>
          <a:chOff x="0" y="0"/>
          <a:chExt cx="0" cy="0"/>
        </a:xfrm>
      </p:grpSpPr>
      <p:sp>
        <p:nvSpPr>
          <p:cNvPr id="1237" name="Google Shape;1237;g3ee94320d98_11_6"/>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Malgun Gothic"/>
              <a:buNone/>
            </a:pPr>
            <a:r>
              <a:rPr lang="ko-KR"/>
              <a:t>팀 프로젝트 회고 및 소감</a:t>
            </a:r>
            <a:endParaRPr/>
          </a:p>
        </p:txBody>
      </p:sp>
      <p:pic>
        <p:nvPicPr>
          <p:cNvPr descr="image.png" id="1238" name="Google Shape;1238;g3ee94320d98_11_6"/>
          <p:cNvPicPr preferRelativeResize="0"/>
          <p:nvPr/>
        </p:nvPicPr>
        <p:blipFill rotWithShape="1">
          <a:blip r:embed="rId3">
            <a:alphaModFix/>
          </a:blip>
          <a:srcRect b="0" l="0" r="0" t="0"/>
          <a:stretch/>
        </p:blipFill>
        <p:spPr>
          <a:xfrm>
            <a:off x="762000" y="2000250"/>
            <a:ext cx="2495550" cy="4772026"/>
          </a:xfrm>
          <a:prstGeom prst="rect">
            <a:avLst/>
          </a:prstGeom>
          <a:noFill/>
          <a:ln>
            <a:noFill/>
          </a:ln>
        </p:spPr>
      </p:pic>
      <p:pic>
        <p:nvPicPr>
          <p:cNvPr descr="image.png" id="1239" name="Google Shape;1239;g3ee94320d98_11_6"/>
          <p:cNvPicPr preferRelativeResize="0"/>
          <p:nvPr/>
        </p:nvPicPr>
        <p:blipFill rotWithShape="1">
          <a:blip r:embed="rId4">
            <a:alphaModFix/>
          </a:blip>
          <a:srcRect b="0" l="0" r="0" t="0"/>
          <a:stretch/>
        </p:blipFill>
        <p:spPr>
          <a:xfrm>
            <a:off x="3486150" y="2000250"/>
            <a:ext cx="2495550" cy="4772025"/>
          </a:xfrm>
          <a:prstGeom prst="rect">
            <a:avLst/>
          </a:prstGeom>
          <a:noFill/>
          <a:ln>
            <a:noFill/>
          </a:ln>
        </p:spPr>
      </p:pic>
      <p:pic>
        <p:nvPicPr>
          <p:cNvPr descr="image.png" id="1240" name="Google Shape;1240;g3ee94320d98_11_6"/>
          <p:cNvPicPr preferRelativeResize="0"/>
          <p:nvPr/>
        </p:nvPicPr>
        <p:blipFill rotWithShape="1">
          <a:blip r:embed="rId5">
            <a:alphaModFix/>
          </a:blip>
          <a:srcRect b="0" l="0" r="0" t="0"/>
          <a:stretch/>
        </p:blipFill>
        <p:spPr>
          <a:xfrm>
            <a:off x="6210300" y="2000250"/>
            <a:ext cx="2495550" cy="4772025"/>
          </a:xfrm>
          <a:prstGeom prst="rect">
            <a:avLst/>
          </a:prstGeom>
          <a:noFill/>
          <a:ln>
            <a:noFill/>
          </a:ln>
        </p:spPr>
      </p:pic>
      <p:pic>
        <p:nvPicPr>
          <p:cNvPr descr="image.png" id="1241" name="Google Shape;1241;g3ee94320d98_11_6"/>
          <p:cNvPicPr preferRelativeResize="0"/>
          <p:nvPr/>
        </p:nvPicPr>
        <p:blipFill rotWithShape="1">
          <a:blip r:embed="rId6">
            <a:alphaModFix/>
          </a:blip>
          <a:srcRect b="0" l="0" r="0" t="0"/>
          <a:stretch/>
        </p:blipFill>
        <p:spPr>
          <a:xfrm>
            <a:off x="8934450" y="2000250"/>
            <a:ext cx="2495550" cy="4772025"/>
          </a:xfrm>
          <a:prstGeom prst="rect">
            <a:avLst/>
          </a:prstGeom>
          <a:noFill/>
          <a:ln>
            <a:noFill/>
          </a:ln>
        </p:spPr>
      </p:pic>
      <p:pic>
        <p:nvPicPr>
          <p:cNvPr descr="image.png" id="1242" name="Google Shape;1242;g3ee94320d98_11_6"/>
          <p:cNvPicPr preferRelativeResize="0"/>
          <p:nvPr/>
        </p:nvPicPr>
        <p:blipFill rotWithShape="1">
          <a:blip r:embed="rId7">
            <a:alphaModFix/>
          </a:blip>
          <a:srcRect b="41985" l="0" r="0" t="0"/>
          <a:stretch/>
        </p:blipFill>
        <p:spPr>
          <a:xfrm>
            <a:off x="1009650" y="2632053"/>
            <a:ext cx="2000250" cy="276300"/>
          </a:xfrm>
          <a:prstGeom prst="rect">
            <a:avLst/>
          </a:prstGeom>
          <a:noFill/>
          <a:ln>
            <a:noFill/>
          </a:ln>
        </p:spPr>
      </p:pic>
      <p:pic>
        <p:nvPicPr>
          <p:cNvPr descr="image.png" id="1243" name="Google Shape;1243;g3ee94320d98_11_6"/>
          <p:cNvPicPr preferRelativeResize="0"/>
          <p:nvPr/>
        </p:nvPicPr>
        <p:blipFill rotWithShape="1">
          <a:blip r:embed="rId8">
            <a:alphaModFix/>
          </a:blip>
          <a:srcRect b="0" l="0" r="0" t="0"/>
          <a:stretch/>
        </p:blipFill>
        <p:spPr>
          <a:xfrm>
            <a:off x="4419600" y="2632060"/>
            <a:ext cx="628650" cy="276225"/>
          </a:xfrm>
          <a:prstGeom prst="rect">
            <a:avLst/>
          </a:prstGeom>
          <a:noFill/>
          <a:ln>
            <a:noFill/>
          </a:ln>
        </p:spPr>
      </p:pic>
      <p:pic>
        <p:nvPicPr>
          <p:cNvPr descr="image.png" id="1244" name="Google Shape;1244;g3ee94320d98_11_6"/>
          <p:cNvPicPr preferRelativeResize="0"/>
          <p:nvPr/>
        </p:nvPicPr>
        <p:blipFill rotWithShape="1">
          <a:blip r:embed="rId9">
            <a:alphaModFix/>
          </a:blip>
          <a:srcRect b="0" l="0" r="0" t="0"/>
          <a:stretch/>
        </p:blipFill>
        <p:spPr>
          <a:xfrm>
            <a:off x="7115175" y="2632060"/>
            <a:ext cx="685800" cy="276225"/>
          </a:xfrm>
          <a:prstGeom prst="rect">
            <a:avLst/>
          </a:prstGeom>
          <a:noFill/>
          <a:ln>
            <a:noFill/>
          </a:ln>
        </p:spPr>
      </p:pic>
      <p:pic>
        <p:nvPicPr>
          <p:cNvPr descr="image.png" id="1245" name="Google Shape;1245;g3ee94320d98_11_6"/>
          <p:cNvPicPr preferRelativeResize="0"/>
          <p:nvPr/>
        </p:nvPicPr>
        <p:blipFill rotWithShape="1">
          <a:blip r:embed="rId10">
            <a:alphaModFix/>
          </a:blip>
          <a:srcRect b="0" l="0" r="0" t="0"/>
          <a:stretch/>
        </p:blipFill>
        <p:spPr>
          <a:xfrm>
            <a:off x="9777412" y="2632060"/>
            <a:ext cx="809625" cy="276225"/>
          </a:xfrm>
          <a:prstGeom prst="rect">
            <a:avLst/>
          </a:prstGeom>
          <a:noFill/>
          <a:ln>
            <a:noFill/>
          </a:ln>
        </p:spPr>
      </p:pic>
      <p:sp>
        <p:nvSpPr>
          <p:cNvPr id="1246" name="Google Shape;1246;g3ee94320d98_11_6"/>
          <p:cNvSpPr/>
          <p:nvPr/>
        </p:nvSpPr>
        <p:spPr>
          <a:xfrm>
            <a:off x="1724025" y="3107975"/>
            <a:ext cx="571500" cy="38100"/>
          </a:xfrm>
          <a:prstGeom prst="rect">
            <a:avLst/>
          </a:prstGeom>
          <a:solidFill>
            <a:srgbClr val="2563E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247" name="Google Shape;1247;g3ee94320d98_11_6"/>
          <p:cNvSpPr txBox="1"/>
          <p:nvPr/>
        </p:nvSpPr>
        <p:spPr>
          <a:xfrm>
            <a:off x="1459706" y="2217429"/>
            <a:ext cx="1100100" cy="254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650"/>
              <a:buFont typeface="Arial"/>
              <a:buNone/>
            </a:pPr>
            <a:r>
              <a:rPr b="1" i="0" lang="ko-KR" sz="1650" u="none" cap="none" strike="noStrike">
                <a:solidFill>
                  <a:srgbClr val="0F172A"/>
                </a:solidFill>
                <a:latin typeface="Poppins"/>
                <a:ea typeface="Poppins"/>
                <a:cs typeface="Poppins"/>
                <a:sym typeface="Poppins"/>
              </a:rPr>
              <a:t>최연우</a:t>
            </a:r>
            <a:endParaRPr b="0" i="0" sz="1400" u="none" cap="none" strike="noStrike">
              <a:solidFill>
                <a:srgbClr val="000000"/>
              </a:solidFill>
              <a:latin typeface="Arial"/>
              <a:ea typeface="Arial"/>
              <a:cs typeface="Arial"/>
              <a:sym typeface="Arial"/>
            </a:endParaRPr>
          </a:p>
        </p:txBody>
      </p:sp>
      <p:pic>
        <p:nvPicPr>
          <p:cNvPr descr="image.png" id="1248" name="Google Shape;1248;g3ee94320d98_11_6"/>
          <p:cNvPicPr preferRelativeResize="0"/>
          <p:nvPr/>
        </p:nvPicPr>
        <p:blipFill rotWithShape="1">
          <a:blip r:embed="rId11">
            <a:alphaModFix/>
          </a:blip>
          <a:srcRect b="0" l="0" r="0" t="0"/>
          <a:stretch/>
        </p:blipFill>
        <p:spPr>
          <a:xfrm>
            <a:off x="1905000" y="3306951"/>
            <a:ext cx="209550" cy="228600"/>
          </a:xfrm>
          <a:prstGeom prst="rect">
            <a:avLst/>
          </a:prstGeom>
          <a:noFill/>
          <a:ln>
            <a:noFill/>
          </a:ln>
        </p:spPr>
      </p:pic>
      <p:sp>
        <p:nvSpPr>
          <p:cNvPr id="1249" name="Google Shape;1249;g3ee94320d98_11_6"/>
          <p:cNvSpPr txBox="1"/>
          <p:nvPr/>
        </p:nvSpPr>
        <p:spPr>
          <a:xfrm>
            <a:off x="968475" y="3711079"/>
            <a:ext cx="2082600" cy="26667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Clr>
                <a:schemeClr val="dk1"/>
              </a:buClr>
              <a:buSzPts val="1100"/>
              <a:buFont typeface="Arial"/>
              <a:buNone/>
            </a:pPr>
            <a:r>
              <a:rPr b="1" i="0" lang="ko-KR" sz="1125" u="none" cap="none" strike="noStrike">
                <a:solidFill>
                  <a:srgbClr val="475569"/>
                </a:solidFill>
                <a:latin typeface="Noto Sans KR"/>
                <a:ea typeface="Noto Sans KR"/>
                <a:cs typeface="Noto Sans KR"/>
                <a:sym typeface="Noto Sans KR"/>
              </a:rPr>
              <a:t>TDD 개발 방식의 체화</a:t>
            </a:r>
            <a:r>
              <a:rPr b="0" i="0" lang="ko-KR" sz="1125" u="none" cap="none" strike="noStrike">
                <a:solidFill>
                  <a:srgbClr val="475569"/>
                </a:solidFill>
                <a:latin typeface="Noto Sans KR"/>
                <a:ea typeface="Noto Sans KR"/>
                <a:cs typeface="Noto Sans KR"/>
                <a:sym typeface="Noto Sans KR"/>
              </a:rPr>
              <a:t>: 테스트 코드를 기반으로 한 안정적인 인터프리터 로직 구현 및 TDD 방법론에 대한 깊은 이해</a:t>
            </a:r>
            <a:endParaRPr b="0" i="0" sz="1125" u="none" cap="none" strike="noStrike">
              <a:solidFill>
                <a:srgbClr val="475569"/>
              </a:solidFill>
              <a:latin typeface="Noto Sans KR"/>
              <a:ea typeface="Noto Sans KR"/>
              <a:cs typeface="Noto Sans KR"/>
              <a:sym typeface="Noto Sans KR"/>
            </a:endParaRPr>
          </a:p>
          <a:p>
            <a:pPr indent="0" lvl="0" marL="0" marR="0" rtl="0" algn="ctr">
              <a:lnSpc>
                <a:spcPct val="160000"/>
              </a:lnSpc>
              <a:spcBef>
                <a:spcPts val="0"/>
              </a:spcBef>
              <a:spcAft>
                <a:spcPts val="0"/>
              </a:spcAft>
              <a:buClr>
                <a:schemeClr val="dk1"/>
              </a:buClr>
              <a:buSzPts val="1100"/>
              <a:buFont typeface="Arial"/>
              <a:buNone/>
            </a:pPr>
            <a:r>
              <a:rPr b="1" i="0" lang="ko-KR" sz="1125" u="none" cap="none" strike="noStrike">
                <a:solidFill>
                  <a:srgbClr val="475569"/>
                </a:solidFill>
                <a:latin typeface="Noto Sans KR"/>
                <a:ea typeface="Noto Sans KR"/>
                <a:cs typeface="Noto Sans KR"/>
                <a:sym typeface="Noto Sans KR"/>
              </a:rPr>
              <a:t>AI(Claude)와의 성공적인 협업</a:t>
            </a:r>
            <a:r>
              <a:rPr b="0" i="0" lang="ko-KR" sz="1125" u="none" cap="none" strike="noStrike">
                <a:solidFill>
                  <a:srgbClr val="475569"/>
                </a:solidFill>
                <a:latin typeface="Noto Sans KR"/>
                <a:ea typeface="Noto Sans KR"/>
                <a:cs typeface="Noto Sans KR"/>
                <a:sym typeface="Noto Sans KR"/>
              </a:rPr>
              <a:t>: CLAUDE.md를 활용해 팀 내 코드 컨벤션과 커밋 규칙을 통일하고, AI 코드 리뷰를 도입하여 팀 단위 개발 프로세스의 효율성을 극대화함</a:t>
            </a:r>
            <a:endParaRPr b="0" i="0" sz="1125" u="none" cap="none" strike="noStrike">
              <a:solidFill>
                <a:srgbClr val="475569"/>
              </a:solidFill>
              <a:latin typeface="Noto Sans KR"/>
              <a:ea typeface="Noto Sans KR"/>
              <a:cs typeface="Noto Sans KR"/>
              <a:sym typeface="Noto Sans KR"/>
            </a:endParaRPr>
          </a:p>
          <a:p>
            <a:pPr indent="0" lvl="0" marL="0" marR="0" rtl="0" algn="ctr">
              <a:lnSpc>
                <a:spcPct val="160000"/>
              </a:lnSpc>
              <a:spcBef>
                <a:spcPts val="0"/>
              </a:spcBef>
              <a:spcAft>
                <a:spcPts val="0"/>
              </a:spcAft>
              <a:buClr>
                <a:srgbClr val="000000"/>
              </a:buClr>
              <a:buSzPts val="1125"/>
              <a:buFont typeface="Arial"/>
              <a:buNone/>
            </a:pPr>
            <a:r>
              <a:t/>
            </a:r>
            <a:endParaRPr b="0" i="0" sz="1125" u="none" cap="none" strike="noStrike">
              <a:solidFill>
                <a:srgbClr val="475569"/>
              </a:solidFill>
              <a:latin typeface="Noto Sans KR"/>
              <a:ea typeface="Noto Sans KR"/>
              <a:cs typeface="Noto Sans KR"/>
              <a:sym typeface="Noto Sans KR"/>
            </a:endParaRPr>
          </a:p>
        </p:txBody>
      </p:sp>
      <p:sp>
        <p:nvSpPr>
          <p:cNvPr id="1250" name="Google Shape;1250;g3ee94320d98_11_6"/>
          <p:cNvSpPr/>
          <p:nvPr/>
        </p:nvSpPr>
        <p:spPr>
          <a:xfrm>
            <a:off x="4448175" y="3107975"/>
            <a:ext cx="571500" cy="38100"/>
          </a:xfrm>
          <a:prstGeom prst="rect">
            <a:avLst/>
          </a:prstGeom>
          <a:solidFill>
            <a:srgbClr val="10B98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251" name="Google Shape;1251;g3ee94320d98_11_6"/>
          <p:cNvSpPr txBox="1"/>
          <p:nvPr/>
        </p:nvSpPr>
        <p:spPr>
          <a:xfrm>
            <a:off x="4433887" y="2217429"/>
            <a:ext cx="600000" cy="254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650"/>
              <a:buFont typeface="Arial"/>
              <a:buNone/>
            </a:pPr>
            <a:r>
              <a:rPr b="1" i="0" lang="ko-KR" sz="1650" u="none" cap="none" strike="noStrike">
                <a:solidFill>
                  <a:srgbClr val="0F172A"/>
                </a:solidFill>
                <a:latin typeface="Poppins"/>
                <a:ea typeface="Poppins"/>
                <a:cs typeface="Poppins"/>
                <a:sym typeface="Poppins"/>
              </a:rPr>
              <a:t>이혜림</a:t>
            </a:r>
            <a:endParaRPr b="0" i="0" sz="1400" u="none" cap="none" strike="noStrike">
              <a:solidFill>
                <a:srgbClr val="000000"/>
              </a:solidFill>
              <a:latin typeface="Arial"/>
              <a:ea typeface="Arial"/>
              <a:cs typeface="Arial"/>
              <a:sym typeface="Arial"/>
            </a:endParaRPr>
          </a:p>
        </p:txBody>
      </p:sp>
      <p:pic>
        <p:nvPicPr>
          <p:cNvPr descr="image.png" id="1252" name="Google Shape;1252;g3ee94320d98_11_6"/>
          <p:cNvPicPr preferRelativeResize="0"/>
          <p:nvPr/>
        </p:nvPicPr>
        <p:blipFill rotWithShape="1">
          <a:blip r:embed="rId11">
            <a:alphaModFix/>
          </a:blip>
          <a:srcRect b="0" l="0" r="0" t="0"/>
          <a:stretch/>
        </p:blipFill>
        <p:spPr>
          <a:xfrm>
            <a:off x="4629150" y="3284511"/>
            <a:ext cx="209550" cy="228600"/>
          </a:xfrm>
          <a:prstGeom prst="rect">
            <a:avLst/>
          </a:prstGeom>
          <a:noFill/>
          <a:ln>
            <a:noFill/>
          </a:ln>
        </p:spPr>
      </p:pic>
      <p:sp>
        <p:nvSpPr>
          <p:cNvPr id="1253" name="Google Shape;1253;g3ee94320d98_11_6"/>
          <p:cNvSpPr txBox="1"/>
          <p:nvPr/>
        </p:nvSpPr>
        <p:spPr>
          <a:xfrm>
            <a:off x="3692625" y="3708125"/>
            <a:ext cx="2082600" cy="26667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Clr>
                <a:srgbClr val="000000"/>
              </a:buClr>
              <a:buSzPts val="1125"/>
              <a:buFont typeface="Arial"/>
              <a:buNone/>
            </a:pPr>
            <a:r>
              <a:rPr b="0" i="0" lang="ko-KR" sz="1125" u="none" cap="none" strike="noStrike">
                <a:solidFill>
                  <a:srgbClr val="475569"/>
                </a:solidFill>
                <a:latin typeface="Noto Sans KR"/>
                <a:ea typeface="Noto Sans KR"/>
                <a:cs typeface="Noto Sans KR"/>
                <a:sym typeface="Noto Sans KR"/>
              </a:rPr>
              <a:t>TDD로 Lexer를 구현하며 안정적인 테스트가 있어야 과감한 리팩터링이 가능함을 실감했고, GitHub로 협업하며 혼자선 놓쳤을 OCP 위반이나 설계 문제를 팀원들과의 코드 리뷰로 개선하며 리뷰의 중요성도 느꼈습니다. 여기에 AI를 활용해 코드를 바라보는 시각을 넓힌 것이 가장 큰 수확이었습니다.</a:t>
            </a:r>
            <a:endParaRPr b="0" i="0" sz="1125" u="none" cap="none" strike="noStrike">
              <a:solidFill>
                <a:srgbClr val="475569"/>
              </a:solidFill>
              <a:latin typeface="Noto Sans KR"/>
              <a:ea typeface="Noto Sans KR"/>
              <a:cs typeface="Noto Sans KR"/>
              <a:sym typeface="Noto Sans KR"/>
            </a:endParaRPr>
          </a:p>
        </p:txBody>
      </p:sp>
      <p:sp>
        <p:nvSpPr>
          <p:cNvPr id="1254" name="Google Shape;1254;g3ee94320d98_11_6"/>
          <p:cNvSpPr/>
          <p:nvPr/>
        </p:nvSpPr>
        <p:spPr>
          <a:xfrm>
            <a:off x="7172325" y="3107975"/>
            <a:ext cx="571500" cy="38100"/>
          </a:xfrm>
          <a:prstGeom prst="rect">
            <a:avLst/>
          </a:prstGeom>
          <a:solidFill>
            <a:srgbClr val="F59E0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255" name="Google Shape;1255;g3ee94320d98_11_6"/>
          <p:cNvSpPr txBox="1"/>
          <p:nvPr/>
        </p:nvSpPr>
        <p:spPr>
          <a:xfrm>
            <a:off x="7158037" y="2217429"/>
            <a:ext cx="600000" cy="254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650"/>
              <a:buFont typeface="Arial"/>
              <a:buNone/>
            </a:pPr>
            <a:r>
              <a:rPr b="1" i="0" lang="ko-KR" sz="1650" u="none" cap="none" strike="noStrike">
                <a:solidFill>
                  <a:srgbClr val="0F172A"/>
                </a:solidFill>
                <a:latin typeface="Poppins"/>
                <a:ea typeface="Poppins"/>
                <a:cs typeface="Poppins"/>
                <a:sym typeface="Poppins"/>
              </a:rPr>
              <a:t>윤동현</a:t>
            </a:r>
            <a:endParaRPr b="0" i="0" sz="1400" u="none" cap="none" strike="noStrike">
              <a:solidFill>
                <a:srgbClr val="000000"/>
              </a:solidFill>
              <a:latin typeface="Arial"/>
              <a:ea typeface="Arial"/>
              <a:cs typeface="Arial"/>
              <a:sym typeface="Arial"/>
            </a:endParaRPr>
          </a:p>
        </p:txBody>
      </p:sp>
      <p:pic>
        <p:nvPicPr>
          <p:cNvPr descr="image.png" id="1256" name="Google Shape;1256;g3ee94320d98_11_6"/>
          <p:cNvPicPr preferRelativeResize="0"/>
          <p:nvPr/>
        </p:nvPicPr>
        <p:blipFill rotWithShape="1">
          <a:blip r:embed="rId11">
            <a:alphaModFix/>
          </a:blip>
          <a:srcRect b="0" l="0" r="0" t="0"/>
          <a:stretch/>
        </p:blipFill>
        <p:spPr>
          <a:xfrm>
            <a:off x="7353300" y="3284511"/>
            <a:ext cx="209550" cy="228600"/>
          </a:xfrm>
          <a:prstGeom prst="rect">
            <a:avLst/>
          </a:prstGeom>
          <a:noFill/>
          <a:ln>
            <a:noFill/>
          </a:ln>
        </p:spPr>
      </p:pic>
      <p:sp>
        <p:nvSpPr>
          <p:cNvPr id="1257" name="Google Shape;1257;g3ee94320d98_11_6"/>
          <p:cNvSpPr txBox="1"/>
          <p:nvPr/>
        </p:nvSpPr>
        <p:spPr>
          <a:xfrm>
            <a:off x="6457950" y="3708131"/>
            <a:ext cx="2000100" cy="26667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Clr>
                <a:srgbClr val="000000"/>
              </a:buClr>
              <a:buSzPts val="1125"/>
              <a:buFont typeface="Arial"/>
              <a:buNone/>
            </a:pPr>
            <a:r>
              <a:rPr b="0" i="0" lang="ko-KR" sz="1125" u="none" cap="none" strike="noStrike">
                <a:solidFill>
                  <a:srgbClr val="475569"/>
                </a:solidFill>
                <a:latin typeface="Noto Sans KR"/>
                <a:ea typeface="Noto Sans KR"/>
                <a:cs typeface="Noto Sans KR"/>
                <a:sym typeface="Noto Sans KR"/>
              </a:rPr>
              <a:t>이번 CRA 과정을 통해 체득한 고도화된 리팩토링 안목과 엄격한 코드 리뷰 기준은 단순한 이론에 그치지 않을 것 입니다. </a:t>
            </a:r>
            <a:endParaRPr b="0" i="0" sz="1125" u="none" cap="none" strike="noStrike">
              <a:solidFill>
                <a:srgbClr val="475569"/>
              </a:solidFill>
              <a:latin typeface="Noto Sans KR"/>
              <a:ea typeface="Noto Sans KR"/>
              <a:cs typeface="Noto Sans KR"/>
              <a:sym typeface="Noto Sans KR"/>
            </a:endParaRPr>
          </a:p>
          <a:p>
            <a:pPr indent="0" lvl="0" marL="0" marR="0" rtl="0" algn="ctr">
              <a:lnSpc>
                <a:spcPct val="160000"/>
              </a:lnSpc>
              <a:spcBef>
                <a:spcPts val="0"/>
              </a:spcBef>
              <a:spcAft>
                <a:spcPts val="0"/>
              </a:spcAft>
              <a:buClr>
                <a:srgbClr val="000000"/>
              </a:buClr>
              <a:buSzPts val="1125"/>
              <a:buFont typeface="Arial"/>
              <a:buNone/>
            </a:pPr>
            <a:r>
              <a:rPr b="0" i="0" lang="ko-KR" sz="1125" u="none" cap="none" strike="noStrike">
                <a:solidFill>
                  <a:srgbClr val="475569"/>
                </a:solidFill>
                <a:latin typeface="Noto Sans KR"/>
                <a:ea typeface="Noto Sans KR"/>
                <a:cs typeface="Noto Sans KR"/>
                <a:sym typeface="Noto Sans KR"/>
              </a:rPr>
              <a:t>여기서 얻은 자신감을 바탕으로, 향후 현업에서 어떤 복잡한 시스템 소프트웨어 프로젝트를 마주하더라도 견고하고 확장성 높은 구조를 이끌어낼 수 있을 것 같습니다.</a:t>
            </a:r>
            <a:endParaRPr b="0" i="0" sz="1400" u="none" cap="none" strike="noStrike">
              <a:solidFill>
                <a:srgbClr val="000000"/>
              </a:solidFill>
              <a:latin typeface="Arial"/>
              <a:ea typeface="Arial"/>
              <a:cs typeface="Arial"/>
              <a:sym typeface="Arial"/>
            </a:endParaRPr>
          </a:p>
        </p:txBody>
      </p:sp>
      <p:sp>
        <p:nvSpPr>
          <p:cNvPr id="1258" name="Google Shape;1258;g3ee94320d98_11_6"/>
          <p:cNvSpPr/>
          <p:nvPr/>
        </p:nvSpPr>
        <p:spPr>
          <a:xfrm>
            <a:off x="9896475" y="3107975"/>
            <a:ext cx="571500" cy="38100"/>
          </a:xfrm>
          <a:prstGeom prst="rect">
            <a:avLst/>
          </a:prstGeom>
          <a:solidFill>
            <a:srgbClr val="8B5CF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259" name="Google Shape;1259;g3ee94320d98_11_6"/>
          <p:cNvSpPr txBox="1"/>
          <p:nvPr/>
        </p:nvSpPr>
        <p:spPr>
          <a:xfrm>
            <a:off x="9882187" y="2217429"/>
            <a:ext cx="600000" cy="254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650"/>
              <a:buFont typeface="Arial"/>
              <a:buNone/>
            </a:pPr>
            <a:r>
              <a:rPr b="1" i="0" lang="ko-KR" sz="1650" u="none" cap="none" strike="noStrike">
                <a:solidFill>
                  <a:srgbClr val="0F172A"/>
                </a:solidFill>
                <a:latin typeface="Poppins"/>
                <a:ea typeface="Poppins"/>
                <a:cs typeface="Poppins"/>
                <a:sym typeface="Poppins"/>
              </a:rPr>
              <a:t>이상현</a:t>
            </a:r>
            <a:endParaRPr b="0" i="0" sz="1400" u="none" cap="none" strike="noStrike">
              <a:solidFill>
                <a:srgbClr val="000000"/>
              </a:solidFill>
              <a:latin typeface="Arial"/>
              <a:ea typeface="Arial"/>
              <a:cs typeface="Arial"/>
              <a:sym typeface="Arial"/>
            </a:endParaRPr>
          </a:p>
        </p:txBody>
      </p:sp>
      <p:pic>
        <p:nvPicPr>
          <p:cNvPr descr="image.png" id="1260" name="Google Shape;1260;g3ee94320d98_11_6"/>
          <p:cNvPicPr preferRelativeResize="0"/>
          <p:nvPr/>
        </p:nvPicPr>
        <p:blipFill rotWithShape="1">
          <a:blip r:embed="rId11">
            <a:alphaModFix/>
          </a:blip>
          <a:srcRect b="0" l="0" r="0" t="0"/>
          <a:stretch/>
        </p:blipFill>
        <p:spPr>
          <a:xfrm>
            <a:off x="10077450" y="3284511"/>
            <a:ext cx="209550" cy="228600"/>
          </a:xfrm>
          <a:prstGeom prst="rect">
            <a:avLst/>
          </a:prstGeom>
          <a:noFill/>
          <a:ln>
            <a:noFill/>
          </a:ln>
        </p:spPr>
      </p:pic>
      <p:sp>
        <p:nvSpPr>
          <p:cNvPr id="1261" name="Google Shape;1261;g3ee94320d98_11_6"/>
          <p:cNvSpPr txBox="1"/>
          <p:nvPr/>
        </p:nvSpPr>
        <p:spPr>
          <a:xfrm>
            <a:off x="8934450" y="3708125"/>
            <a:ext cx="2495400" cy="26667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Clr>
                <a:srgbClr val="000000"/>
              </a:buClr>
              <a:buSzPts val="1125"/>
              <a:buFont typeface="Arial"/>
              <a:buNone/>
            </a:pPr>
            <a:r>
              <a:rPr b="0" i="0" lang="ko-KR" sz="1125" u="none" cap="none" strike="noStrike">
                <a:solidFill>
                  <a:srgbClr val="475569"/>
                </a:solidFill>
                <a:latin typeface="Noto Sans KR"/>
                <a:ea typeface="Noto Sans KR"/>
                <a:cs typeface="Noto Sans KR"/>
                <a:sym typeface="Noto Sans KR"/>
              </a:rPr>
              <a:t>"수업에서 배운 설계 원칙과 테스트 기법을 직접 코드에 녹여볼 수 있는 좋은 기회였습니다. </a:t>
            </a:r>
            <a:r>
              <a:rPr b="1" i="0" lang="ko-KR" sz="1125" u="none" cap="none" strike="noStrike">
                <a:solidFill>
                  <a:srgbClr val="475569"/>
                </a:solidFill>
                <a:latin typeface="Noto Sans KR"/>
                <a:ea typeface="Noto Sans KR"/>
                <a:cs typeface="Noto Sans KR"/>
                <a:sym typeface="Noto Sans KR"/>
              </a:rPr>
              <a:t>TDD 방식으로 개발</a:t>
            </a:r>
            <a:r>
              <a:rPr b="0" i="0" lang="ko-KR" sz="1125" u="none" cap="none" strike="noStrike">
                <a:solidFill>
                  <a:srgbClr val="475569"/>
                </a:solidFill>
                <a:latin typeface="Noto Sans KR"/>
                <a:ea typeface="Noto Sans KR"/>
                <a:cs typeface="Noto Sans KR"/>
                <a:sym typeface="Noto Sans KR"/>
              </a:rPr>
              <a:t>해보니 생각보다 훨씬 까다로웠고, 테스트를 먼저 설계하는 습관의 중요성을 실감했습니다. 과제를 진행하며 </a:t>
            </a:r>
            <a:r>
              <a:rPr b="1" i="0" lang="ko-KR" sz="1125" u="none" cap="none" strike="noStrike">
                <a:solidFill>
                  <a:srgbClr val="475569"/>
                </a:solidFill>
                <a:latin typeface="Noto Sans KR"/>
                <a:ea typeface="Noto Sans KR"/>
                <a:cs typeface="Noto Sans KR"/>
                <a:sym typeface="Noto Sans KR"/>
              </a:rPr>
              <a:t>AI 도구 활용법과 Git 협업 흐</a:t>
            </a:r>
            <a:r>
              <a:rPr b="0" i="0" lang="ko-KR" sz="1125" u="none" cap="none" strike="noStrike">
                <a:solidFill>
                  <a:srgbClr val="475569"/>
                </a:solidFill>
                <a:latin typeface="Noto Sans KR"/>
                <a:ea typeface="Noto Sans KR"/>
                <a:cs typeface="Noto Sans KR"/>
                <a:sym typeface="Noto Sans KR"/>
              </a:rPr>
              <a:t>름을 자연스럽게 익힌 것도 큰 수확이었습니다. 무엇보다 </a:t>
            </a:r>
            <a:r>
              <a:rPr b="1" i="0" lang="ko-KR" sz="1125" u="none" cap="none" strike="noStrike">
                <a:solidFill>
                  <a:srgbClr val="475569"/>
                </a:solidFill>
                <a:latin typeface="Noto Sans KR"/>
                <a:ea typeface="Noto Sans KR"/>
                <a:cs typeface="Noto Sans KR"/>
                <a:sym typeface="Noto Sans KR"/>
              </a:rPr>
              <a:t>팀원들과</a:t>
            </a:r>
            <a:r>
              <a:rPr b="0" i="0" lang="ko-KR" sz="1125" u="none" cap="none" strike="noStrike">
                <a:solidFill>
                  <a:srgbClr val="475569"/>
                </a:solidFill>
                <a:latin typeface="Noto Sans KR"/>
                <a:ea typeface="Noto Sans KR"/>
                <a:cs typeface="Noto Sans KR"/>
                <a:sym typeface="Noto Sans KR"/>
              </a:rPr>
              <a:t> 늦은 시간까지 완성도를 높이기 위해 함께 </a:t>
            </a:r>
            <a:r>
              <a:rPr b="1" i="0" lang="ko-KR" sz="1125" u="none" cap="none" strike="noStrike">
                <a:solidFill>
                  <a:srgbClr val="475569"/>
                </a:solidFill>
                <a:latin typeface="Noto Sans KR"/>
                <a:ea typeface="Noto Sans KR"/>
                <a:cs typeface="Noto Sans KR"/>
                <a:sym typeface="Noto Sans KR"/>
              </a:rPr>
              <a:t>고민했던 시간</a:t>
            </a:r>
            <a:r>
              <a:rPr b="0" i="0" lang="ko-KR" sz="1125" u="none" cap="none" strike="noStrike">
                <a:solidFill>
                  <a:srgbClr val="475569"/>
                </a:solidFill>
                <a:latin typeface="Noto Sans KR"/>
                <a:ea typeface="Noto Sans KR"/>
                <a:cs typeface="Noto Sans KR"/>
                <a:sym typeface="Noto Sans KR"/>
              </a:rPr>
              <a:t>이 가장 기억에 남습니다.”</a:t>
            </a:r>
            <a:endParaRPr b="0" i="0" sz="1400" u="none" cap="none" strike="noStrike">
              <a:solidFill>
                <a:srgbClr val="000000"/>
              </a:solidFill>
              <a:latin typeface="Arial"/>
              <a:ea typeface="Arial"/>
              <a:cs typeface="Arial"/>
              <a:sym typeface="Arial"/>
            </a:endParaRPr>
          </a:p>
        </p:txBody>
      </p:sp>
      <p:sp>
        <p:nvSpPr>
          <p:cNvPr id="1262" name="Google Shape;1262;g3ee94320d98_11_6"/>
          <p:cNvSpPr txBox="1"/>
          <p:nvPr/>
        </p:nvSpPr>
        <p:spPr>
          <a:xfrm>
            <a:off x="762000" y="1343025"/>
            <a:ext cx="10668000" cy="2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0" i="0" lang="ko-KR" sz="1500" u="none" cap="none" strike="noStrike">
                <a:solidFill>
                  <a:srgbClr val="64748B"/>
                </a:solidFill>
                <a:latin typeface="Noto Sans KR"/>
                <a:ea typeface="Noto Sans KR"/>
                <a:cs typeface="Noto Sans KR"/>
                <a:sym typeface="Noto Sans KR"/>
              </a:rPr>
              <a:t>"단순히 돌아가는 코드가 아닌, 함께 일하기 위한 아키텍처를 배웠습니다."</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1_Office 테마">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2024-03-07T01:01:01Z</dcterms:created>
  <dc:creator>인호 최</dc:creator>
</cp:coreProperties>
</file>